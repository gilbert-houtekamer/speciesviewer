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2" autoAdjust="0"/>
    <p:restoredTop sz="68993" autoAdjust="0"/>
  </p:normalViewPr>
  <p:slideViewPr>
    <p:cSldViewPr snapToGrid="0">
      <p:cViewPr varScale="1">
        <p:scale>
          <a:sx n="78" d="100"/>
          <a:sy n="78" d="100"/>
        </p:scale>
        <p:origin x="52" y="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7A9209-D9A6-43AB-B174-02EABB6411D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nl-NL"/>
        </a:p>
      </dgm:t>
    </dgm:pt>
    <dgm:pt modelId="{A5372E74-5EFF-47C8-B2C2-6865A33DF625}">
      <dgm:prSet phldrT="[Text]"/>
      <dgm:spPr/>
      <dgm:t>
        <a:bodyPr/>
        <a:lstStyle/>
        <a:p>
          <a:r>
            <a:rPr lang="en-GB" dirty="0"/>
            <a:t>admin/</a:t>
          </a:r>
          <a:endParaRPr lang="nl-NL" dirty="0"/>
        </a:p>
      </dgm:t>
    </dgm:pt>
    <dgm:pt modelId="{1A768FBF-710F-4678-BE1F-3B4067767FD7}" type="parTrans" cxnId="{8044BF87-A9EB-48C2-9DA9-B25F59E3D643}">
      <dgm:prSet/>
      <dgm:spPr/>
      <dgm:t>
        <a:bodyPr/>
        <a:lstStyle/>
        <a:p>
          <a:endParaRPr lang="nl-NL"/>
        </a:p>
      </dgm:t>
    </dgm:pt>
    <dgm:pt modelId="{29B6D07C-B164-453A-BD7A-29971260027D}" type="sibTrans" cxnId="{8044BF87-A9EB-48C2-9DA9-B25F59E3D643}">
      <dgm:prSet/>
      <dgm:spPr/>
      <dgm:t>
        <a:bodyPr/>
        <a:lstStyle/>
        <a:p>
          <a:endParaRPr lang="nl-NL"/>
        </a:p>
      </dgm:t>
    </dgm:pt>
    <dgm:pt modelId="{1041552F-E2EC-476A-AE45-8C971CD10161}">
      <dgm:prSet phldrT="[Text]"/>
      <dgm:spPr/>
      <dgm:t>
        <a:bodyPr/>
        <a:lstStyle/>
        <a:p>
          <a:r>
            <a:rPr lang="en-GB" dirty="0"/>
            <a:t>Blog_admin.csv</a:t>
          </a:r>
          <a:endParaRPr lang="nl-NL" dirty="0"/>
        </a:p>
      </dgm:t>
    </dgm:pt>
    <dgm:pt modelId="{A4DD2ECE-B9CE-4CD7-BB78-E8B4D48E6971}" type="parTrans" cxnId="{E210A7B7-B43F-4258-AF55-7A85C5E2E878}">
      <dgm:prSet/>
      <dgm:spPr/>
      <dgm:t>
        <a:bodyPr/>
        <a:lstStyle/>
        <a:p>
          <a:endParaRPr lang="nl-NL"/>
        </a:p>
      </dgm:t>
    </dgm:pt>
    <dgm:pt modelId="{F6C35599-7697-482C-959C-A842883796B1}" type="sibTrans" cxnId="{E210A7B7-B43F-4258-AF55-7A85C5E2E878}">
      <dgm:prSet/>
      <dgm:spPr/>
      <dgm:t>
        <a:bodyPr/>
        <a:lstStyle/>
        <a:p>
          <a:endParaRPr lang="nl-NL"/>
        </a:p>
      </dgm:t>
    </dgm:pt>
    <dgm:pt modelId="{9F927DDC-1F36-432A-9535-36D8D4A1AA5B}">
      <dgm:prSet phldrT="[Text]"/>
      <dgm:spPr/>
      <dgm:t>
        <a:bodyPr/>
        <a:lstStyle/>
        <a:p>
          <a:r>
            <a:rPr lang="en-GB" dirty="0"/>
            <a:t>biota/</a:t>
          </a:r>
          <a:endParaRPr lang="nl-NL" dirty="0"/>
        </a:p>
      </dgm:t>
    </dgm:pt>
    <dgm:pt modelId="{B2A69BEF-841B-426D-BDA3-BEC848679F7D}" type="parTrans" cxnId="{4FC0B417-9CD2-4BED-BBF5-1BA218B469F4}">
      <dgm:prSet/>
      <dgm:spPr/>
      <dgm:t>
        <a:bodyPr/>
        <a:lstStyle/>
        <a:p>
          <a:endParaRPr lang="nl-NL"/>
        </a:p>
      </dgm:t>
    </dgm:pt>
    <dgm:pt modelId="{DBD02912-3CC6-46F8-A6F7-3EF9926FAF1C}" type="sibTrans" cxnId="{4FC0B417-9CD2-4BED-BBF5-1BA218B469F4}">
      <dgm:prSet/>
      <dgm:spPr/>
      <dgm:t>
        <a:bodyPr/>
        <a:lstStyle/>
        <a:p>
          <a:endParaRPr lang="nl-NL"/>
        </a:p>
      </dgm:t>
    </dgm:pt>
    <dgm:pt modelId="{87F1C8D5-EDB2-431B-821D-F1420F1E7015}">
      <dgm:prSet phldrT="[Text]"/>
      <dgm:spPr/>
      <dgm:t>
        <a:bodyPr/>
        <a:lstStyle/>
        <a:p>
          <a:r>
            <a:rPr lang="en-GB" dirty="0"/>
            <a:t>animalia/</a:t>
          </a:r>
          <a:endParaRPr lang="nl-NL" dirty="0"/>
        </a:p>
      </dgm:t>
    </dgm:pt>
    <dgm:pt modelId="{96AA7FEC-622A-4366-ACEA-D7C1E447A9DA}" type="parTrans" cxnId="{BB82DC27-175A-4409-8127-F3AEC72005BF}">
      <dgm:prSet/>
      <dgm:spPr/>
      <dgm:t>
        <a:bodyPr/>
        <a:lstStyle/>
        <a:p>
          <a:endParaRPr lang="nl-NL"/>
        </a:p>
      </dgm:t>
    </dgm:pt>
    <dgm:pt modelId="{E944C9FF-86FF-46B6-9FAC-CFBB27884FD6}" type="sibTrans" cxnId="{BB82DC27-175A-4409-8127-F3AEC72005BF}">
      <dgm:prSet/>
      <dgm:spPr/>
      <dgm:t>
        <a:bodyPr/>
        <a:lstStyle/>
        <a:p>
          <a:endParaRPr lang="nl-NL"/>
        </a:p>
      </dgm:t>
    </dgm:pt>
    <dgm:pt modelId="{DC8F4357-9FE7-4A01-8DCF-437B26E268F3}">
      <dgm:prSet phldrT="[Text]"/>
      <dgm:spPr/>
      <dgm:t>
        <a:bodyPr/>
        <a:lstStyle/>
        <a:p>
          <a:r>
            <a:rPr lang="en-GB" dirty="0"/>
            <a:t>fungi/</a:t>
          </a:r>
          <a:endParaRPr lang="nl-NL" dirty="0"/>
        </a:p>
      </dgm:t>
    </dgm:pt>
    <dgm:pt modelId="{BDAC022D-6D10-4682-9F18-C536E9BC97F7}" type="parTrans" cxnId="{92C4CC0D-A6E4-4BAF-9EFC-1450EA46A73C}">
      <dgm:prSet/>
      <dgm:spPr/>
      <dgm:t>
        <a:bodyPr/>
        <a:lstStyle/>
        <a:p>
          <a:endParaRPr lang="nl-NL"/>
        </a:p>
      </dgm:t>
    </dgm:pt>
    <dgm:pt modelId="{14B9F48B-C6B9-4DD9-B5FB-3B49CE906330}" type="sibTrans" cxnId="{92C4CC0D-A6E4-4BAF-9EFC-1450EA46A73C}">
      <dgm:prSet/>
      <dgm:spPr/>
      <dgm:t>
        <a:bodyPr/>
        <a:lstStyle/>
        <a:p>
          <a:endParaRPr lang="nl-NL"/>
        </a:p>
      </dgm:t>
    </dgm:pt>
    <dgm:pt modelId="{255B9D59-E551-4DD1-9F52-82D196FDF77F}">
      <dgm:prSet phldrT="[Text]"/>
      <dgm:spPr/>
      <dgm:t>
        <a:bodyPr/>
        <a:lstStyle/>
        <a:p>
          <a:r>
            <a:rPr lang="en-GB" dirty="0"/>
            <a:t>metadata/</a:t>
          </a:r>
          <a:endParaRPr lang="nl-NL" dirty="0"/>
        </a:p>
      </dgm:t>
    </dgm:pt>
    <dgm:pt modelId="{1B864888-ADBB-4F1E-9BD7-0B414C9990BC}" type="parTrans" cxnId="{B3348F40-A390-4A13-8B1C-4E97E7CE92F9}">
      <dgm:prSet/>
      <dgm:spPr/>
      <dgm:t>
        <a:bodyPr/>
        <a:lstStyle/>
        <a:p>
          <a:endParaRPr lang="nl-NL"/>
        </a:p>
      </dgm:t>
    </dgm:pt>
    <dgm:pt modelId="{0AC43BCE-CB3B-4C4F-9C47-5E7621D830A9}" type="sibTrans" cxnId="{B3348F40-A390-4A13-8B1C-4E97E7CE92F9}">
      <dgm:prSet/>
      <dgm:spPr/>
      <dgm:t>
        <a:bodyPr/>
        <a:lstStyle/>
        <a:p>
          <a:endParaRPr lang="nl-NL"/>
        </a:p>
      </dgm:t>
    </dgm:pt>
    <dgm:pt modelId="{1F8D5134-1BE7-49B3-A469-F8EDC9964D69}">
      <dgm:prSet phldrT="[Text]"/>
      <dgm:spPr/>
      <dgm:t>
        <a:bodyPr/>
        <a:lstStyle/>
        <a:p>
          <a:r>
            <a:rPr lang="en-GB" dirty="0"/>
            <a:t>active/</a:t>
          </a:r>
          <a:endParaRPr lang="nl-NL" dirty="0"/>
        </a:p>
      </dgm:t>
    </dgm:pt>
    <dgm:pt modelId="{A690ADD2-245E-4A74-8406-5B4D1D6B1EE8}" type="parTrans" cxnId="{39C6540E-7D22-43DC-864C-EF827F926B61}">
      <dgm:prSet/>
      <dgm:spPr/>
      <dgm:t>
        <a:bodyPr/>
        <a:lstStyle/>
        <a:p>
          <a:endParaRPr lang="nl-NL"/>
        </a:p>
      </dgm:t>
    </dgm:pt>
    <dgm:pt modelId="{1AA6866E-297A-4F38-902E-5B150476552F}" type="sibTrans" cxnId="{39C6540E-7D22-43DC-864C-EF827F926B61}">
      <dgm:prSet/>
      <dgm:spPr/>
      <dgm:t>
        <a:bodyPr/>
        <a:lstStyle/>
        <a:p>
          <a:endParaRPr lang="nl-NL"/>
        </a:p>
      </dgm:t>
    </dgm:pt>
    <dgm:pt modelId="{9E973213-85B6-4C44-9170-EF6096AF3D30}">
      <dgm:prSet phldrT="[Text]"/>
      <dgm:spPr/>
      <dgm:t>
        <a:bodyPr/>
        <a:lstStyle/>
        <a:p>
          <a:r>
            <a:rPr lang="en-GB" dirty="0"/>
            <a:t>initialize/</a:t>
          </a:r>
          <a:endParaRPr lang="nl-NL" dirty="0"/>
        </a:p>
      </dgm:t>
    </dgm:pt>
    <dgm:pt modelId="{66C5001D-639E-4BA7-A3A6-90A79E8CFBFD}" type="parTrans" cxnId="{9BEDCA4D-3423-4B16-A4CC-F0F0FFE18993}">
      <dgm:prSet/>
      <dgm:spPr/>
      <dgm:t>
        <a:bodyPr/>
        <a:lstStyle/>
        <a:p>
          <a:endParaRPr lang="nl-NL"/>
        </a:p>
      </dgm:t>
    </dgm:pt>
    <dgm:pt modelId="{C1922DB9-DE44-4B75-89A5-3ACC806D2E6A}" type="sibTrans" cxnId="{9BEDCA4D-3423-4B16-A4CC-F0F0FFE18993}">
      <dgm:prSet/>
      <dgm:spPr/>
      <dgm:t>
        <a:bodyPr/>
        <a:lstStyle/>
        <a:p>
          <a:endParaRPr lang="nl-NL"/>
        </a:p>
      </dgm:t>
    </dgm:pt>
    <dgm:pt modelId="{7FD69366-8915-4465-BB04-203D2FBDFA71}">
      <dgm:prSet phldrT="[Text]"/>
      <dgm:spPr/>
      <dgm:t>
        <a:bodyPr/>
        <a:lstStyle/>
        <a:p>
          <a:r>
            <a:rPr lang="en-GB" dirty="0"/>
            <a:t>Web/</a:t>
          </a:r>
          <a:endParaRPr lang="nl-NL" dirty="0"/>
        </a:p>
      </dgm:t>
    </dgm:pt>
    <dgm:pt modelId="{245F7169-0E7E-4116-B90A-DABCF7BF828A}" type="parTrans" cxnId="{6E672EB9-68D1-416D-BADA-686B2E0AEC38}">
      <dgm:prSet/>
      <dgm:spPr/>
      <dgm:t>
        <a:bodyPr/>
        <a:lstStyle/>
        <a:p>
          <a:endParaRPr lang="nl-NL"/>
        </a:p>
      </dgm:t>
    </dgm:pt>
    <dgm:pt modelId="{82EEFB07-38C5-4262-9FB5-8E4FB9EB1A41}" type="sibTrans" cxnId="{6E672EB9-68D1-416D-BADA-686B2E0AEC38}">
      <dgm:prSet/>
      <dgm:spPr/>
      <dgm:t>
        <a:bodyPr/>
        <a:lstStyle/>
        <a:p>
          <a:endParaRPr lang="nl-NL"/>
        </a:p>
      </dgm:t>
    </dgm:pt>
    <dgm:pt modelId="{2BE1EAB9-F0EC-457B-9FE4-02460B141CEB}">
      <dgm:prSet phldrT="[Text]"/>
      <dgm:spPr/>
      <dgm:t>
        <a:bodyPr/>
        <a:lstStyle/>
        <a:p>
          <a:r>
            <a:rPr lang="en-GB" dirty="0"/>
            <a:t>biota/ -- what is shown hierarchical on the website</a:t>
          </a:r>
          <a:endParaRPr lang="nl-NL" dirty="0"/>
        </a:p>
      </dgm:t>
    </dgm:pt>
    <dgm:pt modelId="{1AE24FA2-86FA-4AA2-89C2-E340923C4026}" type="parTrans" cxnId="{055E7D30-5C0E-4D90-82CB-B9F9B322AEE8}">
      <dgm:prSet/>
      <dgm:spPr/>
      <dgm:t>
        <a:bodyPr/>
        <a:lstStyle/>
        <a:p>
          <a:endParaRPr lang="nl-NL"/>
        </a:p>
      </dgm:t>
    </dgm:pt>
    <dgm:pt modelId="{B012B1AC-FD8B-4669-AC15-DA86EA131363}" type="sibTrans" cxnId="{055E7D30-5C0E-4D90-82CB-B9F9B322AEE8}">
      <dgm:prSet/>
      <dgm:spPr/>
      <dgm:t>
        <a:bodyPr/>
        <a:lstStyle/>
        <a:p>
          <a:endParaRPr lang="nl-NL"/>
        </a:p>
      </dgm:t>
    </dgm:pt>
    <dgm:pt modelId="{A2700B0A-68B0-421F-B620-54D412076473}">
      <dgm:prSet phldrT="[Text]"/>
      <dgm:spPr/>
      <dgm:t>
        <a:bodyPr/>
        <a:lstStyle/>
        <a:p>
          <a:r>
            <a:rPr lang="en-GB" dirty="0" err="1"/>
            <a:t>biotablog</a:t>
          </a:r>
          <a:r>
            <a:rPr lang="en-GB" dirty="0"/>
            <a:t>/ – </a:t>
          </a:r>
          <a:r>
            <a:rPr lang="en-GB" dirty="0" err="1"/>
            <a:t>subdirecties</a:t>
          </a:r>
          <a:r>
            <a:rPr lang="en-GB" dirty="0"/>
            <a:t> every photo-blog</a:t>
          </a:r>
          <a:endParaRPr lang="nl-NL" dirty="0"/>
        </a:p>
      </dgm:t>
    </dgm:pt>
    <dgm:pt modelId="{3AE9816A-4257-4FB2-B47B-DCFDB263A573}" type="parTrans" cxnId="{3A5E2DA3-51F2-4396-AD7E-A8378B136429}">
      <dgm:prSet/>
      <dgm:spPr/>
      <dgm:t>
        <a:bodyPr/>
        <a:lstStyle/>
        <a:p>
          <a:endParaRPr lang="nl-NL"/>
        </a:p>
      </dgm:t>
    </dgm:pt>
    <dgm:pt modelId="{5159E4D8-29B4-42CB-AFCA-EA9391FA6FA1}" type="sibTrans" cxnId="{3A5E2DA3-51F2-4396-AD7E-A8378B136429}">
      <dgm:prSet/>
      <dgm:spPr/>
      <dgm:t>
        <a:bodyPr/>
        <a:lstStyle/>
        <a:p>
          <a:endParaRPr lang="nl-NL"/>
        </a:p>
      </dgm:t>
    </dgm:pt>
    <dgm:pt modelId="{2CD39A2D-FF85-422D-B51A-A3AA4FBA78A6}">
      <dgm:prSet phldrT="[Text]"/>
      <dgm:spPr/>
      <dgm:t>
        <a:bodyPr/>
        <a:lstStyle/>
        <a:p>
          <a:r>
            <a:rPr lang="en-GB" dirty="0"/>
            <a:t>includes web/ – pre-installed helper html etc</a:t>
          </a:r>
          <a:endParaRPr lang="nl-NL" dirty="0"/>
        </a:p>
      </dgm:t>
    </dgm:pt>
    <dgm:pt modelId="{F0109907-8639-4A19-BEB0-00369AA7DF9C}" type="parTrans" cxnId="{270AD81A-8D0B-401E-AC09-0AB5EF70E568}">
      <dgm:prSet/>
      <dgm:spPr/>
      <dgm:t>
        <a:bodyPr/>
        <a:lstStyle/>
        <a:p>
          <a:endParaRPr lang="nl-NL"/>
        </a:p>
      </dgm:t>
    </dgm:pt>
    <dgm:pt modelId="{25F55EE6-D8F6-4A34-8A9E-B6C3C6F31F47}" type="sibTrans" cxnId="{270AD81A-8D0B-401E-AC09-0AB5EF70E568}">
      <dgm:prSet/>
      <dgm:spPr/>
      <dgm:t>
        <a:bodyPr/>
        <a:lstStyle/>
        <a:p>
          <a:endParaRPr lang="nl-NL"/>
        </a:p>
      </dgm:t>
    </dgm:pt>
    <dgm:pt modelId="{A476CA14-8212-4CDE-852B-2048766B6482}">
      <dgm:prSet phldrT="[Text]"/>
      <dgm:spPr/>
      <dgm:t>
        <a:bodyPr/>
        <a:lstStyle/>
        <a:p>
          <a:r>
            <a:rPr lang="en-GB" dirty="0"/>
            <a:t>summaries/ – statistics on the biota information</a:t>
          </a:r>
          <a:endParaRPr lang="nl-NL" dirty="0"/>
        </a:p>
      </dgm:t>
    </dgm:pt>
    <dgm:pt modelId="{425E7B1B-B32F-4C17-BEBB-7577F59AE373}" type="parTrans" cxnId="{41530A52-20C0-431F-B0A2-F2D98B7CE0C8}">
      <dgm:prSet/>
      <dgm:spPr/>
      <dgm:t>
        <a:bodyPr/>
        <a:lstStyle/>
        <a:p>
          <a:endParaRPr lang="nl-NL"/>
        </a:p>
      </dgm:t>
    </dgm:pt>
    <dgm:pt modelId="{768FC3D8-29FB-4DD0-ACA9-6EAC0DC74BF2}" type="sibTrans" cxnId="{41530A52-20C0-431F-B0A2-F2D98B7CE0C8}">
      <dgm:prSet/>
      <dgm:spPr/>
      <dgm:t>
        <a:bodyPr/>
        <a:lstStyle/>
        <a:p>
          <a:endParaRPr lang="nl-NL"/>
        </a:p>
      </dgm:t>
    </dgm:pt>
    <dgm:pt modelId="{153947C7-55EF-49F4-8117-BBA272F31E9D}">
      <dgm:prSet phldrT="[Text]"/>
      <dgm:spPr/>
      <dgm:t>
        <a:bodyPr/>
        <a:lstStyle/>
        <a:p>
          <a:r>
            <a:rPr lang="en-GB" dirty="0"/>
            <a:t>plantae/</a:t>
          </a:r>
          <a:endParaRPr lang="nl-NL" dirty="0"/>
        </a:p>
      </dgm:t>
    </dgm:pt>
    <dgm:pt modelId="{021900B5-B5D2-432E-A752-812AABCC1AEA}" type="parTrans" cxnId="{180980C4-D907-4460-B631-59C986A7B5BA}">
      <dgm:prSet/>
      <dgm:spPr/>
      <dgm:t>
        <a:bodyPr/>
        <a:lstStyle/>
        <a:p>
          <a:endParaRPr lang="nl-NL"/>
        </a:p>
      </dgm:t>
    </dgm:pt>
    <dgm:pt modelId="{56D30F9A-239B-4375-90CD-62901401AC3F}" type="sibTrans" cxnId="{180980C4-D907-4460-B631-59C986A7B5BA}">
      <dgm:prSet/>
      <dgm:spPr/>
      <dgm:t>
        <a:bodyPr/>
        <a:lstStyle/>
        <a:p>
          <a:endParaRPr lang="nl-NL"/>
        </a:p>
      </dgm:t>
    </dgm:pt>
    <dgm:pt modelId="{06FCB30E-A92D-4E13-905F-5240137704EA}">
      <dgm:prSet phldrT="[Text]"/>
      <dgm:spPr/>
      <dgm:t>
        <a:bodyPr/>
        <a:lstStyle/>
        <a:p>
          <a:r>
            <a:rPr lang="en-GB" dirty="0"/>
            <a:t>review/ (with subdirectories, see later)</a:t>
          </a:r>
          <a:endParaRPr lang="nl-NL" dirty="0"/>
        </a:p>
      </dgm:t>
    </dgm:pt>
    <dgm:pt modelId="{CE75D309-3284-45C4-89C7-04AEFCA88CBB}" type="parTrans" cxnId="{A16565EC-C981-4CC5-B235-B37EF1897F7A}">
      <dgm:prSet/>
      <dgm:spPr/>
      <dgm:t>
        <a:bodyPr/>
        <a:lstStyle/>
        <a:p>
          <a:endParaRPr lang="nl-NL"/>
        </a:p>
      </dgm:t>
    </dgm:pt>
    <dgm:pt modelId="{5951AD67-F36B-47AB-AE47-15BD881E43CB}" type="sibTrans" cxnId="{A16565EC-C981-4CC5-B235-B37EF1897F7A}">
      <dgm:prSet/>
      <dgm:spPr/>
      <dgm:t>
        <a:bodyPr/>
        <a:lstStyle/>
        <a:p>
          <a:endParaRPr lang="nl-NL"/>
        </a:p>
      </dgm:t>
    </dgm:pt>
    <dgm:pt modelId="{BD8DCDCA-8C51-4EE0-8D9F-21059F275FCE}" type="pres">
      <dgm:prSet presAssocID="{017A9209-D9A6-43AB-B174-02EABB6411DB}" presName="Name0" presStyleCnt="0">
        <dgm:presLayoutVars>
          <dgm:dir/>
          <dgm:animLvl val="lvl"/>
          <dgm:resizeHandles val="exact"/>
        </dgm:presLayoutVars>
      </dgm:prSet>
      <dgm:spPr/>
    </dgm:pt>
    <dgm:pt modelId="{27E9699F-0C5B-4381-BE48-52FF86E933DD}" type="pres">
      <dgm:prSet presAssocID="{A5372E74-5EFF-47C8-B2C2-6865A33DF625}" presName="linNode" presStyleCnt="0"/>
      <dgm:spPr/>
    </dgm:pt>
    <dgm:pt modelId="{222F172A-B68A-4013-BC73-8760B97EB7B8}" type="pres">
      <dgm:prSet presAssocID="{A5372E74-5EFF-47C8-B2C2-6865A33DF625}" presName="parentText" presStyleLbl="node1" presStyleIdx="0" presStyleCnt="4" custLinFactNeighborX="-32279" custLinFactNeighborY="-59624">
        <dgm:presLayoutVars>
          <dgm:chMax val="1"/>
          <dgm:bulletEnabled val="1"/>
        </dgm:presLayoutVars>
      </dgm:prSet>
      <dgm:spPr/>
    </dgm:pt>
    <dgm:pt modelId="{F0EAF8A7-8289-45E6-A320-88AAC8CD679B}" type="pres">
      <dgm:prSet presAssocID="{A5372E74-5EFF-47C8-B2C2-6865A33DF625}" presName="descendantText" presStyleLbl="alignAccFollowNode1" presStyleIdx="0" presStyleCnt="4">
        <dgm:presLayoutVars>
          <dgm:bulletEnabled val="1"/>
        </dgm:presLayoutVars>
      </dgm:prSet>
      <dgm:spPr/>
    </dgm:pt>
    <dgm:pt modelId="{95256A72-07AA-4AB3-8ADF-4CAEBD53FF7C}" type="pres">
      <dgm:prSet presAssocID="{29B6D07C-B164-453A-BD7A-29971260027D}" presName="sp" presStyleCnt="0"/>
      <dgm:spPr/>
    </dgm:pt>
    <dgm:pt modelId="{3EF8E443-BA11-4829-927F-5503C94B7F67}" type="pres">
      <dgm:prSet presAssocID="{9F927DDC-1F36-432A-9535-36D8D4A1AA5B}" presName="linNode" presStyleCnt="0"/>
      <dgm:spPr/>
    </dgm:pt>
    <dgm:pt modelId="{6A619FD9-9EEE-49AF-845C-9D13E54C54B0}" type="pres">
      <dgm:prSet presAssocID="{9F927DDC-1F36-432A-9535-36D8D4A1AA5B}" presName="parentText" presStyleLbl="node1" presStyleIdx="1" presStyleCnt="4">
        <dgm:presLayoutVars>
          <dgm:chMax val="1"/>
          <dgm:bulletEnabled val="1"/>
        </dgm:presLayoutVars>
      </dgm:prSet>
      <dgm:spPr/>
    </dgm:pt>
    <dgm:pt modelId="{451DFFBD-84D9-4FAE-BC1A-C7154AC99DC4}" type="pres">
      <dgm:prSet presAssocID="{9F927DDC-1F36-432A-9535-36D8D4A1AA5B}" presName="descendantText" presStyleLbl="alignAccFollowNode1" presStyleIdx="1" presStyleCnt="4">
        <dgm:presLayoutVars>
          <dgm:bulletEnabled val="1"/>
        </dgm:presLayoutVars>
      </dgm:prSet>
      <dgm:spPr/>
    </dgm:pt>
    <dgm:pt modelId="{32256B07-F125-4793-8992-6B995FCC74B0}" type="pres">
      <dgm:prSet presAssocID="{DBD02912-3CC6-46F8-A6F7-3EF9926FAF1C}" presName="sp" presStyleCnt="0"/>
      <dgm:spPr/>
    </dgm:pt>
    <dgm:pt modelId="{E22C2DE5-808E-4BFA-8431-5CE8BBE04AB7}" type="pres">
      <dgm:prSet presAssocID="{255B9D59-E551-4DD1-9F52-82D196FDF77F}" presName="linNode" presStyleCnt="0"/>
      <dgm:spPr/>
    </dgm:pt>
    <dgm:pt modelId="{8E4A1974-2DB4-4279-ADFF-05F386154AB8}" type="pres">
      <dgm:prSet presAssocID="{255B9D59-E551-4DD1-9F52-82D196FDF77F}" presName="parentText" presStyleLbl="node1" presStyleIdx="2" presStyleCnt="4">
        <dgm:presLayoutVars>
          <dgm:chMax val="1"/>
          <dgm:bulletEnabled val="1"/>
        </dgm:presLayoutVars>
      </dgm:prSet>
      <dgm:spPr/>
    </dgm:pt>
    <dgm:pt modelId="{6975C828-FC69-41B9-99F0-EBA0A8A5CBA9}" type="pres">
      <dgm:prSet presAssocID="{255B9D59-E551-4DD1-9F52-82D196FDF77F}" presName="descendantText" presStyleLbl="alignAccFollowNode1" presStyleIdx="2" presStyleCnt="4">
        <dgm:presLayoutVars>
          <dgm:bulletEnabled val="1"/>
        </dgm:presLayoutVars>
      </dgm:prSet>
      <dgm:spPr/>
    </dgm:pt>
    <dgm:pt modelId="{FAA9FB73-E315-47DE-B0B6-6399E2490CE6}" type="pres">
      <dgm:prSet presAssocID="{0AC43BCE-CB3B-4C4F-9C47-5E7621D830A9}" presName="sp" presStyleCnt="0"/>
      <dgm:spPr/>
    </dgm:pt>
    <dgm:pt modelId="{C144A67A-4875-416E-8939-C42719A2DCD0}" type="pres">
      <dgm:prSet presAssocID="{7FD69366-8915-4465-BB04-203D2FBDFA71}" presName="linNode" presStyleCnt="0"/>
      <dgm:spPr/>
    </dgm:pt>
    <dgm:pt modelId="{0BA65C50-2887-40C2-9E74-44A4965485CE}" type="pres">
      <dgm:prSet presAssocID="{7FD69366-8915-4465-BB04-203D2FBDFA71}" presName="parentText" presStyleLbl="node1" presStyleIdx="3" presStyleCnt="4">
        <dgm:presLayoutVars>
          <dgm:chMax val="1"/>
          <dgm:bulletEnabled val="1"/>
        </dgm:presLayoutVars>
      </dgm:prSet>
      <dgm:spPr/>
    </dgm:pt>
    <dgm:pt modelId="{4A747581-02AA-48F7-9572-295AE6C821D6}" type="pres">
      <dgm:prSet presAssocID="{7FD69366-8915-4465-BB04-203D2FBDFA71}" presName="descendantText" presStyleLbl="alignAccFollowNode1" presStyleIdx="3" presStyleCnt="4">
        <dgm:presLayoutVars>
          <dgm:bulletEnabled val="1"/>
        </dgm:presLayoutVars>
      </dgm:prSet>
      <dgm:spPr/>
    </dgm:pt>
  </dgm:ptLst>
  <dgm:cxnLst>
    <dgm:cxn modelId="{92C4CC0D-A6E4-4BAF-9EFC-1450EA46A73C}" srcId="{9F927DDC-1F36-432A-9535-36D8D4A1AA5B}" destId="{DC8F4357-9FE7-4A01-8DCF-437B26E268F3}" srcOrd="2" destOrd="0" parTransId="{BDAC022D-6D10-4682-9F18-C536E9BC97F7}" sibTransId="{14B9F48B-C6B9-4DD9-B5FB-3B49CE906330}"/>
    <dgm:cxn modelId="{39C6540E-7D22-43DC-864C-EF827F926B61}" srcId="{255B9D59-E551-4DD1-9F52-82D196FDF77F}" destId="{1F8D5134-1BE7-49B3-A469-F8EDC9964D69}" srcOrd="0" destOrd="0" parTransId="{A690ADD2-245E-4A74-8406-5B4D1D6B1EE8}" sibTransId="{1AA6866E-297A-4F38-902E-5B150476552F}"/>
    <dgm:cxn modelId="{4FC0B417-9CD2-4BED-BBF5-1BA218B469F4}" srcId="{017A9209-D9A6-43AB-B174-02EABB6411DB}" destId="{9F927DDC-1F36-432A-9535-36D8D4A1AA5B}" srcOrd="1" destOrd="0" parTransId="{B2A69BEF-841B-426D-BDA3-BEC848679F7D}" sibTransId="{DBD02912-3CC6-46F8-A6F7-3EF9926FAF1C}"/>
    <dgm:cxn modelId="{E3192619-418F-421E-9EBD-BCDF191546AB}" type="presOf" srcId="{255B9D59-E551-4DD1-9F52-82D196FDF77F}" destId="{8E4A1974-2DB4-4279-ADFF-05F386154AB8}" srcOrd="0" destOrd="0" presId="urn:microsoft.com/office/officeart/2005/8/layout/vList5"/>
    <dgm:cxn modelId="{270AD81A-8D0B-401E-AC09-0AB5EF70E568}" srcId="{7FD69366-8915-4465-BB04-203D2FBDFA71}" destId="{2CD39A2D-FF85-422D-B51A-A3AA4FBA78A6}" srcOrd="2" destOrd="0" parTransId="{F0109907-8639-4A19-BEB0-00369AA7DF9C}" sibTransId="{25F55EE6-D8F6-4A34-8A9E-B6C3C6F31F47}"/>
    <dgm:cxn modelId="{E221F923-91CF-4475-9D33-6C38CAE4165F}" type="presOf" srcId="{A2700B0A-68B0-421F-B620-54D412076473}" destId="{4A747581-02AA-48F7-9572-295AE6C821D6}" srcOrd="0" destOrd="1" presId="urn:microsoft.com/office/officeart/2005/8/layout/vList5"/>
    <dgm:cxn modelId="{BB82DC27-175A-4409-8127-F3AEC72005BF}" srcId="{9F927DDC-1F36-432A-9535-36D8D4A1AA5B}" destId="{87F1C8D5-EDB2-431B-821D-F1420F1E7015}" srcOrd="0" destOrd="0" parTransId="{96AA7FEC-622A-4366-ACEA-D7C1E447A9DA}" sibTransId="{E944C9FF-86FF-46B6-9FAC-CFBB27884FD6}"/>
    <dgm:cxn modelId="{055E7D30-5C0E-4D90-82CB-B9F9B322AEE8}" srcId="{7FD69366-8915-4465-BB04-203D2FBDFA71}" destId="{2BE1EAB9-F0EC-457B-9FE4-02460B141CEB}" srcOrd="0" destOrd="0" parTransId="{1AE24FA2-86FA-4AA2-89C2-E340923C4026}" sibTransId="{B012B1AC-FD8B-4669-AC15-DA86EA131363}"/>
    <dgm:cxn modelId="{70EE1F38-864B-4F6F-8069-2C0D30BDC80A}" type="presOf" srcId="{2BE1EAB9-F0EC-457B-9FE4-02460B141CEB}" destId="{4A747581-02AA-48F7-9572-295AE6C821D6}" srcOrd="0" destOrd="0" presId="urn:microsoft.com/office/officeart/2005/8/layout/vList5"/>
    <dgm:cxn modelId="{B3348F40-A390-4A13-8B1C-4E97E7CE92F9}" srcId="{017A9209-D9A6-43AB-B174-02EABB6411DB}" destId="{255B9D59-E551-4DD1-9F52-82D196FDF77F}" srcOrd="2" destOrd="0" parTransId="{1B864888-ADBB-4F1E-9BD7-0B414C9990BC}" sibTransId="{0AC43BCE-CB3B-4C4F-9C47-5E7621D830A9}"/>
    <dgm:cxn modelId="{10020967-93F9-4D4A-A7CE-6A14219081FE}" type="presOf" srcId="{7FD69366-8915-4465-BB04-203D2FBDFA71}" destId="{0BA65C50-2887-40C2-9E74-44A4965485CE}" srcOrd="0" destOrd="0" presId="urn:microsoft.com/office/officeart/2005/8/layout/vList5"/>
    <dgm:cxn modelId="{9BEDCA4D-3423-4B16-A4CC-F0F0FFE18993}" srcId="{255B9D59-E551-4DD1-9F52-82D196FDF77F}" destId="{9E973213-85B6-4C44-9170-EF6096AF3D30}" srcOrd="1" destOrd="0" parTransId="{66C5001D-639E-4BA7-A3A6-90A79E8CFBFD}" sibTransId="{C1922DB9-DE44-4B75-89A5-3ACC806D2E6A}"/>
    <dgm:cxn modelId="{41530A52-20C0-431F-B0A2-F2D98B7CE0C8}" srcId="{7FD69366-8915-4465-BB04-203D2FBDFA71}" destId="{A476CA14-8212-4CDE-852B-2048766B6482}" srcOrd="3" destOrd="0" parTransId="{425E7B1B-B32F-4C17-BEBB-7577F59AE373}" sibTransId="{768FC3D8-29FB-4DD0-ACA9-6EAC0DC74BF2}"/>
    <dgm:cxn modelId="{35CDE477-CF9C-498D-9B64-15110FBEB3C8}" type="presOf" srcId="{9E973213-85B6-4C44-9170-EF6096AF3D30}" destId="{6975C828-FC69-41B9-99F0-EBA0A8A5CBA9}" srcOrd="0" destOrd="1" presId="urn:microsoft.com/office/officeart/2005/8/layout/vList5"/>
    <dgm:cxn modelId="{07964E7B-4AE2-49EC-AC84-B5B10A32CB37}" type="presOf" srcId="{87F1C8D5-EDB2-431B-821D-F1420F1E7015}" destId="{451DFFBD-84D9-4FAE-BC1A-C7154AC99DC4}" srcOrd="0" destOrd="0" presId="urn:microsoft.com/office/officeart/2005/8/layout/vList5"/>
    <dgm:cxn modelId="{8044BF87-A9EB-48C2-9DA9-B25F59E3D643}" srcId="{017A9209-D9A6-43AB-B174-02EABB6411DB}" destId="{A5372E74-5EFF-47C8-B2C2-6865A33DF625}" srcOrd="0" destOrd="0" parTransId="{1A768FBF-710F-4678-BE1F-3B4067767FD7}" sibTransId="{29B6D07C-B164-453A-BD7A-29971260027D}"/>
    <dgm:cxn modelId="{2814728C-906B-414A-8A6D-5BCBBF90734A}" type="presOf" srcId="{A5372E74-5EFF-47C8-B2C2-6865A33DF625}" destId="{222F172A-B68A-4013-BC73-8760B97EB7B8}" srcOrd="0" destOrd="0" presId="urn:microsoft.com/office/officeart/2005/8/layout/vList5"/>
    <dgm:cxn modelId="{3A5E2DA3-51F2-4396-AD7E-A8378B136429}" srcId="{7FD69366-8915-4465-BB04-203D2FBDFA71}" destId="{A2700B0A-68B0-421F-B620-54D412076473}" srcOrd="1" destOrd="0" parTransId="{3AE9816A-4257-4FB2-B47B-DCFDB263A573}" sibTransId="{5159E4D8-29B4-42CB-AFCA-EA9391FA6FA1}"/>
    <dgm:cxn modelId="{E210A7B7-B43F-4258-AF55-7A85C5E2E878}" srcId="{A5372E74-5EFF-47C8-B2C2-6865A33DF625}" destId="{1041552F-E2EC-476A-AE45-8C971CD10161}" srcOrd="0" destOrd="0" parTransId="{A4DD2ECE-B9CE-4CD7-BB78-E8B4D48E6971}" sibTransId="{F6C35599-7697-482C-959C-A842883796B1}"/>
    <dgm:cxn modelId="{6E672EB9-68D1-416D-BADA-686B2E0AEC38}" srcId="{017A9209-D9A6-43AB-B174-02EABB6411DB}" destId="{7FD69366-8915-4465-BB04-203D2FBDFA71}" srcOrd="3" destOrd="0" parTransId="{245F7169-0E7E-4116-B90A-DABCF7BF828A}" sibTransId="{82EEFB07-38C5-4262-9FB5-8E4FB9EB1A41}"/>
    <dgm:cxn modelId="{EECC25BF-5D9C-43F1-8A4C-BCA1195EE2E6}" type="presOf" srcId="{A476CA14-8212-4CDE-852B-2048766B6482}" destId="{4A747581-02AA-48F7-9572-295AE6C821D6}" srcOrd="0" destOrd="3" presId="urn:microsoft.com/office/officeart/2005/8/layout/vList5"/>
    <dgm:cxn modelId="{4110A3C1-5BFB-4C4A-A8B8-B2DBD8CB92E5}" type="presOf" srcId="{9F927DDC-1F36-432A-9535-36D8D4A1AA5B}" destId="{6A619FD9-9EEE-49AF-845C-9D13E54C54B0}" srcOrd="0" destOrd="0" presId="urn:microsoft.com/office/officeart/2005/8/layout/vList5"/>
    <dgm:cxn modelId="{180980C4-D907-4460-B631-59C986A7B5BA}" srcId="{9F927DDC-1F36-432A-9535-36D8D4A1AA5B}" destId="{153947C7-55EF-49F4-8117-BBA272F31E9D}" srcOrd="1" destOrd="0" parTransId="{021900B5-B5D2-432E-A752-812AABCC1AEA}" sibTransId="{56D30F9A-239B-4375-90CD-62901401AC3F}"/>
    <dgm:cxn modelId="{5FC89DCD-52E8-4022-9C6F-719258FE13AE}" type="presOf" srcId="{DC8F4357-9FE7-4A01-8DCF-437B26E268F3}" destId="{451DFFBD-84D9-4FAE-BC1A-C7154AC99DC4}" srcOrd="0" destOrd="2" presId="urn:microsoft.com/office/officeart/2005/8/layout/vList5"/>
    <dgm:cxn modelId="{838396D9-3089-4F7C-BD9A-7EA691F3A92A}" type="presOf" srcId="{1F8D5134-1BE7-49B3-A469-F8EDC9964D69}" destId="{6975C828-FC69-41B9-99F0-EBA0A8A5CBA9}" srcOrd="0" destOrd="0" presId="urn:microsoft.com/office/officeart/2005/8/layout/vList5"/>
    <dgm:cxn modelId="{945F7EDA-E53F-47A1-82E1-24EB1D2F9719}" type="presOf" srcId="{017A9209-D9A6-43AB-B174-02EABB6411DB}" destId="{BD8DCDCA-8C51-4EE0-8D9F-21059F275FCE}" srcOrd="0" destOrd="0" presId="urn:microsoft.com/office/officeart/2005/8/layout/vList5"/>
    <dgm:cxn modelId="{FE5069DF-DED3-46C3-AC34-40705BD4ADCC}" type="presOf" srcId="{1041552F-E2EC-476A-AE45-8C971CD10161}" destId="{F0EAF8A7-8289-45E6-A320-88AAC8CD679B}" srcOrd="0" destOrd="0" presId="urn:microsoft.com/office/officeart/2005/8/layout/vList5"/>
    <dgm:cxn modelId="{56F5CDE4-ACBE-4AFC-A7B5-8E429BEDADE0}" type="presOf" srcId="{153947C7-55EF-49F4-8117-BBA272F31E9D}" destId="{451DFFBD-84D9-4FAE-BC1A-C7154AC99DC4}" srcOrd="0" destOrd="1" presId="urn:microsoft.com/office/officeart/2005/8/layout/vList5"/>
    <dgm:cxn modelId="{A16565EC-C981-4CC5-B235-B37EF1897F7A}" srcId="{255B9D59-E551-4DD1-9F52-82D196FDF77F}" destId="{06FCB30E-A92D-4E13-905F-5240137704EA}" srcOrd="2" destOrd="0" parTransId="{CE75D309-3284-45C4-89C7-04AEFCA88CBB}" sibTransId="{5951AD67-F36B-47AB-AE47-15BD881E43CB}"/>
    <dgm:cxn modelId="{DD9710F5-1CEF-4C68-BF85-7C3E1313F793}" type="presOf" srcId="{2CD39A2D-FF85-422D-B51A-A3AA4FBA78A6}" destId="{4A747581-02AA-48F7-9572-295AE6C821D6}" srcOrd="0" destOrd="2" presId="urn:microsoft.com/office/officeart/2005/8/layout/vList5"/>
    <dgm:cxn modelId="{23DBFCFB-C7BB-4DFB-853B-08666D09B33D}" type="presOf" srcId="{06FCB30E-A92D-4E13-905F-5240137704EA}" destId="{6975C828-FC69-41B9-99F0-EBA0A8A5CBA9}" srcOrd="0" destOrd="2" presId="urn:microsoft.com/office/officeart/2005/8/layout/vList5"/>
    <dgm:cxn modelId="{DF28E8F3-9D5D-44BD-B7E1-532881AC1A21}" type="presParOf" srcId="{BD8DCDCA-8C51-4EE0-8D9F-21059F275FCE}" destId="{27E9699F-0C5B-4381-BE48-52FF86E933DD}" srcOrd="0" destOrd="0" presId="urn:microsoft.com/office/officeart/2005/8/layout/vList5"/>
    <dgm:cxn modelId="{454AA203-86AA-447C-9BC7-C328F4B6BEC2}" type="presParOf" srcId="{27E9699F-0C5B-4381-BE48-52FF86E933DD}" destId="{222F172A-B68A-4013-BC73-8760B97EB7B8}" srcOrd="0" destOrd="0" presId="urn:microsoft.com/office/officeart/2005/8/layout/vList5"/>
    <dgm:cxn modelId="{370F6619-94F9-4AC6-A8E0-3D98190E017B}" type="presParOf" srcId="{27E9699F-0C5B-4381-BE48-52FF86E933DD}" destId="{F0EAF8A7-8289-45E6-A320-88AAC8CD679B}" srcOrd="1" destOrd="0" presId="urn:microsoft.com/office/officeart/2005/8/layout/vList5"/>
    <dgm:cxn modelId="{E1109403-13EB-4F3F-871E-AABB64980AED}" type="presParOf" srcId="{BD8DCDCA-8C51-4EE0-8D9F-21059F275FCE}" destId="{95256A72-07AA-4AB3-8ADF-4CAEBD53FF7C}" srcOrd="1" destOrd="0" presId="urn:microsoft.com/office/officeart/2005/8/layout/vList5"/>
    <dgm:cxn modelId="{359F438D-E3AC-4511-8487-56838110AA7C}" type="presParOf" srcId="{BD8DCDCA-8C51-4EE0-8D9F-21059F275FCE}" destId="{3EF8E443-BA11-4829-927F-5503C94B7F67}" srcOrd="2" destOrd="0" presId="urn:microsoft.com/office/officeart/2005/8/layout/vList5"/>
    <dgm:cxn modelId="{50F44F23-60B3-431F-B00C-40B2BBE72A53}" type="presParOf" srcId="{3EF8E443-BA11-4829-927F-5503C94B7F67}" destId="{6A619FD9-9EEE-49AF-845C-9D13E54C54B0}" srcOrd="0" destOrd="0" presId="urn:microsoft.com/office/officeart/2005/8/layout/vList5"/>
    <dgm:cxn modelId="{2F0A7F4C-734B-4C9F-8155-95AD5C577D6C}" type="presParOf" srcId="{3EF8E443-BA11-4829-927F-5503C94B7F67}" destId="{451DFFBD-84D9-4FAE-BC1A-C7154AC99DC4}" srcOrd="1" destOrd="0" presId="urn:microsoft.com/office/officeart/2005/8/layout/vList5"/>
    <dgm:cxn modelId="{48D28DF8-7DD2-4EC0-886B-B178CCBACA48}" type="presParOf" srcId="{BD8DCDCA-8C51-4EE0-8D9F-21059F275FCE}" destId="{32256B07-F125-4793-8992-6B995FCC74B0}" srcOrd="3" destOrd="0" presId="urn:microsoft.com/office/officeart/2005/8/layout/vList5"/>
    <dgm:cxn modelId="{555F4CDA-EA7E-4593-8441-FE00B1A4BD4E}" type="presParOf" srcId="{BD8DCDCA-8C51-4EE0-8D9F-21059F275FCE}" destId="{E22C2DE5-808E-4BFA-8431-5CE8BBE04AB7}" srcOrd="4" destOrd="0" presId="urn:microsoft.com/office/officeart/2005/8/layout/vList5"/>
    <dgm:cxn modelId="{27F822D0-7008-4A50-9992-C6C9C074A020}" type="presParOf" srcId="{E22C2DE5-808E-4BFA-8431-5CE8BBE04AB7}" destId="{8E4A1974-2DB4-4279-ADFF-05F386154AB8}" srcOrd="0" destOrd="0" presId="urn:microsoft.com/office/officeart/2005/8/layout/vList5"/>
    <dgm:cxn modelId="{3C4A7EA2-901A-44E2-BF88-93D3360BC966}" type="presParOf" srcId="{E22C2DE5-808E-4BFA-8431-5CE8BBE04AB7}" destId="{6975C828-FC69-41B9-99F0-EBA0A8A5CBA9}" srcOrd="1" destOrd="0" presId="urn:microsoft.com/office/officeart/2005/8/layout/vList5"/>
    <dgm:cxn modelId="{A3C865A5-1598-465F-B9B0-3B2023F7F02B}" type="presParOf" srcId="{BD8DCDCA-8C51-4EE0-8D9F-21059F275FCE}" destId="{FAA9FB73-E315-47DE-B0B6-6399E2490CE6}" srcOrd="5" destOrd="0" presId="urn:microsoft.com/office/officeart/2005/8/layout/vList5"/>
    <dgm:cxn modelId="{A91C68C5-F6BA-4C9D-AEF7-84AAA52BFA6D}" type="presParOf" srcId="{BD8DCDCA-8C51-4EE0-8D9F-21059F275FCE}" destId="{C144A67A-4875-416E-8939-C42719A2DCD0}" srcOrd="6" destOrd="0" presId="urn:microsoft.com/office/officeart/2005/8/layout/vList5"/>
    <dgm:cxn modelId="{EC833866-A2D5-41B2-8236-E63C295C7084}" type="presParOf" srcId="{C144A67A-4875-416E-8939-C42719A2DCD0}" destId="{0BA65C50-2887-40C2-9E74-44A4965485CE}" srcOrd="0" destOrd="0" presId="urn:microsoft.com/office/officeart/2005/8/layout/vList5"/>
    <dgm:cxn modelId="{F6096408-305A-4E84-AAF6-79692228EC6F}" type="presParOf" srcId="{C144A67A-4875-416E-8939-C42719A2DCD0}" destId="{4A747581-02AA-48F7-9572-295AE6C821D6}"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EAF8A7-8289-45E6-A320-88AAC8CD679B}">
      <dsp:nvSpPr>
        <dsp:cNvPr id="0" name=""/>
        <dsp:cNvSpPr/>
      </dsp:nvSpPr>
      <dsp:spPr>
        <a:xfrm rot="5400000">
          <a:off x="3408952" y="-1161151"/>
          <a:ext cx="1129381" cy="373989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kern="1200" dirty="0"/>
            <a:t>Blog_admin.csv</a:t>
          </a:r>
          <a:endParaRPr lang="nl-NL" sz="1200" kern="1200" dirty="0"/>
        </a:p>
      </dsp:txBody>
      <dsp:txXfrm rot="-5400000">
        <a:off x="2103693" y="199240"/>
        <a:ext cx="3684767" cy="1019117"/>
      </dsp:txXfrm>
    </dsp:sp>
    <dsp:sp modelId="{222F172A-B68A-4013-BC73-8760B97EB7B8}">
      <dsp:nvSpPr>
        <dsp:cNvPr id="0" name=""/>
        <dsp:cNvSpPr/>
      </dsp:nvSpPr>
      <dsp:spPr>
        <a:xfrm>
          <a:off x="0" y="0"/>
          <a:ext cx="2103693" cy="14117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GB" sz="2900" kern="1200" dirty="0"/>
            <a:t>admin/</a:t>
          </a:r>
          <a:endParaRPr lang="nl-NL" sz="2900" kern="1200" dirty="0"/>
        </a:p>
      </dsp:txBody>
      <dsp:txXfrm>
        <a:off x="68915" y="68915"/>
        <a:ext cx="1965863" cy="1273896"/>
      </dsp:txXfrm>
    </dsp:sp>
    <dsp:sp modelId="{451DFFBD-84D9-4FAE-BC1A-C7154AC99DC4}">
      <dsp:nvSpPr>
        <dsp:cNvPr id="0" name=""/>
        <dsp:cNvSpPr/>
      </dsp:nvSpPr>
      <dsp:spPr>
        <a:xfrm rot="5400000">
          <a:off x="3408952" y="321161"/>
          <a:ext cx="1129381" cy="373989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kern="1200" dirty="0"/>
            <a:t>animalia/</a:t>
          </a:r>
          <a:endParaRPr lang="nl-NL" sz="1200" kern="1200" dirty="0"/>
        </a:p>
        <a:p>
          <a:pPr marL="114300" lvl="1" indent="-114300" algn="l" defTabSz="533400">
            <a:lnSpc>
              <a:spcPct val="90000"/>
            </a:lnSpc>
            <a:spcBef>
              <a:spcPct val="0"/>
            </a:spcBef>
            <a:spcAft>
              <a:spcPct val="15000"/>
            </a:spcAft>
            <a:buChar char="•"/>
          </a:pPr>
          <a:r>
            <a:rPr lang="en-GB" sz="1200" kern="1200" dirty="0"/>
            <a:t>plantae/</a:t>
          </a:r>
          <a:endParaRPr lang="nl-NL" sz="1200" kern="1200" dirty="0"/>
        </a:p>
        <a:p>
          <a:pPr marL="114300" lvl="1" indent="-114300" algn="l" defTabSz="533400">
            <a:lnSpc>
              <a:spcPct val="90000"/>
            </a:lnSpc>
            <a:spcBef>
              <a:spcPct val="0"/>
            </a:spcBef>
            <a:spcAft>
              <a:spcPct val="15000"/>
            </a:spcAft>
            <a:buChar char="•"/>
          </a:pPr>
          <a:r>
            <a:rPr lang="en-GB" sz="1200" kern="1200" dirty="0"/>
            <a:t>fungi/</a:t>
          </a:r>
          <a:endParaRPr lang="nl-NL" sz="1200" kern="1200" dirty="0"/>
        </a:p>
      </dsp:txBody>
      <dsp:txXfrm rot="-5400000">
        <a:off x="2103693" y="1681552"/>
        <a:ext cx="3684767" cy="1019117"/>
      </dsp:txXfrm>
    </dsp:sp>
    <dsp:sp modelId="{6A619FD9-9EEE-49AF-845C-9D13E54C54B0}">
      <dsp:nvSpPr>
        <dsp:cNvPr id="0" name=""/>
        <dsp:cNvSpPr/>
      </dsp:nvSpPr>
      <dsp:spPr>
        <a:xfrm>
          <a:off x="0" y="1485248"/>
          <a:ext cx="2103693" cy="14117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GB" sz="2900" kern="1200" dirty="0"/>
            <a:t>biota/</a:t>
          </a:r>
          <a:endParaRPr lang="nl-NL" sz="2900" kern="1200" dirty="0"/>
        </a:p>
      </dsp:txBody>
      <dsp:txXfrm>
        <a:off x="68915" y="1554163"/>
        <a:ext cx="1965863" cy="1273896"/>
      </dsp:txXfrm>
    </dsp:sp>
    <dsp:sp modelId="{6975C828-FC69-41B9-99F0-EBA0A8A5CBA9}">
      <dsp:nvSpPr>
        <dsp:cNvPr id="0" name=""/>
        <dsp:cNvSpPr/>
      </dsp:nvSpPr>
      <dsp:spPr>
        <a:xfrm rot="5400000">
          <a:off x="3408952" y="1803474"/>
          <a:ext cx="1129381" cy="373989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kern="1200" dirty="0"/>
            <a:t>active/</a:t>
          </a:r>
          <a:endParaRPr lang="nl-NL" sz="1200" kern="1200" dirty="0"/>
        </a:p>
        <a:p>
          <a:pPr marL="114300" lvl="1" indent="-114300" algn="l" defTabSz="533400">
            <a:lnSpc>
              <a:spcPct val="90000"/>
            </a:lnSpc>
            <a:spcBef>
              <a:spcPct val="0"/>
            </a:spcBef>
            <a:spcAft>
              <a:spcPct val="15000"/>
            </a:spcAft>
            <a:buChar char="•"/>
          </a:pPr>
          <a:r>
            <a:rPr lang="en-GB" sz="1200" kern="1200" dirty="0"/>
            <a:t>initialize/</a:t>
          </a:r>
          <a:endParaRPr lang="nl-NL" sz="1200" kern="1200" dirty="0"/>
        </a:p>
        <a:p>
          <a:pPr marL="114300" lvl="1" indent="-114300" algn="l" defTabSz="533400">
            <a:lnSpc>
              <a:spcPct val="90000"/>
            </a:lnSpc>
            <a:spcBef>
              <a:spcPct val="0"/>
            </a:spcBef>
            <a:spcAft>
              <a:spcPct val="15000"/>
            </a:spcAft>
            <a:buChar char="•"/>
          </a:pPr>
          <a:r>
            <a:rPr lang="en-GB" sz="1200" kern="1200" dirty="0"/>
            <a:t>review/ (with subdirectories, see later)</a:t>
          </a:r>
          <a:endParaRPr lang="nl-NL" sz="1200" kern="1200" dirty="0"/>
        </a:p>
      </dsp:txBody>
      <dsp:txXfrm rot="-5400000">
        <a:off x="2103693" y="3163865"/>
        <a:ext cx="3684767" cy="1019117"/>
      </dsp:txXfrm>
    </dsp:sp>
    <dsp:sp modelId="{8E4A1974-2DB4-4279-ADFF-05F386154AB8}">
      <dsp:nvSpPr>
        <dsp:cNvPr id="0" name=""/>
        <dsp:cNvSpPr/>
      </dsp:nvSpPr>
      <dsp:spPr>
        <a:xfrm>
          <a:off x="0" y="2967561"/>
          <a:ext cx="2103693" cy="14117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GB" sz="2900" kern="1200" dirty="0"/>
            <a:t>metadata/</a:t>
          </a:r>
          <a:endParaRPr lang="nl-NL" sz="2900" kern="1200" dirty="0"/>
        </a:p>
      </dsp:txBody>
      <dsp:txXfrm>
        <a:off x="68915" y="3036476"/>
        <a:ext cx="1965863" cy="1273896"/>
      </dsp:txXfrm>
    </dsp:sp>
    <dsp:sp modelId="{4A747581-02AA-48F7-9572-295AE6C821D6}">
      <dsp:nvSpPr>
        <dsp:cNvPr id="0" name=""/>
        <dsp:cNvSpPr/>
      </dsp:nvSpPr>
      <dsp:spPr>
        <a:xfrm rot="5400000">
          <a:off x="3408952" y="3285787"/>
          <a:ext cx="1129381" cy="373989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kern="1200" dirty="0"/>
            <a:t>biota/ -- what is shown hierarchical on the website</a:t>
          </a:r>
          <a:endParaRPr lang="nl-NL" sz="1200" kern="1200" dirty="0"/>
        </a:p>
        <a:p>
          <a:pPr marL="114300" lvl="1" indent="-114300" algn="l" defTabSz="533400">
            <a:lnSpc>
              <a:spcPct val="90000"/>
            </a:lnSpc>
            <a:spcBef>
              <a:spcPct val="0"/>
            </a:spcBef>
            <a:spcAft>
              <a:spcPct val="15000"/>
            </a:spcAft>
            <a:buChar char="•"/>
          </a:pPr>
          <a:r>
            <a:rPr lang="en-GB" sz="1200" kern="1200" dirty="0" err="1"/>
            <a:t>biotablog</a:t>
          </a:r>
          <a:r>
            <a:rPr lang="en-GB" sz="1200" kern="1200" dirty="0"/>
            <a:t>/ – </a:t>
          </a:r>
          <a:r>
            <a:rPr lang="en-GB" sz="1200" kern="1200" dirty="0" err="1"/>
            <a:t>subdirecties</a:t>
          </a:r>
          <a:r>
            <a:rPr lang="en-GB" sz="1200" kern="1200" dirty="0"/>
            <a:t> every photo-blog</a:t>
          </a:r>
          <a:endParaRPr lang="nl-NL" sz="1200" kern="1200" dirty="0"/>
        </a:p>
        <a:p>
          <a:pPr marL="114300" lvl="1" indent="-114300" algn="l" defTabSz="533400">
            <a:lnSpc>
              <a:spcPct val="90000"/>
            </a:lnSpc>
            <a:spcBef>
              <a:spcPct val="0"/>
            </a:spcBef>
            <a:spcAft>
              <a:spcPct val="15000"/>
            </a:spcAft>
            <a:buChar char="•"/>
          </a:pPr>
          <a:r>
            <a:rPr lang="en-GB" sz="1200" kern="1200" dirty="0"/>
            <a:t>includes web/ – pre-installed helper html etc</a:t>
          </a:r>
          <a:endParaRPr lang="nl-NL" sz="1200" kern="1200" dirty="0"/>
        </a:p>
        <a:p>
          <a:pPr marL="114300" lvl="1" indent="-114300" algn="l" defTabSz="533400">
            <a:lnSpc>
              <a:spcPct val="90000"/>
            </a:lnSpc>
            <a:spcBef>
              <a:spcPct val="0"/>
            </a:spcBef>
            <a:spcAft>
              <a:spcPct val="15000"/>
            </a:spcAft>
            <a:buChar char="•"/>
          </a:pPr>
          <a:r>
            <a:rPr lang="en-GB" sz="1200" kern="1200" dirty="0"/>
            <a:t>summaries/ – statistics on the biota information</a:t>
          </a:r>
          <a:endParaRPr lang="nl-NL" sz="1200" kern="1200" dirty="0"/>
        </a:p>
      </dsp:txBody>
      <dsp:txXfrm rot="-5400000">
        <a:off x="2103693" y="4646178"/>
        <a:ext cx="3684767" cy="1019117"/>
      </dsp:txXfrm>
    </dsp:sp>
    <dsp:sp modelId="{0BA65C50-2887-40C2-9E74-44A4965485CE}">
      <dsp:nvSpPr>
        <dsp:cNvPr id="0" name=""/>
        <dsp:cNvSpPr/>
      </dsp:nvSpPr>
      <dsp:spPr>
        <a:xfrm>
          <a:off x="0" y="4449874"/>
          <a:ext cx="2103693" cy="14117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GB" sz="2900" kern="1200" dirty="0"/>
            <a:t>Web/</a:t>
          </a:r>
          <a:endParaRPr lang="nl-NL" sz="2900" kern="1200" dirty="0"/>
        </a:p>
      </dsp:txBody>
      <dsp:txXfrm>
        <a:off x="68915" y="4518789"/>
        <a:ext cx="1965863" cy="127389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4F64B-0D6B-41C4-960F-8BF36568A172}" type="datetimeFigureOut">
              <a:rPr lang="nl-NL" smtClean="0"/>
              <a:t>24-9-2024</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1F0CA7-94A2-42DA-B20C-BBBE621325FF}" type="slidenum">
              <a:rPr lang="nl-NL" smtClean="0"/>
              <a:t>‹#›</a:t>
            </a:fld>
            <a:endParaRPr lang="nl-NL"/>
          </a:p>
        </p:txBody>
      </p:sp>
    </p:spTree>
    <p:extLst>
      <p:ext uri="{BB962C8B-B14F-4D97-AF65-F5344CB8AC3E}">
        <p14:creationId xmlns:p14="http://schemas.microsoft.com/office/powerpoint/2010/main" val="692436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dictionary.cambridge.org/dictionary/english/time" TargetMode="External"/><Relationship Id="rId3" Type="http://schemas.openxmlformats.org/officeDocument/2006/relationships/hyperlink" Target="https://dictionary.cambridge.org/dictionary/english/animal" TargetMode="External"/><Relationship Id="rId7" Type="http://schemas.openxmlformats.org/officeDocument/2006/relationships/hyperlink" Target="https://dictionary.cambridge.org/dictionary/english/place" TargetMode="External"/><Relationship Id="rId12" Type="http://schemas.openxmlformats.org/officeDocument/2006/relationships/hyperlink" Target="https://dictionary.cambridge.org/dictionary/english/environment"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dictionary.cambridge.org/dictionary/english/particular" TargetMode="External"/><Relationship Id="rId11" Type="http://schemas.openxmlformats.org/officeDocument/2006/relationships/hyperlink" Target="https://dictionary.cambridge.org/dictionary/english/natural" TargetMode="External"/><Relationship Id="rId5" Type="http://schemas.openxmlformats.org/officeDocument/2006/relationships/hyperlink" Target="https://dictionary.cambridge.org/dictionary/english/living" TargetMode="External"/><Relationship Id="rId10" Type="http://schemas.openxmlformats.org/officeDocument/2006/relationships/hyperlink" Target="https://dictionary.cambridge.org/dictionary/english/type" TargetMode="External"/><Relationship Id="rId4" Type="http://schemas.openxmlformats.org/officeDocument/2006/relationships/hyperlink" Target="https://dictionary.cambridge.org/dictionary/english/plant" TargetMode="External"/><Relationship Id="rId9" Type="http://schemas.openxmlformats.org/officeDocument/2006/relationships/hyperlink" Target="https://dictionary.cambridge.org/dictionary/english/habitat"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SpeciesViewer master and trip repository architecture</a:t>
            </a:r>
          </a:p>
          <a:p>
            <a:endParaRPr lang="en-GB" b="1" dirty="0"/>
          </a:p>
          <a:p>
            <a:endParaRPr lang="en-GB" dirty="0"/>
          </a:p>
          <a:p>
            <a:r>
              <a:rPr lang="en-GB" dirty="0"/>
              <a:t>A repository is a structure to keep photos in a species topology.  The SpeciesViewer organizes pictures that show life, anything in the </a:t>
            </a:r>
            <a:r>
              <a:rPr lang="en-GB" i="1" dirty="0"/>
              <a:t>biota.  </a:t>
            </a:r>
            <a:r>
              <a:rPr lang="en-GB" sz="1200" kern="1200" dirty="0">
                <a:solidFill>
                  <a:schemeClr val="tx1"/>
                </a:solidFill>
                <a:latin typeface="+mn-lt"/>
                <a:ea typeface="+mn-ea"/>
                <a:cs typeface="+mn-cs"/>
              </a:rPr>
              <a:t>Biota refers to the </a:t>
            </a:r>
            <a:r>
              <a:rPr lang="en-GB" sz="1200" kern="1200" dirty="0">
                <a:solidFill>
                  <a:schemeClr val="tx1"/>
                </a:solidFill>
                <a:latin typeface="+mn-lt"/>
                <a:ea typeface="+mn-ea"/>
                <a:cs typeface="+mn-cs"/>
                <a:hlinkClick r:id="rId3" tooltip="animals">
                  <a:extLst>
                    <a:ext uri="{A12FA001-AC4F-418D-AE19-62706E023703}">
                      <ahyp:hlinkClr xmlns:ahyp="http://schemas.microsoft.com/office/drawing/2018/hyperlinkcolor" val="tx"/>
                    </a:ext>
                  </a:extLst>
                </a:hlinkClick>
              </a:rPr>
              <a:t>animals</a:t>
            </a:r>
            <a:r>
              <a:rPr lang="en-GB" sz="1200" kern="1200" dirty="0">
                <a:solidFill>
                  <a:schemeClr val="tx1"/>
                </a:solidFill>
                <a:latin typeface="+mn-lt"/>
                <a:ea typeface="+mn-ea"/>
                <a:cs typeface="+mn-cs"/>
              </a:rPr>
              <a:t>,  </a:t>
            </a:r>
            <a:r>
              <a:rPr lang="en-GB" sz="1200" kern="1200" dirty="0">
                <a:solidFill>
                  <a:schemeClr val="tx1"/>
                </a:solidFill>
                <a:latin typeface="+mn-lt"/>
                <a:ea typeface="+mn-ea"/>
                <a:cs typeface="+mn-cs"/>
                <a:hlinkClick r:id="rId4" tooltip="plants">
                  <a:extLst>
                    <a:ext uri="{A12FA001-AC4F-418D-AE19-62706E023703}">
                      <ahyp:hlinkClr xmlns:ahyp="http://schemas.microsoft.com/office/drawing/2018/hyperlinkcolor" val="tx"/>
                    </a:ext>
                  </a:extLst>
                </a:hlinkClick>
              </a:rPr>
              <a:t>plants</a:t>
            </a:r>
            <a:r>
              <a:rPr lang="en-GB" sz="1200" kern="1200" dirty="0">
                <a:solidFill>
                  <a:schemeClr val="tx1"/>
                </a:solidFill>
                <a:latin typeface="+mn-lt"/>
                <a:ea typeface="+mn-ea"/>
                <a:cs typeface="+mn-cs"/>
              </a:rPr>
              <a:t> and fungi </a:t>
            </a:r>
            <a:r>
              <a:rPr lang="en-GB" sz="1200" kern="1200" dirty="0">
                <a:solidFill>
                  <a:schemeClr val="tx1"/>
                </a:solidFill>
                <a:latin typeface="+mn-lt"/>
                <a:ea typeface="+mn-ea"/>
                <a:cs typeface="+mn-cs"/>
                <a:hlinkClick r:id="rId5" tooltip="living">
                  <a:extLst>
                    <a:ext uri="{A12FA001-AC4F-418D-AE19-62706E023703}">
                      <ahyp:hlinkClr xmlns:ahyp="http://schemas.microsoft.com/office/drawing/2018/hyperlinkcolor" val="tx"/>
                    </a:ext>
                  </a:extLst>
                </a:hlinkClick>
              </a:rPr>
              <a:t>living</a:t>
            </a:r>
            <a:r>
              <a:rPr lang="en-GB" sz="1200" kern="1200" dirty="0">
                <a:solidFill>
                  <a:schemeClr val="tx1"/>
                </a:solidFill>
                <a:latin typeface="+mn-lt"/>
                <a:ea typeface="+mn-ea"/>
                <a:cs typeface="+mn-cs"/>
              </a:rPr>
              <a:t> in a </a:t>
            </a:r>
            <a:r>
              <a:rPr lang="en-GB" sz="1200" kern="1200" dirty="0">
                <a:solidFill>
                  <a:schemeClr val="tx1"/>
                </a:solidFill>
                <a:latin typeface="+mn-lt"/>
                <a:ea typeface="+mn-ea"/>
                <a:cs typeface="+mn-cs"/>
                <a:hlinkClick r:id="rId6" tooltip="particular">
                  <a:extLst>
                    <a:ext uri="{A12FA001-AC4F-418D-AE19-62706E023703}">
                      <ahyp:hlinkClr xmlns:ahyp="http://schemas.microsoft.com/office/drawing/2018/hyperlinkcolor" val="tx"/>
                    </a:ext>
                  </a:extLst>
                </a:hlinkClick>
              </a:rPr>
              <a:t>particular</a:t>
            </a:r>
            <a:r>
              <a:rPr lang="en-GB" sz="1200" kern="1200" dirty="0">
                <a:solidFill>
                  <a:schemeClr val="tx1"/>
                </a:solidFill>
                <a:latin typeface="+mn-lt"/>
                <a:ea typeface="+mn-ea"/>
                <a:cs typeface="+mn-cs"/>
              </a:rPr>
              <a:t> </a:t>
            </a:r>
            <a:r>
              <a:rPr lang="en-GB" sz="1200" kern="1200" dirty="0">
                <a:solidFill>
                  <a:schemeClr val="tx1"/>
                </a:solidFill>
                <a:latin typeface="+mn-lt"/>
                <a:ea typeface="+mn-ea"/>
                <a:cs typeface="+mn-cs"/>
                <a:hlinkClick r:id="rId7" tooltip="place">
                  <a:extLst>
                    <a:ext uri="{A12FA001-AC4F-418D-AE19-62706E023703}">
                      <ahyp:hlinkClr xmlns:ahyp="http://schemas.microsoft.com/office/drawing/2018/hyperlinkcolor" val="tx"/>
                    </a:ext>
                  </a:extLst>
                </a:hlinkClick>
              </a:rPr>
              <a:t>place</a:t>
            </a:r>
            <a:r>
              <a:rPr lang="en-GB" sz="1200" kern="1200" dirty="0">
                <a:solidFill>
                  <a:schemeClr val="tx1"/>
                </a:solidFill>
                <a:latin typeface="+mn-lt"/>
                <a:ea typeface="+mn-ea"/>
                <a:cs typeface="+mn-cs"/>
              </a:rPr>
              <a:t>, </a:t>
            </a:r>
            <a:r>
              <a:rPr lang="en-GB" sz="1200" kern="1200" dirty="0">
                <a:solidFill>
                  <a:schemeClr val="tx1"/>
                </a:solidFill>
                <a:latin typeface="+mn-lt"/>
                <a:ea typeface="+mn-ea"/>
                <a:cs typeface="+mn-cs"/>
                <a:hlinkClick r:id="rId8" tooltip="time">
                  <a:extLst>
                    <a:ext uri="{A12FA001-AC4F-418D-AE19-62706E023703}">
                      <ahyp:hlinkClr xmlns:ahyp="http://schemas.microsoft.com/office/drawing/2018/hyperlinkcolor" val="tx"/>
                    </a:ext>
                  </a:extLst>
                </a:hlinkClick>
              </a:rPr>
              <a:t>time</a:t>
            </a:r>
            <a:r>
              <a:rPr lang="en-GB" sz="1200" kern="1200" dirty="0">
                <a:solidFill>
                  <a:schemeClr val="tx1"/>
                </a:solidFill>
                <a:latin typeface="+mn-lt"/>
                <a:ea typeface="+mn-ea"/>
                <a:cs typeface="+mn-cs"/>
              </a:rPr>
              <a:t>, or </a:t>
            </a:r>
            <a:r>
              <a:rPr lang="en-GB" sz="1200" kern="1200" dirty="0">
                <a:solidFill>
                  <a:schemeClr val="tx1"/>
                </a:solidFill>
                <a:latin typeface="+mn-lt"/>
                <a:ea typeface="+mn-ea"/>
                <a:cs typeface="+mn-cs"/>
                <a:hlinkClick r:id="rId9" tooltip="habitat">
                  <a:extLst>
                    <a:ext uri="{A12FA001-AC4F-418D-AE19-62706E023703}">
                      <ahyp:hlinkClr xmlns:ahyp="http://schemas.microsoft.com/office/drawing/2018/hyperlinkcolor" val="tx"/>
                    </a:ext>
                  </a:extLst>
                </a:hlinkClick>
              </a:rPr>
              <a:t>habitat</a:t>
            </a:r>
            <a:r>
              <a:rPr lang="en-GB" sz="1200" kern="1200" dirty="0">
                <a:solidFill>
                  <a:schemeClr val="tx1"/>
                </a:solidFill>
                <a:latin typeface="+mn-lt"/>
                <a:ea typeface="+mn-ea"/>
                <a:cs typeface="+mn-cs"/>
              </a:rPr>
              <a:t> (= one </a:t>
            </a:r>
            <a:r>
              <a:rPr lang="en-GB" sz="1200" kern="1200" dirty="0">
                <a:solidFill>
                  <a:schemeClr val="tx1"/>
                </a:solidFill>
                <a:latin typeface="+mn-lt"/>
                <a:ea typeface="+mn-ea"/>
                <a:cs typeface="+mn-cs"/>
                <a:hlinkClick r:id="rId10" tooltip="type">
                  <a:extLst>
                    <a:ext uri="{A12FA001-AC4F-418D-AE19-62706E023703}">
                      <ahyp:hlinkClr xmlns:ahyp="http://schemas.microsoft.com/office/drawing/2018/hyperlinkcolor" val="tx"/>
                    </a:ext>
                  </a:extLst>
                </a:hlinkClick>
              </a:rPr>
              <a:t>type</a:t>
            </a:r>
            <a:r>
              <a:rPr lang="en-GB" sz="1200" kern="1200" dirty="0">
                <a:solidFill>
                  <a:schemeClr val="tx1"/>
                </a:solidFill>
                <a:latin typeface="+mn-lt"/>
                <a:ea typeface="+mn-ea"/>
                <a:cs typeface="+mn-cs"/>
              </a:rPr>
              <a:t> of </a:t>
            </a:r>
            <a:r>
              <a:rPr lang="en-GB" sz="1200" kern="1200" dirty="0">
                <a:solidFill>
                  <a:schemeClr val="tx1"/>
                </a:solidFill>
                <a:latin typeface="+mn-lt"/>
                <a:ea typeface="+mn-ea"/>
                <a:cs typeface="+mn-cs"/>
                <a:hlinkClick r:id="rId11" tooltip="natural">
                  <a:extLst>
                    <a:ext uri="{A12FA001-AC4F-418D-AE19-62706E023703}">
                      <ahyp:hlinkClr xmlns:ahyp="http://schemas.microsoft.com/office/drawing/2018/hyperlinkcolor" val="tx"/>
                    </a:ext>
                  </a:extLst>
                </a:hlinkClick>
              </a:rPr>
              <a:t>natural</a:t>
            </a:r>
            <a:r>
              <a:rPr lang="en-GB" sz="1200" kern="1200" dirty="0">
                <a:solidFill>
                  <a:schemeClr val="tx1"/>
                </a:solidFill>
                <a:latin typeface="+mn-lt"/>
                <a:ea typeface="+mn-ea"/>
                <a:cs typeface="+mn-cs"/>
              </a:rPr>
              <a:t> </a:t>
            </a:r>
            <a:r>
              <a:rPr lang="en-GB" sz="1200" kern="1200" dirty="0">
                <a:solidFill>
                  <a:schemeClr val="tx1"/>
                </a:solidFill>
                <a:latin typeface="+mn-lt"/>
                <a:ea typeface="+mn-ea"/>
                <a:cs typeface="+mn-cs"/>
                <a:hlinkClick r:id="rId12" tooltip="environment">
                  <a:extLst>
                    <a:ext uri="{A12FA001-AC4F-418D-AE19-62706E023703}">
                      <ahyp:hlinkClr xmlns:ahyp="http://schemas.microsoft.com/office/drawing/2018/hyperlinkcolor" val="tx"/>
                    </a:ext>
                  </a:extLst>
                </a:hlinkClick>
              </a:rPr>
              <a:t>environment</a:t>
            </a:r>
            <a:r>
              <a:rPr lang="en-GB" sz="1200" kern="1200" dirty="0">
                <a:solidFill>
                  <a:schemeClr val="tx1"/>
                </a:solidFill>
                <a:latin typeface="+mn-lt"/>
                <a:ea typeface="+mn-ea"/>
                <a:cs typeface="+mn-cs"/>
              </a:rPr>
              <a:t>).  In this project biota refers to the root in a hierarchical classification.  When the picture has no scientific, English or Dutch name, it will not be included.</a:t>
            </a:r>
          </a:p>
          <a:p>
            <a:endParaRPr lang="en-GB" sz="1200" kern="1200" dirty="0">
              <a:solidFill>
                <a:schemeClr val="tx1"/>
              </a:solidFill>
              <a:latin typeface="+mn-lt"/>
              <a:ea typeface="+mn-ea"/>
              <a:cs typeface="+mn-cs"/>
            </a:endParaRPr>
          </a:p>
          <a:p>
            <a:r>
              <a:rPr lang="en-GB" sz="1200" kern="1200" dirty="0">
                <a:solidFill>
                  <a:schemeClr val="tx1"/>
                </a:solidFill>
                <a:latin typeface="+mn-lt"/>
                <a:ea typeface="+mn-ea"/>
                <a:cs typeface="+mn-cs"/>
              </a:rPr>
              <a:t>In the implementation we choose a hierarchy of repositories: a master that has all validated data, and trip repository that contain data for a specific trip or project.</a:t>
            </a:r>
          </a:p>
          <a:p>
            <a:endParaRPr lang="en-GB" dirty="0"/>
          </a:p>
          <a:p>
            <a:r>
              <a:rPr lang="en-GB" dirty="0"/>
              <a:t>A repository is the storage database of both the raw data and the processed RAWs into JPGs.  </a:t>
            </a:r>
          </a:p>
          <a:p>
            <a:r>
              <a:rPr lang="en-GB" dirty="0"/>
              <a:t>There two separate data structures, one to keep all the raw and processed files, and one to have the Web ready data.</a:t>
            </a:r>
          </a:p>
          <a:p>
            <a:endParaRPr lang="en-GB" dirty="0"/>
          </a:p>
          <a:p>
            <a:r>
              <a:rPr lang="en-GB" dirty="0"/>
              <a:t>The master repository can be thought of as a static data storage. The main use is to accept data from trips once they are completely processed.  That means that the best pictures have been selected, species names are specified for every photo. The trips are repositories that use the same data store architecture, but only keeps the pictures from a “trip”.  A trip be a day at a zoo, a vacation or a birding trip.  Anything.</a:t>
            </a:r>
          </a:p>
          <a:p>
            <a:endParaRPr lang="en-GB" dirty="0"/>
          </a:p>
          <a:p>
            <a:endParaRPr lang="en-GB" dirty="0"/>
          </a:p>
          <a:p>
            <a:endParaRPr lang="nl-NL" dirty="0"/>
          </a:p>
        </p:txBody>
      </p:sp>
      <p:sp>
        <p:nvSpPr>
          <p:cNvPr id="4" name="Slide Number Placeholder 3"/>
          <p:cNvSpPr>
            <a:spLocks noGrp="1"/>
          </p:cNvSpPr>
          <p:nvPr>
            <p:ph type="sldNum" sz="quarter" idx="5"/>
          </p:nvPr>
        </p:nvSpPr>
        <p:spPr/>
        <p:txBody>
          <a:bodyPr/>
          <a:lstStyle/>
          <a:p>
            <a:fld id="{5F1F0CA7-94A2-42DA-B20C-BBBE621325FF}" type="slidenum">
              <a:rPr lang="nl-NL" smtClean="0"/>
              <a:t>2</a:t>
            </a:fld>
            <a:endParaRPr lang="nl-NL"/>
          </a:p>
        </p:txBody>
      </p:sp>
    </p:spTree>
    <p:extLst>
      <p:ext uri="{BB962C8B-B14F-4D97-AF65-F5344CB8AC3E}">
        <p14:creationId xmlns:p14="http://schemas.microsoft.com/office/powerpoint/2010/main" val="3488307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5F1F0CA7-94A2-42DA-B20C-BBBE621325FF}" type="slidenum">
              <a:rPr lang="nl-NL" smtClean="0"/>
              <a:t>3</a:t>
            </a:fld>
            <a:endParaRPr lang="nl-NL"/>
          </a:p>
        </p:txBody>
      </p:sp>
    </p:spTree>
    <p:extLst>
      <p:ext uri="{BB962C8B-B14F-4D97-AF65-F5344CB8AC3E}">
        <p14:creationId xmlns:p14="http://schemas.microsoft.com/office/powerpoint/2010/main" val="1677807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BA6EE-1CD1-B87E-69C8-F1A298194E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5F942D96-ADD9-EA9A-1210-EB4F8A8A91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9D480377-4326-6C9C-7F81-86CCC438B50E}"/>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5" name="Footer Placeholder 4">
            <a:extLst>
              <a:ext uri="{FF2B5EF4-FFF2-40B4-BE49-F238E27FC236}">
                <a16:creationId xmlns:a16="http://schemas.microsoft.com/office/drawing/2014/main" id="{48256CD1-6CC3-9AF7-8A85-BCEA2C39244B}"/>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04109996-C87A-C82F-0BAA-222B1B2C0208}"/>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107205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FBEF-0565-2E84-E8C6-AF554C559FFA}"/>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C71D91F8-3403-3373-7C4F-F29C7B9799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C8C79E0E-E829-CB8A-80B7-C19C6C2BEC9D}"/>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5" name="Footer Placeholder 4">
            <a:extLst>
              <a:ext uri="{FF2B5EF4-FFF2-40B4-BE49-F238E27FC236}">
                <a16:creationId xmlns:a16="http://schemas.microsoft.com/office/drawing/2014/main" id="{45A145F3-CE4C-099C-7D6A-ECF5EA8A7FB5}"/>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20A7D5E3-541C-3E0B-D48F-4E71223223A1}"/>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348679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4938B-BA91-4148-41E7-E19507F010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F94AA9FB-B071-2BCB-D31D-06BF76BDD0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45483C-C391-D14E-0FDA-58F92E72CD8F}"/>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5" name="Footer Placeholder 4">
            <a:extLst>
              <a:ext uri="{FF2B5EF4-FFF2-40B4-BE49-F238E27FC236}">
                <a16:creationId xmlns:a16="http://schemas.microsoft.com/office/drawing/2014/main" id="{1FC742EB-F6EB-A08E-C409-BC2E9178EE4A}"/>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18E566F6-2C1B-C939-9CAC-870744E69AF2}"/>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2207976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51F19-259D-DACC-1673-18F06396F216}"/>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530435F3-CED9-3873-B354-303796148C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29E74DDF-3864-0C40-D43E-73FE934419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EFE5BB81-CB73-BADD-833C-E6C08251BE4C}"/>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6" name="Footer Placeholder 5">
            <a:extLst>
              <a:ext uri="{FF2B5EF4-FFF2-40B4-BE49-F238E27FC236}">
                <a16:creationId xmlns:a16="http://schemas.microsoft.com/office/drawing/2014/main" id="{00ECAE4F-799F-9143-5894-EC647AE6D99D}"/>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88EDFF5E-5FA0-E8D5-FA51-1CCAFA78B23F}"/>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479082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466C7-9FC5-E197-D212-F7957359516F}"/>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3EEBAEFC-F861-185C-4C05-ADC84AD21E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484965-CC8C-B52D-E6F5-67C0DC4627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AD9B8711-0E71-0108-0DDE-53C7572A85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6A00BF-A171-34FF-0F6E-1FE8B5D21A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0FBA23EF-BE76-DF80-4E67-CFF6438829FD}"/>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8" name="Footer Placeholder 7">
            <a:extLst>
              <a:ext uri="{FF2B5EF4-FFF2-40B4-BE49-F238E27FC236}">
                <a16:creationId xmlns:a16="http://schemas.microsoft.com/office/drawing/2014/main" id="{71E14CBD-063A-DD7E-2C84-3192FB33B8DA}"/>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6F4BE850-9BA3-7A00-0517-39226119158E}"/>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1742891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4F81-D4BA-32EC-0E08-4A34AA6D5F70}"/>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700C5642-7837-EF08-7070-C010D509A460}"/>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4" name="Footer Placeholder 3">
            <a:extLst>
              <a:ext uri="{FF2B5EF4-FFF2-40B4-BE49-F238E27FC236}">
                <a16:creationId xmlns:a16="http://schemas.microsoft.com/office/drawing/2014/main" id="{4D424291-71CD-CC11-C1DC-36CC3F88EFA4}"/>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0E55EFFB-F3BA-D4ED-9CF3-E68AE9F813BA}"/>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1813283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C5CEBD-7B93-EFD6-66E9-4ED7EF4AC5D6}"/>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3" name="Footer Placeholder 2">
            <a:extLst>
              <a:ext uri="{FF2B5EF4-FFF2-40B4-BE49-F238E27FC236}">
                <a16:creationId xmlns:a16="http://schemas.microsoft.com/office/drawing/2014/main" id="{65C18ADF-45A7-2041-1FEA-3E6EA903CFA6}"/>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D55357CD-96AA-E425-7465-290B9907AE9E}"/>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1650805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08600-1C2D-5D94-C48A-0A2ECE9A5E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793F15F3-AA41-1EDB-BAE9-57E1910FE3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4D9927FD-EA53-EBB3-9123-EA4D873563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8AED02-EA9F-2346-B222-260421C0DFDD}"/>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6" name="Footer Placeholder 5">
            <a:extLst>
              <a:ext uri="{FF2B5EF4-FFF2-40B4-BE49-F238E27FC236}">
                <a16:creationId xmlns:a16="http://schemas.microsoft.com/office/drawing/2014/main" id="{226A5A83-3E16-F36D-94A0-4E90836049A4}"/>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95748670-929A-25D8-352C-B8031BC0F472}"/>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3826783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47E4E-09DA-C794-6E1D-CA4FA48829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FA0E143A-0619-F57E-A6F9-73236B2BBA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EC87B388-D816-7D61-3DB3-97E07AD2F7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4D7559-AC53-DC28-7885-B026277FF27F}"/>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6" name="Footer Placeholder 5">
            <a:extLst>
              <a:ext uri="{FF2B5EF4-FFF2-40B4-BE49-F238E27FC236}">
                <a16:creationId xmlns:a16="http://schemas.microsoft.com/office/drawing/2014/main" id="{1EF67CFA-F8FA-4C56-FE49-7D1172763A06}"/>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CA01D4B8-DE7D-071F-515C-51BD5F00FEDE}"/>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2852709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02395-AA74-B50A-0074-C1897EC546DD}"/>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6786BF2D-C9BF-C3B4-A228-CFF7820FDF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E38DDA80-B4BA-B5AB-84C7-C33532495054}"/>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5" name="Footer Placeholder 4">
            <a:extLst>
              <a:ext uri="{FF2B5EF4-FFF2-40B4-BE49-F238E27FC236}">
                <a16:creationId xmlns:a16="http://schemas.microsoft.com/office/drawing/2014/main" id="{743992AD-3CBC-DCBC-0DC5-7A74C004C6BC}"/>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177FC7C2-639B-F34D-AABA-CD2C96833A10}"/>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3421262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F9DD3-8803-6BA3-FBC8-065BF972EA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5027A037-BA50-4B19-DBF1-0DE82580BA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8B8D16D4-C186-E0D6-5397-8A9D27C49F19}"/>
              </a:ext>
            </a:extLst>
          </p:cNvPr>
          <p:cNvSpPr>
            <a:spLocks noGrp="1"/>
          </p:cNvSpPr>
          <p:nvPr>
            <p:ph type="dt" sz="half" idx="10"/>
          </p:nvPr>
        </p:nvSpPr>
        <p:spPr/>
        <p:txBody>
          <a:bodyPr/>
          <a:lstStyle/>
          <a:p>
            <a:fld id="{A7A69C3B-192C-4ABE-8AD2-9BDA44DCF295}" type="datetimeFigureOut">
              <a:rPr lang="nl-NL" smtClean="0"/>
              <a:t>24-9-2024</a:t>
            </a:fld>
            <a:endParaRPr lang="nl-NL"/>
          </a:p>
        </p:txBody>
      </p:sp>
      <p:sp>
        <p:nvSpPr>
          <p:cNvPr id="5" name="Footer Placeholder 4">
            <a:extLst>
              <a:ext uri="{FF2B5EF4-FFF2-40B4-BE49-F238E27FC236}">
                <a16:creationId xmlns:a16="http://schemas.microsoft.com/office/drawing/2014/main" id="{B162B537-BAF6-3C77-13BA-79E7334EDC57}"/>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40A1DB2F-3B1D-C839-5214-52EB8EB651BB}"/>
              </a:ext>
            </a:extLst>
          </p:cNvPr>
          <p:cNvSpPr>
            <a:spLocks noGrp="1"/>
          </p:cNvSpPr>
          <p:nvPr>
            <p:ph type="sldNum" sz="quarter" idx="12"/>
          </p:nvPr>
        </p:nvSpPr>
        <p:spPr/>
        <p:txBody>
          <a:bodyPr/>
          <a:lstStyle/>
          <a:p>
            <a:fld id="{62C0A9F8-F45E-47EC-B75F-3078FD9E26F7}" type="slidenum">
              <a:rPr lang="nl-NL" smtClean="0"/>
              <a:t>‹#›</a:t>
            </a:fld>
            <a:endParaRPr lang="nl-NL"/>
          </a:p>
        </p:txBody>
      </p:sp>
    </p:spTree>
    <p:extLst>
      <p:ext uri="{BB962C8B-B14F-4D97-AF65-F5344CB8AC3E}">
        <p14:creationId xmlns:p14="http://schemas.microsoft.com/office/powerpoint/2010/main" val="707930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5FE9DE-5A40-6FD7-E90C-FE36B85965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6E582FB0-E9C0-46CE-B838-05FB3636E8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19017FE0-3F12-72F2-A4E1-EC7E6409F9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A69C3B-192C-4ABE-8AD2-9BDA44DCF295}" type="datetimeFigureOut">
              <a:rPr lang="nl-NL" smtClean="0"/>
              <a:t>24-9-2024</a:t>
            </a:fld>
            <a:endParaRPr lang="nl-NL"/>
          </a:p>
        </p:txBody>
      </p:sp>
      <p:sp>
        <p:nvSpPr>
          <p:cNvPr id="5" name="Footer Placeholder 4">
            <a:extLst>
              <a:ext uri="{FF2B5EF4-FFF2-40B4-BE49-F238E27FC236}">
                <a16:creationId xmlns:a16="http://schemas.microsoft.com/office/drawing/2014/main" id="{9C2FB952-011F-CA2B-CC5D-E5CAB9CD9E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Slide Number Placeholder 5">
            <a:extLst>
              <a:ext uri="{FF2B5EF4-FFF2-40B4-BE49-F238E27FC236}">
                <a16:creationId xmlns:a16="http://schemas.microsoft.com/office/drawing/2014/main" id="{86DF49BE-08F5-560D-86AA-F3701EDD1C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C0A9F8-F45E-47EC-B75F-3078FD9E26F7}" type="slidenum">
              <a:rPr lang="nl-NL" smtClean="0"/>
              <a:t>‹#›</a:t>
            </a:fld>
            <a:endParaRPr lang="nl-NL"/>
          </a:p>
        </p:txBody>
      </p:sp>
    </p:spTree>
    <p:extLst>
      <p:ext uri="{BB962C8B-B14F-4D97-AF65-F5344CB8AC3E}">
        <p14:creationId xmlns:p14="http://schemas.microsoft.com/office/powerpoint/2010/main" val="2743312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sv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035BC7-E861-84E0-F834-46516AF2DEEF}"/>
              </a:ext>
            </a:extLst>
          </p:cNvPr>
          <p:cNvSpPr>
            <a:spLocks noGrp="1"/>
          </p:cNvSpPr>
          <p:nvPr>
            <p:ph type="ctrTitle"/>
          </p:nvPr>
        </p:nvSpPr>
        <p:spPr/>
        <p:txBody>
          <a:bodyPr/>
          <a:lstStyle/>
          <a:p>
            <a:r>
              <a:rPr lang="en-GB" dirty="0"/>
              <a:t>SpeciesViewer</a:t>
            </a:r>
            <a:endParaRPr lang="nl-NL" dirty="0"/>
          </a:p>
        </p:txBody>
      </p:sp>
      <p:sp>
        <p:nvSpPr>
          <p:cNvPr id="5" name="Subtitle 4">
            <a:extLst>
              <a:ext uri="{FF2B5EF4-FFF2-40B4-BE49-F238E27FC236}">
                <a16:creationId xmlns:a16="http://schemas.microsoft.com/office/drawing/2014/main" id="{47E5B9C9-9AE6-8D27-5F51-4565BD675716}"/>
              </a:ext>
            </a:extLst>
          </p:cNvPr>
          <p:cNvSpPr>
            <a:spLocks noGrp="1"/>
          </p:cNvSpPr>
          <p:nvPr>
            <p:ph type="subTitle" idx="1"/>
          </p:nvPr>
        </p:nvSpPr>
        <p:spPr/>
        <p:txBody>
          <a:bodyPr/>
          <a:lstStyle/>
          <a:p>
            <a:r>
              <a:rPr lang="en-GB" dirty="0"/>
              <a:t>Implementation notes</a:t>
            </a:r>
            <a:endParaRPr lang="nl-NL" dirty="0"/>
          </a:p>
        </p:txBody>
      </p:sp>
    </p:spTree>
    <p:extLst>
      <p:ext uri="{BB962C8B-B14F-4D97-AF65-F5344CB8AC3E}">
        <p14:creationId xmlns:p14="http://schemas.microsoft.com/office/powerpoint/2010/main" val="950332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Rounded Corners 30">
            <a:extLst>
              <a:ext uri="{FF2B5EF4-FFF2-40B4-BE49-F238E27FC236}">
                <a16:creationId xmlns:a16="http://schemas.microsoft.com/office/drawing/2014/main" id="{B1735BB9-E650-CD0F-1217-D39A17824557}"/>
              </a:ext>
            </a:extLst>
          </p:cNvPr>
          <p:cNvSpPr/>
          <p:nvPr/>
        </p:nvSpPr>
        <p:spPr>
          <a:xfrm>
            <a:off x="5961747" y="4292559"/>
            <a:ext cx="2034723" cy="199335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nchorCtr="1"/>
          <a:lstStyle/>
          <a:p>
            <a:pPr algn="ctr"/>
            <a:r>
              <a:rPr lang="en-GB" sz="1400" dirty="0">
                <a:solidFill>
                  <a:srgbClr val="FF0000"/>
                </a:solidFill>
              </a:rPr>
              <a:t>repository</a:t>
            </a:r>
            <a:endParaRPr lang="nl-NL" sz="1400" dirty="0">
              <a:solidFill>
                <a:srgbClr val="FF0000"/>
              </a:solidFill>
            </a:endParaRPr>
          </a:p>
        </p:txBody>
      </p:sp>
      <p:sp>
        <p:nvSpPr>
          <p:cNvPr id="30" name="Rectangle: Rounded Corners 29">
            <a:extLst>
              <a:ext uri="{FF2B5EF4-FFF2-40B4-BE49-F238E27FC236}">
                <a16:creationId xmlns:a16="http://schemas.microsoft.com/office/drawing/2014/main" id="{74E196A1-0A3E-D921-849F-8959F0461F49}"/>
              </a:ext>
            </a:extLst>
          </p:cNvPr>
          <p:cNvSpPr/>
          <p:nvPr/>
        </p:nvSpPr>
        <p:spPr>
          <a:xfrm>
            <a:off x="3539637" y="4302177"/>
            <a:ext cx="2034723" cy="199335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nchorCtr="1"/>
          <a:lstStyle/>
          <a:p>
            <a:pPr algn="ctr"/>
            <a:r>
              <a:rPr lang="en-GB" sz="1400" dirty="0">
                <a:solidFill>
                  <a:srgbClr val="FF0000"/>
                </a:solidFill>
              </a:rPr>
              <a:t>repository</a:t>
            </a:r>
            <a:endParaRPr lang="nl-NL" sz="1400" dirty="0">
              <a:solidFill>
                <a:srgbClr val="FF0000"/>
              </a:solidFill>
            </a:endParaRPr>
          </a:p>
        </p:txBody>
      </p:sp>
      <p:sp>
        <p:nvSpPr>
          <p:cNvPr id="29" name="Rectangle: Rounded Corners 28">
            <a:extLst>
              <a:ext uri="{FF2B5EF4-FFF2-40B4-BE49-F238E27FC236}">
                <a16:creationId xmlns:a16="http://schemas.microsoft.com/office/drawing/2014/main" id="{65EA22B0-6AC3-646A-A7C0-43BF22FF6AE6}"/>
              </a:ext>
            </a:extLst>
          </p:cNvPr>
          <p:cNvSpPr/>
          <p:nvPr/>
        </p:nvSpPr>
        <p:spPr>
          <a:xfrm>
            <a:off x="646268" y="2726011"/>
            <a:ext cx="2387217" cy="2138184"/>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nchorCtr="1"/>
          <a:lstStyle/>
          <a:p>
            <a:pPr algn="ctr"/>
            <a:r>
              <a:rPr lang="en-GB" dirty="0">
                <a:solidFill>
                  <a:srgbClr val="FF0000"/>
                </a:solidFill>
              </a:rPr>
              <a:t>repository</a:t>
            </a:r>
            <a:endParaRPr lang="nl-NL" dirty="0">
              <a:solidFill>
                <a:srgbClr val="FF0000"/>
              </a:solidFill>
            </a:endParaRPr>
          </a:p>
        </p:txBody>
      </p:sp>
      <p:sp>
        <p:nvSpPr>
          <p:cNvPr id="2" name="Cylinder 1">
            <a:extLst>
              <a:ext uri="{FF2B5EF4-FFF2-40B4-BE49-F238E27FC236}">
                <a16:creationId xmlns:a16="http://schemas.microsoft.com/office/drawing/2014/main" id="{A581A054-7803-7D19-B22B-115DEF2D63A9}"/>
              </a:ext>
            </a:extLst>
          </p:cNvPr>
          <p:cNvSpPr/>
          <p:nvPr/>
        </p:nvSpPr>
        <p:spPr>
          <a:xfrm>
            <a:off x="1196283" y="2873828"/>
            <a:ext cx="1285660" cy="921275"/>
          </a:xfrm>
          <a:prstGeom prst="ca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Master</a:t>
            </a:r>
          </a:p>
          <a:p>
            <a:pPr algn="ctr"/>
            <a:r>
              <a:rPr lang="en-GB" dirty="0"/>
              <a:t>(nature)</a:t>
            </a:r>
            <a:endParaRPr lang="nl-NL" dirty="0"/>
          </a:p>
        </p:txBody>
      </p:sp>
      <p:sp>
        <p:nvSpPr>
          <p:cNvPr id="3" name="Cylinder 2">
            <a:extLst>
              <a:ext uri="{FF2B5EF4-FFF2-40B4-BE49-F238E27FC236}">
                <a16:creationId xmlns:a16="http://schemas.microsoft.com/office/drawing/2014/main" id="{CAFB5B68-81C7-09FB-2D31-55CEDA79F4AE}"/>
              </a:ext>
            </a:extLst>
          </p:cNvPr>
          <p:cNvSpPr/>
          <p:nvPr/>
        </p:nvSpPr>
        <p:spPr>
          <a:xfrm>
            <a:off x="5025248" y="2877266"/>
            <a:ext cx="1349529" cy="529390"/>
          </a:xfrm>
          <a:prstGeom prst="can">
            <a:avLst>
              <a:gd name="adj" fmla="val 237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Trips</a:t>
            </a:r>
          </a:p>
        </p:txBody>
      </p:sp>
      <p:sp>
        <p:nvSpPr>
          <p:cNvPr id="6" name="Cylinder 5">
            <a:extLst>
              <a:ext uri="{FF2B5EF4-FFF2-40B4-BE49-F238E27FC236}">
                <a16:creationId xmlns:a16="http://schemas.microsoft.com/office/drawing/2014/main" id="{27C0BE62-8244-0F6C-185D-4527DF9E0F42}"/>
              </a:ext>
            </a:extLst>
          </p:cNvPr>
          <p:cNvSpPr/>
          <p:nvPr/>
        </p:nvSpPr>
        <p:spPr>
          <a:xfrm>
            <a:off x="4126106" y="4405139"/>
            <a:ext cx="899142" cy="780903"/>
          </a:xfrm>
          <a:prstGeom prst="ca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Trip 1</a:t>
            </a:r>
          </a:p>
          <a:p>
            <a:pPr algn="ctr"/>
            <a:r>
              <a:rPr lang="en-GB" dirty="0"/>
              <a:t>(</a:t>
            </a:r>
            <a:r>
              <a:rPr lang="en-GB" sz="1600" dirty="0"/>
              <a:t>safari</a:t>
            </a:r>
            <a:r>
              <a:rPr lang="en-GB" dirty="0"/>
              <a:t>)</a:t>
            </a:r>
            <a:endParaRPr lang="nl-NL" dirty="0"/>
          </a:p>
        </p:txBody>
      </p:sp>
      <p:sp>
        <p:nvSpPr>
          <p:cNvPr id="7" name="Cylinder 6">
            <a:extLst>
              <a:ext uri="{FF2B5EF4-FFF2-40B4-BE49-F238E27FC236}">
                <a16:creationId xmlns:a16="http://schemas.microsoft.com/office/drawing/2014/main" id="{67BA7AC7-1097-266C-AAC3-F40EDEA38EED}"/>
              </a:ext>
            </a:extLst>
          </p:cNvPr>
          <p:cNvSpPr/>
          <p:nvPr/>
        </p:nvSpPr>
        <p:spPr>
          <a:xfrm>
            <a:off x="6414111" y="4395519"/>
            <a:ext cx="899142" cy="780903"/>
          </a:xfrm>
          <a:prstGeom prst="ca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Trip n</a:t>
            </a:r>
          </a:p>
          <a:p>
            <a:pPr algn="ctr"/>
            <a:r>
              <a:rPr lang="en-GB" sz="1600" dirty="0"/>
              <a:t>(</a:t>
            </a:r>
            <a:r>
              <a:rPr lang="en-GB" sz="1600" dirty="0" err="1"/>
              <a:t>spain</a:t>
            </a:r>
            <a:r>
              <a:rPr lang="en-GB" sz="1600" dirty="0"/>
              <a:t>)</a:t>
            </a:r>
            <a:endParaRPr lang="nl-NL" sz="1600" dirty="0"/>
          </a:p>
        </p:txBody>
      </p:sp>
      <p:sp>
        <p:nvSpPr>
          <p:cNvPr id="8" name="TextBox 7">
            <a:extLst>
              <a:ext uri="{FF2B5EF4-FFF2-40B4-BE49-F238E27FC236}">
                <a16:creationId xmlns:a16="http://schemas.microsoft.com/office/drawing/2014/main" id="{5DBCF3E6-1ACB-6F4D-7BF1-6A44AC7664B3}"/>
              </a:ext>
            </a:extLst>
          </p:cNvPr>
          <p:cNvSpPr txBox="1"/>
          <p:nvPr/>
        </p:nvSpPr>
        <p:spPr>
          <a:xfrm>
            <a:off x="5503586" y="4601304"/>
            <a:ext cx="515501" cy="369332"/>
          </a:xfrm>
          <a:prstGeom prst="rect">
            <a:avLst/>
          </a:prstGeom>
          <a:noFill/>
        </p:spPr>
        <p:txBody>
          <a:bodyPr wrap="square" rtlCol="0">
            <a:spAutoFit/>
          </a:bodyPr>
          <a:lstStyle/>
          <a:p>
            <a:r>
              <a:rPr lang="en-GB" dirty="0"/>
              <a:t>. . .  </a:t>
            </a:r>
            <a:endParaRPr lang="nl-NL" dirty="0"/>
          </a:p>
        </p:txBody>
      </p:sp>
      <p:sp>
        <p:nvSpPr>
          <p:cNvPr id="9" name="Flowchart: Magnetic Disk 8">
            <a:extLst>
              <a:ext uri="{FF2B5EF4-FFF2-40B4-BE49-F238E27FC236}">
                <a16:creationId xmlns:a16="http://schemas.microsoft.com/office/drawing/2014/main" id="{7EC838AA-A87A-A1F2-A33C-E15D39EF56EC}"/>
              </a:ext>
            </a:extLst>
          </p:cNvPr>
          <p:cNvSpPr/>
          <p:nvPr/>
        </p:nvSpPr>
        <p:spPr>
          <a:xfrm>
            <a:off x="1050694" y="3958162"/>
            <a:ext cx="715019" cy="455619"/>
          </a:xfrm>
          <a:prstGeom prst="flowChartMagneticDisk">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disk</a:t>
            </a:r>
            <a:endParaRPr lang="nl-NL" dirty="0"/>
          </a:p>
        </p:txBody>
      </p:sp>
      <p:grpSp>
        <p:nvGrpSpPr>
          <p:cNvPr id="14" name="Group 13">
            <a:extLst>
              <a:ext uri="{FF2B5EF4-FFF2-40B4-BE49-F238E27FC236}">
                <a16:creationId xmlns:a16="http://schemas.microsoft.com/office/drawing/2014/main" id="{1B899FBE-5A97-1537-F56D-0EEABBD380C6}"/>
              </a:ext>
            </a:extLst>
          </p:cNvPr>
          <p:cNvGrpSpPr/>
          <p:nvPr/>
        </p:nvGrpSpPr>
        <p:grpSpPr>
          <a:xfrm>
            <a:off x="3816117" y="5186042"/>
            <a:ext cx="1490010" cy="730450"/>
            <a:chOff x="3981121" y="3529122"/>
            <a:chExt cx="1490010" cy="730450"/>
          </a:xfrm>
        </p:grpSpPr>
        <p:pic>
          <p:nvPicPr>
            <p:cNvPr id="11" name="Graphic 10" descr="Web design with solid fill">
              <a:extLst>
                <a:ext uri="{FF2B5EF4-FFF2-40B4-BE49-F238E27FC236}">
                  <a16:creationId xmlns:a16="http://schemas.microsoft.com/office/drawing/2014/main" id="{7112DA1B-CE43-A880-3665-AE5BACC7F3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40681" y="3529122"/>
              <a:ext cx="730450" cy="730450"/>
            </a:xfrm>
            <a:prstGeom prst="rect">
              <a:avLst/>
            </a:prstGeom>
          </p:spPr>
        </p:pic>
        <p:sp>
          <p:nvSpPr>
            <p:cNvPr id="12" name="Flowchart: Magnetic Disk 11">
              <a:extLst>
                <a:ext uri="{FF2B5EF4-FFF2-40B4-BE49-F238E27FC236}">
                  <a16:creationId xmlns:a16="http://schemas.microsoft.com/office/drawing/2014/main" id="{DE254100-443B-B95E-9F68-490391D76DFD}"/>
                </a:ext>
              </a:extLst>
            </p:cNvPr>
            <p:cNvSpPr/>
            <p:nvPr/>
          </p:nvSpPr>
          <p:spPr>
            <a:xfrm>
              <a:off x="3981121" y="3672483"/>
              <a:ext cx="715019" cy="455619"/>
            </a:xfrm>
            <a:prstGeom prst="flowChartMagneticDisk">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disk</a:t>
              </a:r>
              <a:endParaRPr lang="nl-NL" sz="1600" dirty="0"/>
            </a:p>
          </p:txBody>
        </p:sp>
      </p:grpSp>
      <p:pic>
        <p:nvPicPr>
          <p:cNvPr id="13" name="Graphic 12" descr="Web design with solid fill">
            <a:extLst>
              <a:ext uri="{FF2B5EF4-FFF2-40B4-BE49-F238E27FC236}">
                <a16:creationId xmlns:a16="http://schemas.microsoft.com/office/drawing/2014/main" id="{E3D8442F-B70F-8EAA-3A78-AD52F191CA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98465" y="3820746"/>
            <a:ext cx="730450" cy="730450"/>
          </a:xfrm>
          <a:prstGeom prst="rect">
            <a:avLst/>
          </a:prstGeom>
        </p:spPr>
      </p:pic>
      <p:grpSp>
        <p:nvGrpSpPr>
          <p:cNvPr id="15" name="Group 14">
            <a:extLst>
              <a:ext uri="{FF2B5EF4-FFF2-40B4-BE49-F238E27FC236}">
                <a16:creationId xmlns:a16="http://schemas.microsoft.com/office/drawing/2014/main" id="{5CD20E6C-64E1-2D14-2289-D1257799D977}"/>
              </a:ext>
            </a:extLst>
          </p:cNvPr>
          <p:cNvGrpSpPr/>
          <p:nvPr/>
        </p:nvGrpSpPr>
        <p:grpSpPr>
          <a:xfrm>
            <a:off x="6118677" y="5145878"/>
            <a:ext cx="1490010" cy="730450"/>
            <a:chOff x="3981121" y="3529122"/>
            <a:chExt cx="1490010" cy="730450"/>
          </a:xfrm>
        </p:grpSpPr>
        <p:pic>
          <p:nvPicPr>
            <p:cNvPr id="16" name="Graphic 15" descr="Web design with solid fill">
              <a:extLst>
                <a:ext uri="{FF2B5EF4-FFF2-40B4-BE49-F238E27FC236}">
                  <a16:creationId xmlns:a16="http://schemas.microsoft.com/office/drawing/2014/main" id="{335C3B30-4543-4759-CFA4-FB6970C7F4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40681" y="3529122"/>
              <a:ext cx="730450" cy="730450"/>
            </a:xfrm>
            <a:prstGeom prst="rect">
              <a:avLst/>
            </a:prstGeom>
          </p:spPr>
        </p:pic>
        <p:sp>
          <p:nvSpPr>
            <p:cNvPr id="17" name="Flowchart: Magnetic Disk 16">
              <a:extLst>
                <a:ext uri="{FF2B5EF4-FFF2-40B4-BE49-F238E27FC236}">
                  <a16:creationId xmlns:a16="http://schemas.microsoft.com/office/drawing/2014/main" id="{94BE695D-A071-59E9-27D0-2D930DD961E4}"/>
                </a:ext>
              </a:extLst>
            </p:cNvPr>
            <p:cNvSpPr/>
            <p:nvPr/>
          </p:nvSpPr>
          <p:spPr>
            <a:xfrm>
              <a:off x="3981121" y="3672483"/>
              <a:ext cx="715019" cy="455619"/>
            </a:xfrm>
            <a:prstGeom prst="flowChartMagneticDisk">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disk</a:t>
              </a:r>
              <a:endParaRPr lang="nl-NL" sz="1600" dirty="0"/>
            </a:p>
          </p:txBody>
        </p:sp>
      </p:grpSp>
      <p:cxnSp>
        <p:nvCxnSpPr>
          <p:cNvPr id="19" name="Straight Arrow Connector 18">
            <a:extLst>
              <a:ext uri="{FF2B5EF4-FFF2-40B4-BE49-F238E27FC236}">
                <a16:creationId xmlns:a16="http://schemas.microsoft.com/office/drawing/2014/main" id="{F7C3B1C2-56FE-015C-6316-D611866B8003}"/>
              </a:ext>
            </a:extLst>
          </p:cNvPr>
          <p:cNvCxnSpPr>
            <a:cxnSpLocks/>
            <a:endCxn id="29" idx="0"/>
          </p:cNvCxnSpPr>
          <p:nvPr/>
        </p:nvCxnSpPr>
        <p:spPr>
          <a:xfrm flipH="1">
            <a:off x="1839877" y="2029898"/>
            <a:ext cx="1699760" cy="696113"/>
          </a:xfrm>
          <a:prstGeom prst="straightConnector1">
            <a:avLst/>
          </a:prstGeom>
          <a:ln>
            <a:headEnd type="none" w="med" len="med"/>
            <a:tailEnd type="stealth" w="med" len="med"/>
          </a:ln>
        </p:spPr>
        <p:style>
          <a:lnRef idx="3">
            <a:schemeClr val="accent1"/>
          </a:lnRef>
          <a:fillRef idx="0">
            <a:schemeClr val="accent1"/>
          </a:fillRef>
          <a:effectRef idx="2">
            <a:schemeClr val="accent1"/>
          </a:effectRef>
          <a:fontRef idx="minor">
            <a:schemeClr val="tx1"/>
          </a:fontRef>
        </p:style>
      </p:cxnSp>
      <p:cxnSp>
        <p:nvCxnSpPr>
          <p:cNvPr id="20" name="Straight Arrow Connector 19">
            <a:extLst>
              <a:ext uri="{FF2B5EF4-FFF2-40B4-BE49-F238E27FC236}">
                <a16:creationId xmlns:a16="http://schemas.microsoft.com/office/drawing/2014/main" id="{EF2809C2-88C9-F279-6422-F37A0F37A460}"/>
              </a:ext>
            </a:extLst>
          </p:cNvPr>
          <p:cNvCxnSpPr>
            <a:cxnSpLocks/>
            <a:stCxn id="23" idx="4"/>
            <a:endCxn id="3" idx="1"/>
          </p:cNvCxnSpPr>
          <p:nvPr/>
        </p:nvCxnSpPr>
        <p:spPr>
          <a:xfrm>
            <a:off x="3816117" y="2017868"/>
            <a:ext cx="1883896" cy="859398"/>
          </a:xfrm>
          <a:prstGeom prst="straightConnector1">
            <a:avLst/>
          </a:prstGeom>
          <a:ln w="25400">
            <a:headEnd type="none" w="med" len="med"/>
            <a:tailEnd type="stealth" w="med" len="med"/>
          </a:ln>
        </p:spPr>
        <p:style>
          <a:lnRef idx="2">
            <a:schemeClr val="accent1"/>
          </a:lnRef>
          <a:fillRef idx="0">
            <a:schemeClr val="accent1"/>
          </a:fillRef>
          <a:effectRef idx="1">
            <a:schemeClr val="accent1"/>
          </a:effectRef>
          <a:fontRef idx="minor">
            <a:schemeClr val="tx1"/>
          </a:fontRef>
        </p:style>
      </p:cxnSp>
      <p:sp>
        <p:nvSpPr>
          <p:cNvPr id="23" name="Flowchart: Magnetic Disk 22">
            <a:extLst>
              <a:ext uri="{FF2B5EF4-FFF2-40B4-BE49-F238E27FC236}">
                <a16:creationId xmlns:a16="http://schemas.microsoft.com/office/drawing/2014/main" id="{8179A676-1461-20D0-76FB-80D850C2B956}"/>
              </a:ext>
            </a:extLst>
          </p:cNvPr>
          <p:cNvSpPr/>
          <p:nvPr/>
        </p:nvSpPr>
        <p:spPr>
          <a:xfrm>
            <a:off x="3526972" y="1931928"/>
            <a:ext cx="289145" cy="171879"/>
          </a:xfrm>
          <a:prstGeom prst="flowChartMagneticDisk">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nl-NL"/>
          </a:p>
        </p:txBody>
      </p:sp>
      <p:cxnSp>
        <p:nvCxnSpPr>
          <p:cNvPr id="24" name="Straight Arrow Connector 23">
            <a:extLst>
              <a:ext uri="{FF2B5EF4-FFF2-40B4-BE49-F238E27FC236}">
                <a16:creationId xmlns:a16="http://schemas.microsoft.com/office/drawing/2014/main" id="{9FC8AF25-1EB7-B1A8-8A29-DC17603F3013}"/>
              </a:ext>
            </a:extLst>
          </p:cNvPr>
          <p:cNvCxnSpPr>
            <a:cxnSpLocks/>
            <a:endCxn id="31" idx="0"/>
          </p:cNvCxnSpPr>
          <p:nvPr/>
        </p:nvCxnSpPr>
        <p:spPr>
          <a:xfrm>
            <a:off x="5774770" y="3406656"/>
            <a:ext cx="1204339" cy="885903"/>
          </a:xfrm>
          <a:prstGeom prst="straightConnector1">
            <a:avLst/>
          </a:prstGeom>
          <a:ln w="25400">
            <a:headEnd type="none" w="med" len="med"/>
            <a:tailEnd type="stealth" w="med" len="med"/>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BFA88BA9-6E92-70B0-6D52-AB34A640EEDC}"/>
              </a:ext>
            </a:extLst>
          </p:cNvPr>
          <p:cNvCxnSpPr>
            <a:cxnSpLocks/>
            <a:stCxn id="3" idx="3"/>
            <a:endCxn id="30" idx="0"/>
          </p:cNvCxnSpPr>
          <p:nvPr/>
        </p:nvCxnSpPr>
        <p:spPr>
          <a:xfrm flipH="1">
            <a:off x="4556999" y="3406656"/>
            <a:ext cx="1143014" cy="895521"/>
          </a:xfrm>
          <a:prstGeom prst="straightConnector1">
            <a:avLst/>
          </a:prstGeom>
          <a:ln w="25400">
            <a:headEnd type="none" w="med" len="med"/>
            <a:tailEnd type="stealth" w="med" len="med"/>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EF11DD23-4EB9-1360-B6C8-527539B591F3}"/>
              </a:ext>
            </a:extLst>
          </p:cNvPr>
          <p:cNvSpPr txBox="1"/>
          <p:nvPr/>
        </p:nvSpPr>
        <p:spPr>
          <a:xfrm>
            <a:off x="8333797" y="1644888"/>
            <a:ext cx="3719476" cy="4801314"/>
          </a:xfrm>
          <a:prstGeom prst="rect">
            <a:avLst/>
          </a:prstGeom>
          <a:noFill/>
        </p:spPr>
        <p:txBody>
          <a:bodyPr wrap="square" rtlCol="0">
            <a:spAutoFit/>
          </a:bodyPr>
          <a:lstStyle/>
          <a:p>
            <a:r>
              <a:rPr lang="en-GB" dirty="0"/>
              <a:t>Location on local servers</a:t>
            </a:r>
          </a:p>
          <a:p>
            <a:endParaRPr lang="en-GB" dirty="0"/>
          </a:p>
          <a:p>
            <a:r>
              <a:rPr lang="en-GB" dirty="0"/>
              <a:t>Master repository:</a:t>
            </a:r>
          </a:p>
          <a:p>
            <a:r>
              <a:rPr lang="en-GB" dirty="0"/>
              <a:t>Disk: E:\dropbox\nature</a:t>
            </a:r>
          </a:p>
          <a:p>
            <a:r>
              <a:rPr lang="en-GB" dirty="0"/>
              <a:t>URL: https:// .. /nature</a:t>
            </a:r>
          </a:p>
          <a:p>
            <a:endParaRPr lang="en-GB" dirty="0"/>
          </a:p>
          <a:p>
            <a:r>
              <a:rPr lang="en-GB" dirty="0"/>
              <a:t>Trips have their own hierarchy:</a:t>
            </a:r>
          </a:p>
          <a:p>
            <a:r>
              <a:rPr lang="en-GB" dirty="0"/>
              <a:t>Disk: E:\dropbox\trips\safaridb</a:t>
            </a:r>
          </a:p>
          <a:p>
            <a:r>
              <a:rPr lang="en-GB" dirty="0"/>
              <a:t>URL: https:// .. /trips/safari</a:t>
            </a:r>
          </a:p>
          <a:p>
            <a:endParaRPr lang="en-GB" dirty="0"/>
          </a:p>
          <a:p>
            <a:r>
              <a:rPr lang="en-GB" dirty="0"/>
              <a:t> </a:t>
            </a:r>
          </a:p>
          <a:p>
            <a:r>
              <a:rPr lang="en-GB" dirty="0"/>
              <a:t>Disk: E:\dropbox\trips\spain2024</a:t>
            </a:r>
          </a:p>
          <a:p>
            <a:r>
              <a:rPr lang="en-GB" dirty="0"/>
              <a:t>URL: https:// .. /trips/</a:t>
            </a:r>
            <a:r>
              <a:rPr lang="en-GB" dirty="0" err="1"/>
              <a:t>spain</a:t>
            </a:r>
            <a:endParaRPr lang="en-GB" dirty="0"/>
          </a:p>
          <a:p>
            <a:endParaRPr lang="en-GB" dirty="0"/>
          </a:p>
          <a:p>
            <a:r>
              <a:rPr lang="en-GB" dirty="0"/>
              <a:t>The last qualifier is free-format, it is used as unique ID</a:t>
            </a:r>
          </a:p>
          <a:p>
            <a:endParaRPr lang="nl-NL" dirty="0"/>
          </a:p>
        </p:txBody>
      </p:sp>
      <p:sp>
        <p:nvSpPr>
          <p:cNvPr id="43" name="Title 42">
            <a:extLst>
              <a:ext uri="{FF2B5EF4-FFF2-40B4-BE49-F238E27FC236}">
                <a16:creationId xmlns:a16="http://schemas.microsoft.com/office/drawing/2014/main" id="{4DB8E6EA-DA13-C12A-CDDE-F4660FC6B306}"/>
              </a:ext>
            </a:extLst>
          </p:cNvPr>
          <p:cNvSpPr>
            <a:spLocks noGrp="1"/>
          </p:cNvSpPr>
          <p:nvPr>
            <p:ph type="title"/>
          </p:nvPr>
        </p:nvSpPr>
        <p:spPr/>
        <p:txBody>
          <a:bodyPr/>
          <a:lstStyle/>
          <a:p>
            <a:r>
              <a:rPr lang="en-GB" dirty="0"/>
              <a:t>SpeciesViewer master and trip repository</a:t>
            </a:r>
            <a:endParaRPr lang="nl-NL" dirty="0"/>
          </a:p>
        </p:txBody>
      </p:sp>
    </p:spTree>
    <p:extLst>
      <p:ext uri="{BB962C8B-B14F-4D97-AF65-F5344CB8AC3E}">
        <p14:creationId xmlns:p14="http://schemas.microsoft.com/office/powerpoint/2010/main" val="212395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B9BE1-DEE4-39B9-65A2-1E90E4C906A3}"/>
              </a:ext>
            </a:extLst>
          </p:cNvPr>
          <p:cNvSpPr>
            <a:spLocks noGrp="1"/>
          </p:cNvSpPr>
          <p:nvPr>
            <p:ph type="title"/>
          </p:nvPr>
        </p:nvSpPr>
        <p:spPr>
          <a:xfrm>
            <a:off x="322562" y="365125"/>
            <a:ext cx="5631352" cy="1325563"/>
          </a:xfrm>
        </p:spPr>
        <p:txBody>
          <a:bodyPr/>
          <a:lstStyle/>
          <a:p>
            <a:r>
              <a:rPr lang="en-GB" dirty="0"/>
              <a:t>Repository </a:t>
            </a:r>
            <a:br>
              <a:rPr lang="en-GB" dirty="0"/>
            </a:br>
            <a:r>
              <a:rPr lang="en-GB" sz="3200" dirty="0"/>
              <a:t>(master or trip)</a:t>
            </a:r>
            <a:endParaRPr lang="nl-NL" sz="3200" dirty="0"/>
          </a:p>
        </p:txBody>
      </p:sp>
      <p:grpSp>
        <p:nvGrpSpPr>
          <p:cNvPr id="10" name="Group 9">
            <a:extLst>
              <a:ext uri="{FF2B5EF4-FFF2-40B4-BE49-F238E27FC236}">
                <a16:creationId xmlns:a16="http://schemas.microsoft.com/office/drawing/2014/main" id="{18E648EC-493E-F2B5-03F3-6551B1D79F0B}"/>
              </a:ext>
            </a:extLst>
          </p:cNvPr>
          <p:cNvGrpSpPr/>
          <p:nvPr/>
        </p:nvGrpSpPr>
        <p:grpSpPr>
          <a:xfrm>
            <a:off x="322561" y="4660767"/>
            <a:ext cx="2138756" cy="1960037"/>
            <a:chOff x="645504" y="2671010"/>
            <a:chExt cx="2387217" cy="2138184"/>
          </a:xfrm>
        </p:grpSpPr>
        <p:sp>
          <p:nvSpPr>
            <p:cNvPr id="4" name="Rectangle: Rounded Corners 3">
              <a:extLst>
                <a:ext uri="{FF2B5EF4-FFF2-40B4-BE49-F238E27FC236}">
                  <a16:creationId xmlns:a16="http://schemas.microsoft.com/office/drawing/2014/main" id="{B49A9465-2275-5BFD-845E-C9F6EBE53132}"/>
                </a:ext>
              </a:extLst>
            </p:cNvPr>
            <p:cNvSpPr/>
            <p:nvPr/>
          </p:nvSpPr>
          <p:spPr>
            <a:xfrm>
              <a:off x="645504" y="2671010"/>
              <a:ext cx="2387217" cy="2138184"/>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nchorCtr="1"/>
            <a:lstStyle/>
            <a:p>
              <a:pPr algn="ctr"/>
              <a:r>
                <a:rPr lang="en-GB" dirty="0">
                  <a:solidFill>
                    <a:srgbClr val="FF0000"/>
                  </a:solidFill>
                </a:rPr>
                <a:t>repository</a:t>
              </a:r>
              <a:endParaRPr lang="nl-NL" dirty="0">
                <a:solidFill>
                  <a:srgbClr val="FF0000"/>
                </a:solidFill>
              </a:endParaRPr>
            </a:p>
          </p:txBody>
        </p:sp>
        <p:sp>
          <p:nvSpPr>
            <p:cNvPr id="5" name="Cylinder 4">
              <a:extLst>
                <a:ext uri="{FF2B5EF4-FFF2-40B4-BE49-F238E27FC236}">
                  <a16:creationId xmlns:a16="http://schemas.microsoft.com/office/drawing/2014/main" id="{5C155DCB-5165-902E-7B2D-FECA8897BF46}"/>
                </a:ext>
              </a:extLst>
            </p:cNvPr>
            <p:cNvSpPr/>
            <p:nvPr/>
          </p:nvSpPr>
          <p:spPr>
            <a:xfrm>
              <a:off x="1196283" y="2873828"/>
              <a:ext cx="1285660" cy="921275"/>
            </a:xfrm>
            <a:prstGeom prst="ca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Master</a:t>
              </a:r>
            </a:p>
            <a:p>
              <a:pPr algn="ctr"/>
              <a:r>
                <a:rPr lang="en-GB" dirty="0"/>
                <a:t>(nature)</a:t>
              </a:r>
              <a:endParaRPr lang="nl-NL" dirty="0"/>
            </a:p>
          </p:txBody>
        </p:sp>
        <p:sp>
          <p:nvSpPr>
            <p:cNvPr id="6" name="Flowchart: Magnetic Disk 5">
              <a:extLst>
                <a:ext uri="{FF2B5EF4-FFF2-40B4-BE49-F238E27FC236}">
                  <a16:creationId xmlns:a16="http://schemas.microsoft.com/office/drawing/2014/main" id="{BD12C619-1A83-247C-7114-3CAE1E8C5B65}"/>
                </a:ext>
              </a:extLst>
            </p:cNvPr>
            <p:cNvSpPr/>
            <p:nvPr/>
          </p:nvSpPr>
          <p:spPr>
            <a:xfrm>
              <a:off x="1050694" y="3958162"/>
              <a:ext cx="715019" cy="455619"/>
            </a:xfrm>
            <a:prstGeom prst="flowChartMagneticDisk">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disk</a:t>
              </a:r>
              <a:endParaRPr lang="nl-NL" dirty="0"/>
            </a:p>
          </p:txBody>
        </p:sp>
        <p:pic>
          <p:nvPicPr>
            <p:cNvPr id="7" name="Graphic 6" descr="Web design with solid fill">
              <a:extLst>
                <a:ext uri="{FF2B5EF4-FFF2-40B4-BE49-F238E27FC236}">
                  <a16:creationId xmlns:a16="http://schemas.microsoft.com/office/drawing/2014/main" id="{636E0360-5268-6ECF-F266-3AC29098A3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98465" y="3820746"/>
              <a:ext cx="730450" cy="730450"/>
            </a:xfrm>
            <a:prstGeom prst="rect">
              <a:avLst/>
            </a:prstGeom>
          </p:spPr>
        </p:pic>
      </p:grpSp>
      <p:graphicFrame>
        <p:nvGraphicFramePr>
          <p:cNvPr id="9" name="Diagram 8">
            <a:extLst>
              <a:ext uri="{FF2B5EF4-FFF2-40B4-BE49-F238E27FC236}">
                <a16:creationId xmlns:a16="http://schemas.microsoft.com/office/drawing/2014/main" id="{E2AAA250-2542-EAC9-0885-681B3D642296}"/>
              </a:ext>
            </a:extLst>
          </p:cNvPr>
          <p:cNvGraphicFramePr/>
          <p:nvPr>
            <p:extLst>
              <p:ext uri="{D42A27DB-BD31-4B8C-83A1-F6EECF244321}">
                <p14:modId xmlns:p14="http://schemas.microsoft.com/office/powerpoint/2010/main" val="3576874529"/>
              </p:ext>
            </p:extLst>
          </p:nvPr>
        </p:nvGraphicFramePr>
        <p:xfrm>
          <a:off x="6096000" y="628339"/>
          <a:ext cx="5843593" cy="586453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1" name="TextBox 10">
            <a:extLst>
              <a:ext uri="{FF2B5EF4-FFF2-40B4-BE49-F238E27FC236}">
                <a16:creationId xmlns:a16="http://schemas.microsoft.com/office/drawing/2014/main" id="{96154123-8AC0-7CF3-E82B-E4FFAE7186E0}"/>
              </a:ext>
            </a:extLst>
          </p:cNvPr>
          <p:cNvSpPr txBox="1"/>
          <p:nvPr/>
        </p:nvSpPr>
        <p:spPr>
          <a:xfrm>
            <a:off x="252407" y="1714194"/>
            <a:ext cx="5465774" cy="2862322"/>
          </a:xfrm>
          <a:prstGeom prst="rect">
            <a:avLst/>
          </a:prstGeom>
          <a:noFill/>
        </p:spPr>
        <p:txBody>
          <a:bodyPr wrap="square" rtlCol="0">
            <a:spAutoFit/>
          </a:bodyPr>
          <a:lstStyle/>
          <a:p>
            <a:pPr marL="285750" indent="-285750">
              <a:buFont typeface="Arial" panose="020B0604020202020204" pitchFamily="34" charset="0"/>
              <a:buChar char="•"/>
            </a:pPr>
            <a:r>
              <a:rPr lang="en-GB" b="1" dirty="0"/>
              <a:t>admin</a:t>
            </a:r>
            <a:r>
              <a:rPr lang="en-GB" dirty="0"/>
              <a:t> has a blog administration for the repository.  </a:t>
            </a:r>
          </a:p>
          <a:p>
            <a:pPr marL="285750" indent="-285750">
              <a:buFont typeface="Arial" panose="020B0604020202020204" pitchFamily="34" charset="0"/>
              <a:buChar char="•"/>
            </a:pPr>
            <a:r>
              <a:rPr lang="en-GB" b="1" dirty="0"/>
              <a:t>biota</a:t>
            </a:r>
            <a:r>
              <a:rPr lang="en-GB" dirty="0"/>
              <a:t>  contains all species pictures, hierarchical organized.  This a datastore, not aimed at publication</a:t>
            </a:r>
          </a:p>
          <a:p>
            <a:pPr marL="285750" indent="-285750">
              <a:buFont typeface="Arial" panose="020B0604020202020204" pitchFamily="34" charset="0"/>
              <a:buChar char="•"/>
            </a:pPr>
            <a:r>
              <a:rPr lang="en-GB" b="1" dirty="0"/>
              <a:t>metadata</a:t>
            </a:r>
            <a:r>
              <a:rPr lang="en-GB" dirty="0"/>
              <a:t> contains information all files and picture, as well as the species in our “cache” and what we actually have.</a:t>
            </a:r>
          </a:p>
          <a:p>
            <a:pPr marL="285750" indent="-285750">
              <a:buFont typeface="Arial" panose="020B0604020202020204" pitchFamily="34" charset="0"/>
              <a:buChar char="•"/>
            </a:pPr>
            <a:r>
              <a:rPr lang="en-GB" b="1" dirty="0"/>
              <a:t>Web</a:t>
            </a:r>
            <a:r>
              <a:rPr lang="en-GB" dirty="0"/>
              <a:t> contains a mirror of what is put on the website</a:t>
            </a:r>
          </a:p>
          <a:p>
            <a:endParaRPr lang="nl-NL" dirty="0"/>
          </a:p>
        </p:txBody>
      </p:sp>
    </p:spTree>
    <p:extLst>
      <p:ext uri="{BB962C8B-B14F-4D97-AF65-F5344CB8AC3E}">
        <p14:creationId xmlns:p14="http://schemas.microsoft.com/office/powerpoint/2010/main" val="551886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35820-4C3C-4179-EF5A-E18D90A002F2}"/>
              </a:ext>
            </a:extLst>
          </p:cNvPr>
          <p:cNvSpPr>
            <a:spLocks noGrp="1"/>
          </p:cNvSpPr>
          <p:nvPr>
            <p:ph type="title"/>
          </p:nvPr>
        </p:nvSpPr>
        <p:spPr/>
        <p:txBody>
          <a:bodyPr/>
          <a:lstStyle/>
          <a:p>
            <a:r>
              <a:rPr lang="en-GB" dirty="0"/>
              <a:t>Files</a:t>
            </a:r>
            <a:endParaRPr lang="nl-NL" dirty="0"/>
          </a:p>
        </p:txBody>
      </p:sp>
      <p:sp>
        <p:nvSpPr>
          <p:cNvPr id="3" name="Content Placeholder 2">
            <a:extLst>
              <a:ext uri="{FF2B5EF4-FFF2-40B4-BE49-F238E27FC236}">
                <a16:creationId xmlns:a16="http://schemas.microsoft.com/office/drawing/2014/main" id="{0F9E5FB8-77D9-FC39-1FB4-CAA51B0C2FD8}"/>
              </a:ext>
            </a:extLst>
          </p:cNvPr>
          <p:cNvSpPr>
            <a:spLocks noGrp="1"/>
          </p:cNvSpPr>
          <p:nvPr>
            <p:ph idx="1"/>
          </p:nvPr>
        </p:nvSpPr>
        <p:spPr>
          <a:xfrm>
            <a:off x="838200" y="1825625"/>
            <a:ext cx="10911496" cy="4351338"/>
          </a:xfrm>
        </p:spPr>
        <p:txBody>
          <a:bodyPr>
            <a:normAutofit fontScale="70000" lnSpcReduction="20000"/>
          </a:bodyPr>
          <a:lstStyle/>
          <a:p>
            <a:pPr marL="0" indent="0">
              <a:buNone/>
            </a:pPr>
            <a:r>
              <a:rPr lang="en-GB" dirty="0"/>
              <a:t>The design is based on the concept that metadata is also be retrieved from  files.   </a:t>
            </a:r>
          </a:p>
          <a:p>
            <a:r>
              <a:rPr lang="en-GB" dirty="0"/>
              <a:t>RAWs from the camera </a:t>
            </a:r>
            <a:endParaRPr lang="en-GB" sz="2400" dirty="0"/>
          </a:p>
          <a:p>
            <a:pPr lvl="1"/>
            <a:r>
              <a:rPr lang="en-GB" sz="2000" dirty="0"/>
              <a:t>NEF or NRW  from Nikon, HEIC from Apple or ORF or from Olympus</a:t>
            </a:r>
            <a:endParaRPr lang="en-GB" dirty="0"/>
          </a:p>
          <a:p>
            <a:r>
              <a:rPr lang="en-GB" dirty="0"/>
              <a:t>XMP or DOP files with metadata </a:t>
            </a:r>
            <a:r>
              <a:rPr lang="en-GB" sz="2400" dirty="0"/>
              <a:t>(from Lightroom </a:t>
            </a:r>
            <a:r>
              <a:rPr lang="en-GB" sz="2400" dirty="0" err="1"/>
              <a:t>resp</a:t>
            </a:r>
            <a:r>
              <a:rPr lang="en-GB" sz="2400" dirty="0"/>
              <a:t> DxO </a:t>
            </a:r>
            <a:r>
              <a:rPr lang="en-GB" sz="2400" dirty="0" err="1"/>
              <a:t>PhotoLab</a:t>
            </a:r>
            <a:r>
              <a:rPr lang="en-GB" sz="2400" dirty="0"/>
              <a:t>)</a:t>
            </a:r>
          </a:p>
          <a:p>
            <a:r>
              <a:rPr lang="en-GB" dirty="0"/>
              <a:t>JPGs from the camera/iPhone, or from post-processing software</a:t>
            </a:r>
          </a:p>
          <a:p>
            <a:pPr marL="0" indent="0">
              <a:buNone/>
            </a:pPr>
            <a:r>
              <a:rPr lang="en-GB" dirty="0"/>
              <a:t>The database store in a trip is typically organized by day:</a:t>
            </a:r>
          </a:p>
          <a:p>
            <a:r>
              <a:rPr lang="nl-NL" dirty="0"/>
              <a:t>The </a:t>
            </a:r>
            <a:r>
              <a:rPr lang="nl-NL" dirty="0" err="1"/>
              <a:t>properties</a:t>
            </a:r>
            <a:r>
              <a:rPr lang="nl-NL" dirty="0"/>
              <a:t> of </a:t>
            </a:r>
            <a:r>
              <a:rPr lang="nl-NL" dirty="0" err="1"/>
              <a:t>all</a:t>
            </a:r>
            <a:r>
              <a:rPr lang="nl-NL" dirty="0"/>
              <a:t> files are </a:t>
            </a:r>
            <a:r>
              <a:rPr lang="nl-NL" dirty="0" err="1"/>
              <a:t>scanned</a:t>
            </a:r>
            <a:r>
              <a:rPr lang="nl-NL" dirty="0"/>
              <a:t> </a:t>
            </a:r>
            <a:r>
              <a:rPr lang="nl-NL" dirty="0" err="1"/>
              <a:t>with</a:t>
            </a:r>
            <a:r>
              <a:rPr lang="nl-NL" dirty="0"/>
              <a:t> </a:t>
            </a:r>
            <a:r>
              <a:rPr lang="nl-NL" sz="2400" dirty="0" err="1">
                <a:latin typeface="Courier New" panose="02070309020205020404" pitchFamily="49" charset="0"/>
                <a:cs typeface="Courier New" panose="02070309020205020404" pitchFamily="49" charset="0"/>
              </a:rPr>
              <a:t>exiftool</a:t>
            </a:r>
            <a:r>
              <a:rPr lang="nl-NL" dirty="0"/>
              <a:t> </a:t>
            </a:r>
            <a:r>
              <a:rPr lang="nl-NL" dirty="0" err="1"/>
              <a:t>and</a:t>
            </a:r>
            <a:r>
              <a:rPr lang="nl-NL" dirty="0"/>
              <a:t> </a:t>
            </a:r>
            <a:r>
              <a:rPr lang="nl-NL" dirty="0" err="1"/>
              <a:t>saved</a:t>
            </a:r>
            <a:r>
              <a:rPr lang="nl-NL" dirty="0"/>
              <a:t> in </a:t>
            </a:r>
            <a:r>
              <a:rPr lang="nl-NL" sz="2400" dirty="0">
                <a:latin typeface="Courier New" panose="02070309020205020404" pitchFamily="49" charset="0"/>
                <a:cs typeface="Courier New" panose="02070309020205020404" pitchFamily="49" charset="0"/>
              </a:rPr>
              <a:t>data_files.csv</a:t>
            </a:r>
          </a:p>
          <a:p>
            <a:r>
              <a:rPr lang="nl-NL" dirty="0"/>
              <a:t>The concept of </a:t>
            </a:r>
            <a:r>
              <a:rPr lang="nl-NL" i="1" dirty="0"/>
              <a:t>picture</a:t>
            </a:r>
            <a:r>
              <a:rPr lang="nl-NL" dirty="0"/>
              <a:t> in SpeciesViewer is a set of files </a:t>
            </a:r>
            <a:r>
              <a:rPr lang="nl-NL" dirty="0" err="1"/>
              <a:t>that</a:t>
            </a:r>
            <a:r>
              <a:rPr lang="nl-NL" dirty="0"/>
              <a:t> are </a:t>
            </a:r>
            <a:r>
              <a:rPr lang="nl-NL" dirty="0" err="1"/>
              <a:t>all</a:t>
            </a:r>
            <a:r>
              <a:rPr lang="nl-NL" dirty="0"/>
              <a:t> </a:t>
            </a:r>
            <a:r>
              <a:rPr lang="nl-NL" dirty="0" err="1"/>
              <a:t>based</a:t>
            </a:r>
            <a:r>
              <a:rPr lang="nl-NL" dirty="0"/>
              <a:t> on a single camera click: </a:t>
            </a:r>
            <a:r>
              <a:rPr lang="nl-NL" sz="2400" dirty="0">
                <a:latin typeface="Courier New" panose="02070309020205020404" pitchFamily="49" charset="0"/>
                <a:cs typeface="Courier New" panose="02070309020205020404" pitchFamily="49" charset="0"/>
              </a:rPr>
              <a:t>data_pictures.csv</a:t>
            </a:r>
            <a:r>
              <a:rPr lang="nl-NL" sz="2800" dirty="0">
                <a:latin typeface="Courier New" panose="02070309020205020404" pitchFamily="49" charset="0"/>
                <a:cs typeface="Courier New" panose="02070309020205020404" pitchFamily="49" charset="0"/>
              </a:rPr>
              <a:t>.</a:t>
            </a:r>
            <a:r>
              <a:rPr lang="nl-NL" dirty="0"/>
              <a:t>  </a:t>
            </a:r>
            <a:r>
              <a:rPr lang="nl-NL" dirty="0" err="1"/>
              <a:t>Typically</a:t>
            </a:r>
            <a:r>
              <a:rPr lang="nl-NL" dirty="0"/>
              <a:t> </a:t>
            </a:r>
            <a:r>
              <a:rPr lang="nl-NL" dirty="0" err="1"/>
              <a:t>this</a:t>
            </a:r>
            <a:r>
              <a:rPr lang="nl-NL" dirty="0"/>
              <a:t> is at </a:t>
            </a:r>
            <a:r>
              <a:rPr lang="nl-NL" dirty="0" err="1"/>
              <a:t>least</a:t>
            </a:r>
            <a:r>
              <a:rPr lang="nl-NL" dirty="0"/>
              <a:t> a </a:t>
            </a:r>
            <a:r>
              <a:rPr lang="nl-NL" dirty="0" err="1"/>
              <a:t>Raw</a:t>
            </a:r>
            <a:r>
              <a:rPr lang="nl-NL" dirty="0"/>
              <a:t> </a:t>
            </a:r>
            <a:r>
              <a:rPr lang="nl-NL" dirty="0" err="1"/>
              <a:t>and</a:t>
            </a:r>
            <a:r>
              <a:rPr lang="nl-NL" dirty="0"/>
              <a:t> XMP file, </a:t>
            </a:r>
            <a:r>
              <a:rPr lang="nl-NL" dirty="0" err="1"/>
              <a:t>optionally</a:t>
            </a:r>
            <a:r>
              <a:rPr lang="nl-NL" dirty="0"/>
              <a:t> </a:t>
            </a:r>
            <a:r>
              <a:rPr lang="nl-NL" dirty="0" err="1"/>
              <a:t>with</a:t>
            </a:r>
            <a:r>
              <a:rPr lang="nl-NL" dirty="0"/>
              <a:t> </a:t>
            </a:r>
            <a:r>
              <a:rPr lang="nl-NL" dirty="0" err="1"/>
              <a:t>JPGs</a:t>
            </a:r>
            <a:r>
              <a:rPr lang="nl-NL" dirty="0"/>
              <a:t>, DOP </a:t>
            </a:r>
            <a:r>
              <a:rPr lang="nl-NL" dirty="0" err="1"/>
              <a:t>and</a:t>
            </a:r>
            <a:r>
              <a:rPr lang="nl-NL" dirty="0"/>
              <a:t>/or DNG (Adobe </a:t>
            </a:r>
            <a:r>
              <a:rPr lang="nl-NL" dirty="0" err="1"/>
              <a:t>version</a:t>
            </a:r>
            <a:r>
              <a:rPr lang="nl-NL" dirty="0"/>
              <a:t> of </a:t>
            </a:r>
            <a:r>
              <a:rPr lang="nl-NL" dirty="0" err="1"/>
              <a:t>RAWs</a:t>
            </a:r>
            <a:r>
              <a:rPr lang="nl-NL" dirty="0"/>
              <a:t>).</a:t>
            </a:r>
          </a:p>
          <a:p>
            <a:r>
              <a:rPr lang="nl-NL" sz="2400" dirty="0">
                <a:latin typeface="Courier New" panose="02070309020205020404" pitchFamily="49" charset="0"/>
                <a:cs typeface="Courier New" panose="02070309020205020404" pitchFamily="49" charset="0"/>
              </a:rPr>
              <a:t>species.csv </a:t>
            </a:r>
            <a:r>
              <a:rPr lang="nl-NL" dirty="0" err="1"/>
              <a:t>contains</a:t>
            </a:r>
            <a:r>
              <a:rPr lang="nl-NL" dirty="0"/>
              <a:t> </a:t>
            </a:r>
            <a:r>
              <a:rPr lang="nl-NL" dirty="0" err="1"/>
              <a:t>the</a:t>
            </a:r>
            <a:r>
              <a:rPr lang="nl-NL" dirty="0"/>
              <a:t> link </a:t>
            </a:r>
            <a:r>
              <a:rPr lang="nl-NL" dirty="0" err="1"/>
              <a:t>between</a:t>
            </a:r>
            <a:r>
              <a:rPr lang="nl-NL" dirty="0"/>
              <a:t> </a:t>
            </a:r>
            <a:r>
              <a:rPr lang="nl-NL" dirty="0" err="1"/>
              <a:t>the</a:t>
            </a:r>
            <a:r>
              <a:rPr lang="nl-NL" dirty="0"/>
              <a:t> species information </a:t>
            </a:r>
            <a:r>
              <a:rPr lang="nl-NL" dirty="0" err="1"/>
              <a:t>an</a:t>
            </a:r>
            <a:r>
              <a:rPr lang="nl-NL" dirty="0"/>
              <a:t> </a:t>
            </a:r>
            <a:r>
              <a:rPr lang="nl-NL" dirty="0" err="1"/>
              <a:t>the</a:t>
            </a:r>
            <a:r>
              <a:rPr lang="nl-NL" dirty="0"/>
              <a:t> pictures </a:t>
            </a:r>
            <a:r>
              <a:rPr lang="nl-NL" dirty="0" err="1"/>
              <a:t>and</a:t>
            </a:r>
            <a:r>
              <a:rPr lang="nl-NL" dirty="0"/>
              <a:t> files.</a:t>
            </a:r>
          </a:p>
          <a:p>
            <a:r>
              <a:rPr lang="nl-NL" sz="2400" dirty="0" err="1">
                <a:latin typeface="Courier New" panose="02070309020205020404" pitchFamily="49" charset="0"/>
                <a:cs typeface="Courier New" panose="02070309020205020404" pitchFamily="49" charset="0"/>
              </a:rPr>
              <a:t>stats</a:t>
            </a:r>
            <a:r>
              <a:rPr lang="nl-NL" sz="2400" dirty="0">
                <a:latin typeface="Courier New" panose="02070309020205020404" pitchFamily="49" charset="0"/>
                <a:cs typeface="Courier New" panose="02070309020205020404" pitchFamily="49" charset="0"/>
              </a:rPr>
              <a:t> report yyyy-mm-dd.csv </a:t>
            </a:r>
            <a:r>
              <a:rPr lang="nl-NL" dirty="0" err="1"/>
              <a:t>summarizes</a:t>
            </a:r>
            <a:r>
              <a:rPr lang="nl-NL" dirty="0"/>
              <a:t> </a:t>
            </a:r>
            <a:r>
              <a:rPr lang="nl-NL" dirty="0" err="1"/>
              <a:t>the</a:t>
            </a:r>
            <a:r>
              <a:rPr lang="nl-NL" dirty="0"/>
              <a:t> species found </a:t>
            </a:r>
            <a:r>
              <a:rPr lang="nl-NL" dirty="0" err="1"/>
              <a:t>along</a:t>
            </a:r>
            <a:r>
              <a:rPr lang="nl-NL" dirty="0"/>
              <a:t> </a:t>
            </a:r>
            <a:r>
              <a:rPr lang="nl-NL" dirty="0" err="1"/>
              <a:t>with</a:t>
            </a:r>
            <a:r>
              <a:rPr lang="nl-NL" dirty="0"/>
              <a:t> more </a:t>
            </a:r>
            <a:r>
              <a:rPr lang="nl-NL" dirty="0" err="1"/>
              <a:t>statistics</a:t>
            </a:r>
            <a:r>
              <a:rPr lang="nl-NL" dirty="0"/>
              <a:t> </a:t>
            </a:r>
            <a:r>
              <a:rPr lang="nl-NL" dirty="0" err="1"/>
              <a:t>abot</a:t>
            </a:r>
            <a:r>
              <a:rPr lang="nl-NL" dirty="0"/>
              <a:t> a directory is </a:t>
            </a:r>
            <a:r>
              <a:rPr lang="nl-NL" dirty="0" err="1"/>
              <a:t>scanned</a:t>
            </a:r>
            <a:r>
              <a:rPr lang="nl-NL" dirty="0"/>
              <a:t>.</a:t>
            </a:r>
          </a:p>
          <a:p>
            <a:r>
              <a:rPr lang="nl-NL" dirty="0"/>
              <a:t>Statemachine.ini is a file </a:t>
            </a:r>
            <a:r>
              <a:rPr lang="nl-NL" dirty="0" err="1"/>
              <a:t>to</a:t>
            </a:r>
            <a:r>
              <a:rPr lang="nl-NL" dirty="0"/>
              <a:t> </a:t>
            </a:r>
            <a:r>
              <a:rPr lang="nl-NL" dirty="0" err="1"/>
              <a:t>memorize</a:t>
            </a:r>
            <a:r>
              <a:rPr lang="nl-NL" dirty="0"/>
              <a:t> </a:t>
            </a:r>
            <a:r>
              <a:rPr lang="nl-NL" dirty="0" err="1"/>
              <a:t>which</a:t>
            </a:r>
            <a:r>
              <a:rPr lang="nl-NL" dirty="0"/>
              <a:t> processing steps have been run on </a:t>
            </a:r>
            <a:r>
              <a:rPr lang="nl-NL" dirty="0" err="1"/>
              <a:t>this</a:t>
            </a:r>
            <a:r>
              <a:rPr lang="nl-NL" dirty="0"/>
              <a:t> project.</a:t>
            </a:r>
          </a:p>
        </p:txBody>
      </p:sp>
    </p:spTree>
    <p:extLst>
      <p:ext uri="{BB962C8B-B14F-4D97-AF65-F5344CB8AC3E}">
        <p14:creationId xmlns:p14="http://schemas.microsoft.com/office/powerpoint/2010/main" val="2587007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35820-4C3C-4179-EF5A-E18D90A002F2}"/>
              </a:ext>
            </a:extLst>
          </p:cNvPr>
          <p:cNvSpPr>
            <a:spLocks noGrp="1"/>
          </p:cNvSpPr>
          <p:nvPr>
            <p:ph type="title"/>
          </p:nvPr>
        </p:nvSpPr>
        <p:spPr/>
        <p:txBody>
          <a:bodyPr/>
          <a:lstStyle/>
          <a:p>
            <a:r>
              <a:rPr lang="en-GB" dirty="0"/>
              <a:t>Configuration/descriptive files</a:t>
            </a:r>
            <a:endParaRPr lang="nl-NL" dirty="0"/>
          </a:p>
        </p:txBody>
      </p:sp>
      <p:sp>
        <p:nvSpPr>
          <p:cNvPr id="3" name="Content Placeholder 2">
            <a:extLst>
              <a:ext uri="{FF2B5EF4-FFF2-40B4-BE49-F238E27FC236}">
                <a16:creationId xmlns:a16="http://schemas.microsoft.com/office/drawing/2014/main" id="{0F9E5FB8-77D9-FC39-1FB4-CAA51B0C2FD8}"/>
              </a:ext>
            </a:extLst>
          </p:cNvPr>
          <p:cNvSpPr>
            <a:spLocks noGrp="1"/>
          </p:cNvSpPr>
          <p:nvPr>
            <p:ph idx="1"/>
          </p:nvPr>
        </p:nvSpPr>
        <p:spPr>
          <a:xfrm>
            <a:off x="838200" y="1825625"/>
            <a:ext cx="10911496" cy="4351338"/>
          </a:xfrm>
        </p:spPr>
        <p:txBody>
          <a:bodyPr>
            <a:normAutofit fontScale="92500" lnSpcReduction="20000"/>
          </a:bodyPr>
          <a:lstStyle/>
          <a:p>
            <a:pPr marL="0" indent="0">
              <a:buNone/>
            </a:pPr>
            <a:r>
              <a:rPr lang="en-GB" dirty="0"/>
              <a:t>SpeciesViewer adds some are .</a:t>
            </a:r>
            <a:r>
              <a:rPr lang="en-GB" dirty="0" err="1"/>
              <a:t>ini</a:t>
            </a:r>
            <a:r>
              <a:rPr lang="en-GB" dirty="0"/>
              <a:t> and .csv files in various places:</a:t>
            </a:r>
          </a:p>
          <a:p>
            <a:r>
              <a:rPr lang="en-GB" sz="2200" dirty="0">
                <a:latin typeface="Courier New" panose="02070309020205020404" pitchFamily="49" charset="0"/>
                <a:cs typeface="Courier New" panose="02070309020205020404" pitchFamily="49" charset="0"/>
              </a:rPr>
              <a:t>svconfig.ini </a:t>
            </a:r>
            <a:r>
              <a:rPr lang="en-GB" dirty="0"/>
              <a:t>(variable name) – a file to describe the active repository. </a:t>
            </a:r>
          </a:p>
          <a:p>
            <a:r>
              <a:rPr lang="en-GB" dirty="0"/>
              <a:t>Blog entries require some text and a title for every project, which is in </a:t>
            </a:r>
            <a:r>
              <a:rPr lang="en-GB" sz="2200" dirty="0">
                <a:latin typeface="Courier New" panose="02070309020205020404" pitchFamily="49" charset="0"/>
                <a:cs typeface="Courier New" panose="02070309020205020404" pitchFamily="49" charset="0"/>
              </a:rPr>
              <a:t>blog.ini</a:t>
            </a:r>
            <a:r>
              <a:rPr lang="en-GB" dirty="0"/>
              <a:t>.  It is stored with the JPGs and RAWs (outside the repository)</a:t>
            </a:r>
          </a:p>
          <a:p>
            <a:r>
              <a:rPr lang="en-GB" sz="2200" dirty="0">
                <a:latin typeface="Courier New" panose="02070309020205020404" pitchFamily="49" charset="0"/>
                <a:cs typeface="Courier New" panose="02070309020205020404" pitchFamily="49" charset="0"/>
              </a:rPr>
              <a:t>admin/blog_admin.csv </a:t>
            </a:r>
            <a:r>
              <a:rPr lang="en-GB" dirty="0"/>
              <a:t>– a property files that describes all blogs in a repository. </a:t>
            </a:r>
          </a:p>
          <a:p>
            <a:r>
              <a:rPr lang="en-GB" sz="2200" dirty="0">
                <a:latin typeface="Courier New" panose="02070309020205020404" pitchFamily="49" charset="0"/>
                <a:cs typeface="Courier New" panose="02070309020205020404" pitchFamily="49" charset="0"/>
              </a:rPr>
              <a:t>statemachine.ini </a:t>
            </a:r>
            <a:r>
              <a:rPr lang="en-GB" dirty="0"/>
              <a:t>keeps track of progress of the process steps. It is stored in a file like  </a:t>
            </a:r>
            <a:r>
              <a:rPr lang="en-GB" sz="2200" dirty="0">
                <a:latin typeface="Courier New" panose="02070309020205020404" pitchFamily="49" charset="0"/>
                <a:cs typeface="Courier New" panose="02070309020205020404" pitchFamily="49" charset="0"/>
              </a:rPr>
              <a:t>[name]/metadata/review/2024-06-26/statemachine.ini</a:t>
            </a:r>
            <a:r>
              <a:rPr lang="en-GB" dirty="0"/>
              <a:t>"</a:t>
            </a:r>
          </a:p>
          <a:p>
            <a:r>
              <a:rPr lang="en-GB" sz="2200" dirty="0">
                <a:latin typeface="Courier New" panose="02070309020205020404" pitchFamily="49" charset="0"/>
                <a:cs typeface="Courier New" panose="02070309020205020404" pitchFamily="49" charset="0"/>
              </a:rPr>
              <a:t>trip.ini </a:t>
            </a:r>
            <a:r>
              <a:rPr lang="en-GB" dirty="0"/>
              <a:t>– a property file that describes a trip repository, stored in the root of the trip (trips/[name]/trip.ini).  Use it to give the repository a name, to provide a description, show a picture and a banner.</a:t>
            </a:r>
          </a:p>
          <a:p>
            <a:r>
              <a:rPr lang="en-GB" sz="2200" dirty="0">
                <a:latin typeface="Courier New" panose="02070309020205020404" pitchFamily="49" charset="0"/>
                <a:cs typeface="Courier New" panose="02070309020205020404" pitchFamily="49" charset="0"/>
              </a:rPr>
              <a:t>trips/Trip.csv </a:t>
            </a:r>
            <a:r>
              <a:rPr lang="en-GB" dirty="0"/>
              <a:t>– like the blog_admin.csv all info from the trip.ini files.</a:t>
            </a:r>
          </a:p>
          <a:p>
            <a:endParaRPr lang="nl-NL" dirty="0"/>
          </a:p>
        </p:txBody>
      </p:sp>
    </p:spTree>
    <p:extLst>
      <p:ext uri="{BB962C8B-B14F-4D97-AF65-F5344CB8AC3E}">
        <p14:creationId xmlns:p14="http://schemas.microsoft.com/office/powerpoint/2010/main" val="188672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F62B7-7A91-80FB-89F0-03D54D934F05}"/>
              </a:ext>
            </a:extLst>
          </p:cNvPr>
          <p:cNvSpPr>
            <a:spLocks noGrp="1"/>
          </p:cNvSpPr>
          <p:nvPr>
            <p:ph type="title"/>
          </p:nvPr>
        </p:nvSpPr>
        <p:spPr/>
        <p:txBody>
          <a:bodyPr/>
          <a:lstStyle/>
          <a:p>
            <a:r>
              <a:rPr lang="en-GB" dirty="0"/>
              <a:t>Master and trip repositories (1)</a:t>
            </a:r>
            <a:endParaRPr lang="nl-NL" dirty="0"/>
          </a:p>
        </p:txBody>
      </p:sp>
      <p:sp>
        <p:nvSpPr>
          <p:cNvPr id="3" name="Content Placeholder 2">
            <a:extLst>
              <a:ext uri="{FF2B5EF4-FFF2-40B4-BE49-F238E27FC236}">
                <a16:creationId xmlns:a16="http://schemas.microsoft.com/office/drawing/2014/main" id="{128B6FCC-ECFE-2A32-4453-5A0052407081}"/>
              </a:ext>
            </a:extLst>
          </p:cNvPr>
          <p:cNvSpPr>
            <a:spLocks noGrp="1"/>
          </p:cNvSpPr>
          <p:nvPr>
            <p:ph idx="1"/>
          </p:nvPr>
        </p:nvSpPr>
        <p:spPr/>
        <p:txBody>
          <a:bodyPr>
            <a:normAutofit fontScale="92500" lnSpcReduction="20000"/>
          </a:bodyPr>
          <a:lstStyle/>
          <a:p>
            <a:pPr marL="0" indent="0">
              <a:buNone/>
            </a:pPr>
            <a:r>
              <a:rPr lang="en-GB" dirty="0"/>
              <a:t>The </a:t>
            </a:r>
            <a:r>
              <a:rPr lang="en-GB" sz="2800" dirty="0">
                <a:latin typeface="Courier New" panose="02070309020205020404" pitchFamily="49" charset="0"/>
                <a:cs typeface="Courier New" panose="02070309020205020404" pitchFamily="49" charset="0"/>
              </a:rPr>
              <a:t>svconfig.ini </a:t>
            </a:r>
            <a:r>
              <a:rPr lang="en-GB" dirty="0"/>
              <a:t>defines the following directories/paths:</a:t>
            </a:r>
          </a:p>
          <a:p>
            <a:pPr marL="0" indent="0">
              <a:buNone/>
            </a:pPr>
            <a:r>
              <a:rPr lang="nl-NL" sz="1800" b="0" dirty="0">
                <a:solidFill>
                  <a:srgbClr val="CCCCCC"/>
                </a:solidFill>
                <a:effectLst/>
                <a:latin typeface="Consolas" panose="020B0609020204030204" pitchFamily="49" charset="0"/>
              </a:rPr>
              <a:t>[</a:t>
            </a:r>
            <a:r>
              <a:rPr lang="nl-NL" sz="1800" b="0" dirty="0" err="1">
                <a:solidFill>
                  <a:srgbClr val="CCCCCC"/>
                </a:solidFill>
                <a:effectLst/>
                <a:latin typeface="Consolas" panose="020B0609020204030204" pitchFamily="49" charset="0"/>
              </a:rPr>
              <a:t>repository</a:t>
            </a:r>
            <a:r>
              <a:rPr lang="nl-NL" sz="1800" b="0" dirty="0">
                <a:solidFill>
                  <a:srgbClr val="CCCCCC"/>
                </a:solidFill>
                <a:effectLst/>
                <a:latin typeface="Consolas" panose="020B0609020204030204" pitchFamily="49" charset="0"/>
              </a:rPr>
              <a:t>]  </a:t>
            </a:r>
          </a:p>
          <a:p>
            <a:pPr marL="0" indent="0">
              <a:buNone/>
            </a:pPr>
            <a:r>
              <a:rPr lang="en-GB" sz="1800" b="0" dirty="0" err="1">
                <a:solidFill>
                  <a:srgbClr val="569CD6"/>
                </a:solidFill>
                <a:effectLst/>
                <a:latin typeface="Consolas" panose="020B0609020204030204" pitchFamily="49" charset="0"/>
              </a:rPr>
              <a:t>BiotaDatebase</a:t>
            </a:r>
            <a:r>
              <a:rPr lang="en-GB" sz="1800" b="0" dirty="0">
                <a:solidFill>
                  <a:srgbClr val="CCCCCC"/>
                </a:solidFill>
                <a:effectLst/>
                <a:latin typeface="Consolas" panose="020B0609020204030204" pitchFamily="49" charset="0"/>
              </a:rPr>
              <a:t>=c:/laptop/trips/safaridb/</a:t>
            </a:r>
          </a:p>
          <a:p>
            <a:pPr marL="0" indent="0">
              <a:buNone/>
            </a:pPr>
            <a:r>
              <a:rPr lang="en-GB" sz="1800" b="0" dirty="0" err="1">
                <a:solidFill>
                  <a:srgbClr val="569CD6"/>
                </a:solidFill>
                <a:effectLst/>
                <a:latin typeface="Consolas" panose="020B0609020204030204" pitchFamily="49" charset="0"/>
              </a:rPr>
              <a:t>BiotaWebRoot</a:t>
            </a:r>
            <a:r>
              <a:rPr lang="en-GB" sz="1800" b="0" dirty="0">
                <a:solidFill>
                  <a:srgbClr val="CCCCCC"/>
                </a:solidFill>
                <a:effectLst/>
                <a:latin typeface="Consolas" panose="020B0609020204030204" pitchFamily="49" charset="0"/>
              </a:rPr>
              <a:t>=/trips/safari/</a:t>
            </a:r>
          </a:p>
          <a:p>
            <a:pPr marL="0" indent="0">
              <a:buNone/>
            </a:pPr>
            <a:r>
              <a:rPr lang="en-GB" sz="1800" b="0" dirty="0">
                <a:solidFill>
                  <a:srgbClr val="CCCCCC"/>
                </a:solidFill>
                <a:effectLst/>
                <a:latin typeface="Consolas" panose="020B0609020204030204" pitchFamily="49" charset="0"/>
              </a:rPr>
              <a:t>[project]</a:t>
            </a:r>
          </a:p>
          <a:p>
            <a:pPr marL="0" indent="0">
              <a:buNone/>
            </a:pPr>
            <a:r>
              <a:rPr lang="en-GB" sz="1800" b="0" dirty="0" err="1">
                <a:solidFill>
                  <a:srgbClr val="569CD6"/>
                </a:solidFill>
                <a:effectLst/>
                <a:latin typeface="Consolas" panose="020B0609020204030204" pitchFamily="49" charset="0"/>
              </a:rPr>
              <a:t>PictureDirectory</a:t>
            </a:r>
            <a:r>
              <a:rPr lang="en-GB" sz="1800" b="0" dirty="0">
                <a:solidFill>
                  <a:srgbClr val="CCCCCC"/>
                </a:solidFill>
                <a:effectLst/>
                <a:latin typeface="Consolas" panose="020B0609020204030204" pitchFamily="49" charset="0"/>
              </a:rPr>
              <a:t>=C:\CurrentPictures\2024\2024 Test </a:t>
            </a:r>
            <a:r>
              <a:rPr lang="en-GB" sz="1800" b="0" dirty="0" err="1">
                <a:solidFill>
                  <a:srgbClr val="CCCCCC"/>
                </a:solidFill>
                <a:effectLst/>
                <a:latin typeface="Consolas" panose="020B0609020204030204" pitchFamily="49" charset="0"/>
              </a:rPr>
              <a:t>Specviewer</a:t>
            </a:r>
            <a:r>
              <a:rPr lang="en-GB" sz="1800" b="0" dirty="0">
                <a:solidFill>
                  <a:srgbClr val="CCCCCC"/>
                </a:solidFill>
                <a:effectLst/>
                <a:latin typeface="Consolas" panose="020B0609020204030204" pitchFamily="49" charset="0"/>
              </a:rPr>
              <a:t>/2024-06-26</a:t>
            </a:r>
          </a:p>
          <a:p>
            <a:pPr marL="0" indent="0">
              <a:buNone/>
            </a:pPr>
            <a:r>
              <a:rPr lang="nl-NL" dirty="0"/>
              <a:t>The </a:t>
            </a:r>
            <a:r>
              <a:rPr lang="nl-NL" dirty="0" err="1"/>
              <a:t>same</a:t>
            </a:r>
            <a:r>
              <a:rPr lang="nl-NL" dirty="0"/>
              <a:t> parameters </a:t>
            </a:r>
            <a:r>
              <a:rPr lang="nl-NL" dirty="0" err="1"/>
              <a:t>work</a:t>
            </a:r>
            <a:r>
              <a:rPr lang="nl-NL" dirty="0"/>
              <a:t> </a:t>
            </a:r>
            <a:r>
              <a:rPr lang="nl-NL" dirty="0" err="1"/>
              <a:t>for</a:t>
            </a:r>
            <a:r>
              <a:rPr lang="nl-NL" dirty="0"/>
              <a:t> </a:t>
            </a:r>
            <a:r>
              <a:rPr lang="nl-NL" dirty="0" err="1"/>
              <a:t>the</a:t>
            </a:r>
            <a:r>
              <a:rPr lang="nl-NL" dirty="0"/>
              <a:t> master </a:t>
            </a:r>
            <a:r>
              <a:rPr lang="nl-NL" dirty="0" err="1"/>
              <a:t>and</a:t>
            </a:r>
            <a:r>
              <a:rPr lang="nl-NL" dirty="0"/>
              <a:t> trips, but do </a:t>
            </a:r>
            <a:r>
              <a:rPr lang="nl-NL" dirty="0" err="1"/>
              <a:t>not</a:t>
            </a:r>
            <a:r>
              <a:rPr lang="nl-NL" dirty="0"/>
              <a:t> </a:t>
            </a:r>
            <a:r>
              <a:rPr lang="nl-NL" dirty="0" err="1"/>
              <a:t>allow</a:t>
            </a:r>
            <a:r>
              <a:rPr lang="nl-NL" dirty="0"/>
              <a:t> </a:t>
            </a:r>
            <a:r>
              <a:rPr lang="nl-NL" dirty="0" err="1"/>
              <a:t>for</a:t>
            </a:r>
            <a:r>
              <a:rPr lang="nl-NL" dirty="0"/>
              <a:t> more </a:t>
            </a:r>
            <a:r>
              <a:rPr lang="nl-NL" dirty="0" err="1"/>
              <a:t>customization</a:t>
            </a:r>
            <a:r>
              <a:rPr lang="nl-NL" dirty="0"/>
              <a:t> </a:t>
            </a:r>
            <a:r>
              <a:rPr lang="nl-NL" dirty="0" err="1"/>
              <a:t>for</a:t>
            </a:r>
            <a:r>
              <a:rPr lang="nl-NL" dirty="0"/>
              <a:t> trips, or </a:t>
            </a:r>
            <a:r>
              <a:rPr lang="nl-NL" dirty="0" err="1"/>
              <a:t>for</a:t>
            </a:r>
            <a:r>
              <a:rPr lang="nl-NL" dirty="0"/>
              <a:t> trips </a:t>
            </a:r>
            <a:r>
              <a:rPr lang="nl-NL" dirty="0" err="1"/>
              <a:t>to</a:t>
            </a:r>
            <a:r>
              <a:rPr lang="nl-NL" dirty="0"/>
              <a:t> </a:t>
            </a:r>
            <a:r>
              <a:rPr lang="nl-NL" dirty="0" err="1"/>
              <a:t>reference</a:t>
            </a:r>
            <a:r>
              <a:rPr lang="nl-NL" dirty="0"/>
              <a:t> </a:t>
            </a:r>
            <a:r>
              <a:rPr lang="nl-NL" dirty="0" err="1"/>
              <a:t>existing</a:t>
            </a:r>
            <a:r>
              <a:rPr lang="nl-NL" dirty="0"/>
              <a:t> species.  </a:t>
            </a:r>
            <a:r>
              <a:rPr lang="nl-NL" dirty="0" err="1"/>
              <a:t>This</a:t>
            </a:r>
            <a:r>
              <a:rPr lang="nl-NL" dirty="0"/>
              <a:t> </a:t>
            </a:r>
            <a:r>
              <a:rPr lang="nl-NL" dirty="0" err="1"/>
              <a:t>done</a:t>
            </a:r>
            <a:r>
              <a:rPr lang="nl-NL" dirty="0"/>
              <a:t> </a:t>
            </a:r>
            <a:r>
              <a:rPr lang="nl-NL" dirty="0" err="1"/>
              <a:t>with</a:t>
            </a:r>
            <a:endParaRPr lang="nl-NL" dirty="0"/>
          </a:p>
          <a:p>
            <a:pPr marL="0" indent="0">
              <a:buNone/>
            </a:pPr>
            <a:r>
              <a:rPr lang="en-GB" sz="1800" dirty="0" err="1">
                <a:solidFill>
                  <a:srgbClr val="569CD6"/>
                </a:solidFill>
                <a:latin typeface="Consolas" panose="020B0609020204030204" pitchFamily="49" charset="0"/>
              </a:rPr>
              <a:t>BiotaMasterDatabase</a:t>
            </a:r>
            <a:r>
              <a:rPr lang="en-GB" sz="1800" dirty="0">
                <a:solidFill>
                  <a:srgbClr val="569CD6"/>
                </a:solidFill>
                <a:latin typeface="Consolas" panose="020B0609020204030204" pitchFamily="49" charset="0"/>
              </a:rPr>
              <a:t>=</a:t>
            </a:r>
            <a:r>
              <a:rPr lang="en-GB" sz="1800" b="0" dirty="0">
                <a:solidFill>
                  <a:srgbClr val="CCCCCC"/>
                </a:solidFill>
                <a:effectLst/>
                <a:latin typeface="Consolas" panose="020B0609020204030204" pitchFamily="49" charset="0"/>
              </a:rPr>
              <a:t>c:/laptop/nature/</a:t>
            </a:r>
          </a:p>
          <a:p>
            <a:pPr marL="0" indent="0">
              <a:buNone/>
            </a:pPr>
            <a:r>
              <a:rPr lang="nl-NL" dirty="0" err="1"/>
              <a:t>Based</a:t>
            </a:r>
            <a:r>
              <a:rPr lang="nl-NL" dirty="0"/>
              <a:t> on </a:t>
            </a:r>
            <a:r>
              <a:rPr lang="nl-NL" dirty="0" err="1"/>
              <a:t>this</a:t>
            </a:r>
            <a:r>
              <a:rPr lang="nl-NL" dirty="0"/>
              <a:t> link, </a:t>
            </a:r>
            <a:r>
              <a:rPr lang="nl-NL" dirty="0" err="1"/>
              <a:t>the</a:t>
            </a:r>
            <a:r>
              <a:rPr lang="nl-NL" dirty="0"/>
              <a:t> master is </a:t>
            </a:r>
            <a:r>
              <a:rPr lang="nl-NL" dirty="0" err="1"/>
              <a:t>available</a:t>
            </a:r>
            <a:r>
              <a:rPr lang="nl-NL" dirty="0"/>
              <a:t> as well as (</a:t>
            </a:r>
            <a:r>
              <a:rPr lang="nl-NL" dirty="0" err="1"/>
              <a:t>implied</a:t>
            </a:r>
            <a:r>
              <a:rPr lang="nl-NL" dirty="0"/>
              <a:t>) </a:t>
            </a:r>
            <a:r>
              <a:rPr lang="nl-NL" dirty="0" err="1"/>
              <a:t>the</a:t>
            </a:r>
            <a:r>
              <a:rPr lang="nl-NL" dirty="0"/>
              <a:t> trips directory (</a:t>
            </a:r>
            <a:r>
              <a:rPr lang="nl-NL" dirty="0" err="1"/>
              <a:t>all</a:t>
            </a:r>
            <a:r>
              <a:rPr lang="nl-NL" dirty="0"/>
              <a:t> but last </a:t>
            </a:r>
            <a:r>
              <a:rPr lang="nl-NL" dirty="0" err="1"/>
              <a:t>qualifier</a:t>
            </a:r>
            <a:r>
              <a:rPr lang="nl-NL" dirty="0"/>
              <a:t> </a:t>
            </a:r>
            <a:r>
              <a:rPr lang="en-GB" sz="2200" b="0" dirty="0">
                <a:solidFill>
                  <a:srgbClr val="CCCCCC"/>
                </a:solidFill>
                <a:effectLst/>
                <a:latin typeface="Consolas" panose="020B0609020204030204" pitchFamily="49" charset="0"/>
              </a:rPr>
              <a:t>trips</a:t>
            </a:r>
            <a:r>
              <a:rPr lang="en-GB" sz="2800" b="0" dirty="0">
                <a:solidFill>
                  <a:srgbClr val="CCCCCC"/>
                </a:solidFill>
                <a:effectLst/>
                <a:latin typeface="Consolas" panose="020B0609020204030204" pitchFamily="49" charset="0"/>
              </a:rPr>
              <a:t>/ </a:t>
            </a:r>
            <a:r>
              <a:rPr lang="nl-NL" dirty="0" err="1"/>
              <a:t>from</a:t>
            </a:r>
            <a:r>
              <a:rPr lang="nl-NL" dirty="0"/>
              <a:t> </a:t>
            </a:r>
            <a:r>
              <a:rPr lang="nl-NL" dirty="0" err="1"/>
              <a:t>the</a:t>
            </a:r>
            <a:r>
              <a:rPr lang="nl-NL" dirty="0"/>
              <a:t> </a:t>
            </a:r>
            <a:r>
              <a:rPr lang="en-GB" sz="2200" dirty="0" err="1">
                <a:solidFill>
                  <a:srgbClr val="569CD6"/>
                </a:solidFill>
                <a:latin typeface="Consolas" panose="020B0609020204030204" pitchFamily="49" charset="0"/>
              </a:rPr>
              <a:t>BiotaWebRoot</a:t>
            </a:r>
            <a:r>
              <a:rPr lang="en-GB" dirty="0"/>
              <a:t>), and the current trip name (</a:t>
            </a:r>
            <a:r>
              <a:rPr lang="en-GB" sz="2200" b="0" dirty="0">
                <a:solidFill>
                  <a:srgbClr val="CCCCCC"/>
                </a:solidFill>
                <a:effectLst/>
                <a:latin typeface="Consolas" panose="020B0609020204030204" pitchFamily="49" charset="0"/>
              </a:rPr>
              <a:t>safari/</a:t>
            </a:r>
            <a:r>
              <a:rPr lang="en-GB" dirty="0"/>
              <a:t>)</a:t>
            </a:r>
            <a:endParaRPr lang="nl-NL" dirty="0"/>
          </a:p>
        </p:txBody>
      </p:sp>
    </p:spTree>
    <p:extLst>
      <p:ext uri="{BB962C8B-B14F-4D97-AF65-F5344CB8AC3E}">
        <p14:creationId xmlns:p14="http://schemas.microsoft.com/office/powerpoint/2010/main" val="3228332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BE9F3-3BAE-5347-B7FF-FD15C38936B4}"/>
              </a:ext>
            </a:extLst>
          </p:cNvPr>
          <p:cNvSpPr>
            <a:spLocks noGrp="1"/>
          </p:cNvSpPr>
          <p:nvPr>
            <p:ph type="title"/>
          </p:nvPr>
        </p:nvSpPr>
        <p:spPr/>
        <p:txBody>
          <a:bodyPr/>
          <a:lstStyle/>
          <a:p>
            <a:r>
              <a:rPr lang="en-GB" dirty="0"/>
              <a:t>Master and trip repositories (2)</a:t>
            </a:r>
            <a:endParaRPr lang="nl-NL" dirty="0"/>
          </a:p>
        </p:txBody>
      </p:sp>
      <p:sp>
        <p:nvSpPr>
          <p:cNvPr id="3" name="Content Placeholder 2">
            <a:extLst>
              <a:ext uri="{FF2B5EF4-FFF2-40B4-BE49-F238E27FC236}">
                <a16:creationId xmlns:a16="http://schemas.microsoft.com/office/drawing/2014/main" id="{EEA678FA-5EB5-40F6-3589-D0C49C4FB7F9}"/>
              </a:ext>
            </a:extLst>
          </p:cNvPr>
          <p:cNvSpPr>
            <a:spLocks noGrp="1"/>
          </p:cNvSpPr>
          <p:nvPr>
            <p:ph idx="1"/>
          </p:nvPr>
        </p:nvSpPr>
        <p:spPr/>
        <p:txBody>
          <a:bodyPr/>
          <a:lstStyle/>
          <a:p>
            <a:pPr marL="0" indent="0">
              <a:buNone/>
            </a:pPr>
            <a:r>
              <a:rPr lang="en-GB" dirty="0"/>
              <a:t>Most of the logic is in the </a:t>
            </a:r>
            <a:r>
              <a:rPr lang="en-GB" dirty="0" err="1"/>
              <a:t>MyProject</a:t>
            </a:r>
            <a:r>
              <a:rPr lang="en-GB" dirty="0"/>
              <a:t> initialization, that reads the active svconfig.ini.  </a:t>
            </a:r>
            <a:r>
              <a:rPr kumimoji="0" lang="en-GB" sz="2400" b="0"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BiotaDatebase</a:t>
            </a:r>
            <a:r>
              <a:rPr kumimoji="0" lang="en-GB" sz="28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a:t>
            </a:r>
            <a:r>
              <a:rPr lang="en-GB" dirty="0"/>
              <a:t>and</a:t>
            </a:r>
            <a:r>
              <a:rPr kumimoji="0" lang="en-GB" sz="28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a:t>
            </a:r>
            <a:r>
              <a:rPr kumimoji="0" lang="en-GB" sz="2400" b="0"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BiotaWebRoot</a:t>
            </a:r>
            <a:r>
              <a:rPr lang="en-GB" sz="2400" dirty="0">
                <a:solidFill>
                  <a:srgbClr val="569CD6"/>
                </a:solidFill>
                <a:latin typeface="Consolas" panose="020B0609020204030204" pitchFamily="49" charset="0"/>
              </a:rPr>
              <a:t> </a:t>
            </a:r>
            <a:r>
              <a:rPr lang="en-GB" dirty="0"/>
              <a:t>are given.</a:t>
            </a:r>
          </a:p>
          <a:p>
            <a:pPr marL="0" indent="0">
              <a:buNone/>
            </a:pPr>
            <a:r>
              <a:rPr lang="nl-NL" dirty="0" err="1"/>
              <a:t>When</a:t>
            </a:r>
            <a:r>
              <a:rPr lang="nl-NL" dirty="0"/>
              <a:t> </a:t>
            </a:r>
            <a:r>
              <a:rPr lang="nl-NL" dirty="0" err="1"/>
              <a:t>there</a:t>
            </a:r>
            <a:r>
              <a:rPr lang="nl-NL" dirty="0"/>
              <a:t> a </a:t>
            </a:r>
            <a:r>
              <a:rPr lang="en-GB" sz="2400" dirty="0" err="1">
                <a:solidFill>
                  <a:srgbClr val="569CD6"/>
                </a:solidFill>
                <a:latin typeface="Consolas" panose="020B0609020204030204" pitchFamily="49" charset="0"/>
              </a:rPr>
              <a:t>BiotaMasterDatabase</a:t>
            </a:r>
            <a:r>
              <a:rPr lang="en-GB" sz="2400" dirty="0">
                <a:solidFill>
                  <a:srgbClr val="569CD6"/>
                </a:solidFill>
                <a:latin typeface="Consolas" panose="020B0609020204030204" pitchFamily="49" charset="0"/>
              </a:rPr>
              <a:t> </a:t>
            </a:r>
            <a:r>
              <a:rPr lang="nl-NL" dirty="0" err="1"/>
              <a:t>specified</a:t>
            </a:r>
            <a:r>
              <a:rPr lang="nl-NL" dirty="0"/>
              <a:t>, </a:t>
            </a:r>
            <a:r>
              <a:rPr lang="nl-NL" dirty="0" err="1"/>
              <a:t>the</a:t>
            </a:r>
            <a:r>
              <a:rPr lang="nl-NL" dirty="0"/>
              <a:t> </a:t>
            </a:r>
            <a:r>
              <a:rPr lang="nl-NL" dirty="0" err="1"/>
              <a:t>following</a:t>
            </a:r>
            <a:r>
              <a:rPr lang="nl-NL" dirty="0"/>
              <a:t> </a:t>
            </a:r>
            <a:r>
              <a:rPr lang="nl-NL" dirty="0" err="1"/>
              <a:t>can</a:t>
            </a:r>
            <a:r>
              <a:rPr lang="nl-NL" dirty="0"/>
              <a:t> </a:t>
            </a:r>
            <a:r>
              <a:rPr lang="nl-NL" dirty="0" err="1"/>
              <a:t>be</a:t>
            </a:r>
            <a:r>
              <a:rPr lang="nl-NL" dirty="0"/>
              <a:t> </a:t>
            </a:r>
            <a:r>
              <a:rPr lang="nl-NL" dirty="0" err="1"/>
              <a:t>obtained</a:t>
            </a:r>
            <a:r>
              <a:rPr lang="nl-NL" dirty="0"/>
              <a:t>:</a:t>
            </a:r>
          </a:p>
          <a:p>
            <a:pPr marL="0" indent="0">
              <a:buNone/>
            </a:pPr>
            <a:r>
              <a:rPr lang="nl-NL" sz="2400" b="0" dirty="0" err="1">
                <a:solidFill>
                  <a:srgbClr val="569CD6"/>
                </a:solidFill>
                <a:effectLst/>
                <a:latin typeface="Consolas" panose="020B0609020204030204" pitchFamily="49" charset="0"/>
              </a:rPr>
              <a:t>ReferenceSpecies</a:t>
            </a:r>
            <a:r>
              <a:rPr lang="nl-NL" sz="2400" b="0" dirty="0">
                <a:solidFill>
                  <a:srgbClr val="569CD6"/>
                </a:solidFill>
                <a:effectLst/>
                <a:latin typeface="Consolas" panose="020B0609020204030204" pitchFamily="49" charset="0"/>
              </a:rPr>
              <a:t> </a:t>
            </a:r>
            <a:r>
              <a:rPr lang="nl-NL" sz="2400" b="0" dirty="0">
                <a:solidFill>
                  <a:srgbClr val="CCCCCC"/>
                </a:solidFill>
                <a:effectLst/>
                <a:latin typeface="Consolas" panose="020B0609020204030204" pitchFamily="49" charset="0"/>
              </a:rPr>
              <a:t>= </a:t>
            </a:r>
            <a:r>
              <a:rPr lang="nl-NL" sz="2400" b="0" dirty="0" err="1">
                <a:solidFill>
                  <a:srgbClr val="CCCCCC"/>
                </a:solidFill>
                <a:effectLst/>
                <a:latin typeface="Consolas" panose="020B0609020204030204" pitchFamily="49" charset="0"/>
              </a:rPr>
              <a:t>join</a:t>
            </a:r>
            <a:r>
              <a:rPr lang="nl-NL" sz="2400" b="0" dirty="0">
                <a:solidFill>
                  <a:srgbClr val="CCCCCC"/>
                </a:solidFill>
                <a:effectLst/>
                <a:latin typeface="Consolas" panose="020B0609020204030204" pitchFamily="49" charset="0"/>
              </a:rPr>
              <a:t>(</a:t>
            </a:r>
            <a:r>
              <a:rPr lang="en-GB" sz="2400" dirty="0" err="1">
                <a:solidFill>
                  <a:srgbClr val="569CD6"/>
                </a:solidFill>
                <a:latin typeface="Consolas" panose="020B0609020204030204" pitchFamily="49" charset="0"/>
              </a:rPr>
              <a:t>BiotaMasterDatabase</a:t>
            </a:r>
            <a:r>
              <a:rPr lang="en-GB" sz="2400" dirty="0">
                <a:solidFill>
                  <a:srgbClr val="569CD6"/>
                </a:solidFill>
                <a:latin typeface="Consolas" panose="020B0609020204030204" pitchFamily="49" charset="0"/>
              </a:rPr>
              <a:t>, </a:t>
            </a:r>
          </a:p>
          <a:p>
            <a:pPr marL="0" indent="0">
              <a:buNone/>
            </a:pPr>
            <a:r>
              <a:rPr lang="en-GB" sz="2400" dirty="0">
                <a:solidFill>
                  <a:srgbClr val="569CD6"/>
                </a:solidFill>
                <a:latin typeface="Consolas" panose="020B0609020204030204" pitchFamily="49" charset="0"/>
              </a:rPr>
              <a:t>                       </a:t>
            </a:r>
            <a:r>
              <a:rPr lang="pt-BR" sz="2400" dirty="0">
                <a:solidFill>
                  <a:srgbClr val="569CD6"/>
                </a:solidFill>
                <a:latin typeface="Consolas" panose="020B0609020204030204" pitchFamily="49" charset="0"/>
              </a:rPr>
              <a:t>metadata\active\species.csv</a:t>
            </a:r>
            <a:r>
              <a:rPr lang="pt-BR" sz="2400" dirty="0">
                <a:solidFill>
                  <a:srgbClr val="CCCCCC"/>
                </a:solidFill>
                <a:latin typeface="Consolas" panose="020B0609020204030204" pitchFamily="49" charset="0"/>
              </a:rPr>
              <a:t>)</a:t>
            </a:r>
          </a:p>
          <a:p>
            <a:pPr marL="0" indent="0">
              <a:buNone/>
            </a:pPr>
            <a:r>
              <a:rPr lang="nl-NL" sz="2400" dirty="0" err="1">
                <a:solidFill>
                  <a:srgbClr val="569CD6"/>
                </a:solidFill>
                <a:latin typeface="Consolas" panose="020B0609020204030204" pitchFamily="49" charset="0"/>
              </a:rPr>
              <a:t>RepositoryBanner</a:t>
            </a:r>
            <a:r>
              <a:rPr lang="nl-NL" sz="2400" dirty="0">
                <a:solidFill>
                  <a:srgbClr val="569CD6"/>
                </a:solidFill>
                <a:latin typeface="Consolas" panose="020B0609020204030204" pitchFamily="49" charset="0"/>
              </a:rPr>
              <a:t> = </a:t>
            </a:r>
            <a:r>
              <a:rPr lang="nl-NL" sz="2400" dirty="0" err="1">
                <a:solidFill>
                  <a:srgbClr val="569CD6"/>
                </a:solidFill>
                <a:latin typeface="Consolas" panose="020B0609020204030204" pitchFamily="49" charset="0"/>
              </a:rPr>
              <a:t>trip.ini:repositorybanner</a:t>
            </a:r>
            <a:endParaRPr lang="nl-NL" sz="2400" dirty="0">
              <a:solidFill>
                <a:srgbClr val="569CD6"/>
              </a:solidFill>
              <a:latin typeface="Consolas" panose="020B0609020204030204" pitchFamily="49" charset="0"/>
            </a:endParaRPr>
          </a:p>
          <a:p>
            <a:pPr marL="0" indent="0">
              <a:buNone/>
            </a:pPr>
            <a:endParaRPr lang="nl-NL" sz="2400" dirty="0">
              <a:solidFill>
                <a:srgbClr val="569CD6"/>
              </a:solidFill>
              <a:latin typeface="Consolas" panose="020B0609020204030204" pitchFamily="49" charset="0"/>
            </a:endParaRPr>
          </a:p>
          <a:p>
            <a:pPr marL="0" indent="0">
              <a:buNone/>
            </a:pPr>
            <a:endParaRPr lang="nl-NL" sz="2400" dirty="0">
              <a:solidFill>
                <a:srgbClr val="CCCCCC"/>
              </a:solidFill>
              <a:latin typeface="Consolas" panose="020B0609020204030204" pitchFamily="49" charset="0"/>
            </a:endParaRPr>
          </a:p>
          <a:p>
            <a:pPr marL="0" indent="0">
              <a:buNone/>
            </a:pPr>
            <a:endParaRPr lang="en-GB" dirty="0"/>
          </a:p>
          <a:p>
            <a:pPr marL="0" indent="0">
              <a:buNone/>
            </a:pPr>
            <a:endParaRPr lang="en-GB" dirty="0"/>
          </a:p>
        </p:txBody>
      </p:sp>
    </p:spTree>
    <p:extLst>
      <p:ext uri="{BB962C8B-B14F-4D97-AF65-F5344CB8AC3E}">
        <p14:creationId xmlns:p14="http://schemas.microsoft.com/office/powerpoint/2010/main" val="371199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395</TotalTime>
  <Words>1072</Words>
  <Application>Microsoft Office PowerPoint</Application>
  <PresentationFormat>Widescreen</PresentationFormat>
  <Paragraphs>108</Paragraphs>
  <Slides>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Consolas</vt:lpstr>
      <vt:lpstr>Courier New</vt:lpstr>
      <vt:lpstr>Office Theme</vt:lpstr>
      <vt:lpstr>SpeciesViewer</vt:lpstr>
      <vt:lpstr>SpeciesViewer master and trip repository</vt:lpstr>
      <vt:lpstr>Repository  (master or trip)</vt:lpstr>
      <vt:lpstr>Files</vt:lpstr>
      <vt:lpstr>Configuration/descriptive files</vt:lpstr>
      <vt:lpstr>Master and trip repositories (1)</vt:lpstr>
      <vt:lpstr>Master and trip repositories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Gilbert Houtekamer</dc:creator>
  <cp:lastModifiedBy>Gilbert Houtekamer</cp:lastModifiedBy>
  <cp:revision>6</cp:revision>
  <dcterms:created xsi:type="dcterms:W3CDTF">2024-09-24T13:38:33Z</dcterms:created>
  <dcterms:modified xsi:type="dcterms:W3CDTF">2024-09-24T20:14:21Z</dcterms:modified>
</cp:coreProperties>
</file>