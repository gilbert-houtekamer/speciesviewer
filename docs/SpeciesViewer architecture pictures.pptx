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5" r:id="rId10"/>
    <p:sldId id="269" r:id="rId11"/>
    <p:sldId id="266" r:id="rId12"/>
    <p:sldId id="268" r:id="rId13"/>
    <p:sldId id="267" r:id="rId14"/>
    <p:sldId id="270" r:id="rId15"/>
    <p:sldId id="271" r:id="rId16"/>
    <p:sldId id="272" r:id="rId17"/>
    <p:sldId id="264" r:id="rId18"/>
    <p:sldId id="276" r:id="rId19"/>
    <p:sldId id="275" r:id="rId20"/>
    <p:sldId id="273" r:id="rId21"/>
    <p:sldId id="274" r:id="rId22"/>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2" autoAdjust="0"/>
    <p:restoredTop sz="68993" autoAdjust="0"/>
  </p:normalViewPr>
  <p:slideViewPr>
    <p:cSldViewPr snapToGrid="0">
      <p:cViewPr varScale="1">
        <p:scale>
          <a:sx n="86" d="100"/>
          <a:sy n="86" d="100"/>
        </p:scale>
        <p:origin x="484" y="2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7A9209-D9A6-43AB-B174-02EABB6411DB}"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nl-NL"/>
        </a:p>
      </dgm:t>
    </dgm:pt>
    <dgm:pt modelId="{A5372E74-5EFF-47C8-B2C2-6865A33DF625}">
      <dgm:prSet phldrT="[Text]"/>
      <dgm:spPr/>
      <dgm:t>
        <a:bodyPr/>
        <a:lstStyle/>
        <a:p>
          <a:r>
            <a:rPr lang="en-GB" dirty="0"/>
            <a:t>admin/</a:t>
          </a:r>
          <a:endParaRPr lang="nl-NL" dirty="0"/>
        </a:p>
      </dgm:t>
    </dgm:pt>
    <dgm:pt modelId="{1A768FBF-710F-4678-BE1F-3B4067767FD7}" type="parTrans" cxnId="{8044BF87-A9EB-48C2-9DA9-B25F59E3D643}">
      <dgm:prSet/>
      <dgm:spPr/>
      <dgm:t>
        <a:bodyPr/>
        <a:lstStyle/>
        <a:p>
          <a:endParaRPr lang="nl-NL"/>
        </a:p>
      </dgm:t>
    </dgm:pt>
    <dgm:pt modelId="{29B6D07C-B164-453A-BD7A-29971260027D}" type="sibTrans" cxnId="{8044BF87-A9EB-48C2-9DA9-B25F59E3D643}">
      <dgm:prSet/>
      <dgm:spPr/>
      <dgm:t>
        <a:bodyPr/>
        <a:lstStyle/>
        <a:p>
          <a:endParaRPr lang="nl-NL"/>
        </a:p>
      </dgm:t>
    </dgm:pt>
    <dgm:pt modelId="{1041552F-E2EC-476A-AE45-8C971CD10161}">
      <dgm:prSet phldrT="[Text]"/>
      <dgm:spPr/>
      <dgm:t>
        <a:bodyPr/>
        <a:lstStyle/>
        <a:p>
          <a:r>
            <a:rPr lang="en-GB" dirty="0"/>
            <a:t>Blog_admin.csv</a:t>
          </a:r>
          <a:endParaRPr lang="nl-NL" dirty="0"/>
        </a:p>
      </dgm:t>
    </dgm:pt>
    <dgm:pt modelId="{A4DD2ECE-B9CE-4CD7-BB78-E8B4D48E6971}" type="parTrans" cxnId="{E210A7B7-B43F-4258-AF55-7A85C5E2E878}">
      <dgm:prSet/>
      <dgm:spPr/>
      <dgm:t>
        <a:bodyPr/>
        <a:lstStyle/>
        <a:p>
          <a:endParaRPr lang="nl-NL"/>
        </a:p>
      </dgm:t>
    </dgm:pt>
    <dgm:pt modelId="{F6C35599-7697-482C-959C-A842883796B1}" type="sibTrans" cxnId="{E210A7B7-B43F-4258-AF55-7A85C5E2E878}">
      <dgm:prSet/>
      <dgm:spPr/>
      <dgm:t>
        <a:bodyPr/>
        <a:lstStyle/>
        <a:p>
          <a:endParaRPr lang="nl-NL"/>
        </a:p>
      </dgm:t>
    </dgm:pt>
    <dgm:pt modelId="{9F927DDC-1F36-432A-9535-36D8D4A1AA5B}">
      <dgm:prSet phldrT="[Text]"/>
      <dgm:spPr/>
      <dgm:t>
        <a:bodyPr/>
        <a:lstStyle/>
        <a:p>
          <a:r>
            <a:rPr lang="en-GB" dirty="0"/>
            <a:t>biota/</a:t>
          </a:r>
          <a:endParaRPr lang="nl-NL" dirty="0"/>
        </a:p>
      </dgm:t>
    </dgm:pt>
    <dgm:pt modelId="{B2A69BEF-841B-426D-BDA3-BEC848679F7D}" type="parTrans" cxnId="{4FC0B417-9CD2-4BED-BBF5-1BA218B469F4}">
      <dgm:prSet/>
      <dgm:spPr/>
      <dgm:t>
        <a:bodyPr/>
        <a:lstStyle/>
        <a:p>
          <a:endParaRPr lang="nl-NL"/>
        </a:p>
      </dgm:t>
    </dgm:pt>
    <dgm:pt modelId="{DBD02912-3CC6-46F8-A6F7-3EF9926FAF1C}" type="sibTrans" cxnId="{4FC0B417-9CD2-4BED-BBF5-1BA218B469F4}">
      <dgm:prSet/>
      <dgm:spPr/>
      <dgm:t>
        <a:bodyPr/>
        <a:lstStyle/>
        <a:p>
          <a:endParaRPr lang="nl-NL"/>
        </a:p>
      </dgm:t>
    </dgm:pt>
    <dgm:pt modelId="{87F1C8D5-EDB2-431B-821D-F1420F1E7015}">
      <dgm:prSet phldrT="[Text]"/>
      <dgm:spPr/>
      <dgm:t>
        <a:bodyPr/>
        <a:lstStyle/>
        <a:p>
          <a:r>
            <a:rPr lang="en-GB" dirty="0"/>
            <a:t>animalia/</a:t>
          </a:r>
          <a:endParaRPr lang="nl-NL" dirty="0"/>
        </a:p>
      </dgm:t>
    </dgm:pt>
    <dgm:pt modelId="{96AA7FEC-622A-4366-ACEA-D7C1E447A9DA}" type="parTrans" cxnId="{BB82DC27-175A-4409-8127-F3AEC72005BF}">
      <dgm:prSet/>
      <dgm:spPr/>
      <dgm:t>
        <a:bodyPr/>
        <a:lstStyle/>
        <a:p>
          <a:endParaRPr lang="nl-NL"/>
        </a:p>
      </dgm:t>
    </dgm:pt>
    <dgm:pt modelId="{E944C9FF-86FF-46B6-9FAC-CFBB27884FD6}" type="sibTrans" cxnId="{BB82DC27-175A-4409-8127-F3AEC72005BF}">
      <dgm:prSet/>
      <dgm:spPr/>
      <dgm:t>
        <a:bodyPr/>
        <a:lstStyle/>
        <a:p>
          <a:endParaRPr lang="nl-NL"/>
        </a:p>
      </dgm:t>
    </dgm:pt>
    <dgm:pt modelId="{DC8F4357-9FE7-4A01-8DCF-437B26E268F3}">
      <dgm:prSet phldrT="[Text]"/>
      <dgm:spPr/>
      <dgm:t>
        <a:bodyPr/>
        <a:lstStyle/>
        <a:p>
          <a:r>
            <a:rPr lang="en-GB" dirty="0"/>
            <a:t>fungi/</a:t>
          </a:r>
          <a:endParaRPr lang="nl-NL" dirty="0"/>
        </a:p>
      </dgm:t>
    </dgm:pt>
    <dgm:pt modelId="{BDAC022D-6D10-4682-9F18-C536E9BC97F7}" type="parTrans" cxnId="{92C4CC0D-A6E4-4BAF-9EFC-1450EA46A73C}">
      <dgm:prSet/>
      <dgm:spPr/>
      <dgm:t>
        <a:bodyPr/>
        <a:lstStyle/>
        <a:p>
          <a:endParaRPr lang="nl-NL"/>
        </a:p>
      </dgm:t>
    </dgm:pt>
    <dgm:pt modelId="{14B9F48B-C6B9-4DD9-B5FB-3B49CE906330}" type="sibTrans" cxnId="{92C4CC0D-A6E4-4BAF-9EFC-1450EA46A73C}">
      <dgm:prSet/>
      <dgm:spPr/>
      <dgm:t>
        <a:bodyPr/>
        <a:lstStyle/>
        <a:p>
          <a:endParaRPr lang="nl-NL"/>
        </a:p>
      </dgm:t>
    </dgm:pt>
    <dgm:pt modelId="{255B9D59-E551-4DD1-9F52-82D196FDF77F}">
      <dgm:prSet phldrT="[Text]"/>
      <dgm:spPr/>
      <dgm:t>
        <a:bodyPr/>
        <a:lstStyle/>
        <a:p>
          <a:r>
            <a:rPr lang="en-GB" dirty="0"/>
            <a:t>metadata/</a:t>
          </a:r>
          <a:endParaRPr lang="nl-NL" dirty="0"/>
        </a:p>
      </dgm:t>
    </dgm:pt>
    <dgm:pt modelId="{1B864888-ADBB-4F1E-9BD7-0B414C9990BC}" type="parTrans" cxnId="{B3348F40-A390-4A13-8B1C-4E97E7CE92F9}">
      <dgm:prSet/>
      <dgm:spPr/>
      <dgm:t>
        <a:bodyPr/>
        <a:lstStyle/>
        <a:p>
          <a:endParaRPr lang="nl-NL"/>
        </a:p>
      </dgm:t>
    </dgm:pt>
    <dgm:pt modelId="{0AC43BCE-CB3B-4C4F-9C47-5E7621D830A9}" type="sibTrans" cxnId="{B3348F40-A390-4A13-8B1C-4E97E7CE92F9}">
      <dgm:prSet/>
      <dgm:spPr/>
      <dgm:t>
        <a:bodyPr/>
        <a:lstStyle/>
        <a:p>
          <a:endParaRPr lang="nl-NL"/>
        </a:p>
      </dgm:t>
    </dgm:pt>
    <dgm:pt modelId="{1F8D5134-1BE7-49B3-A469-F8EDC9964D69}">
      <dgm:prSet phldrT="[Text]"/>
      <dgm:spPr/>
      <dgm:t>
        <a:bodyPr/>
        <a:lstStyle/>
        <a:p>
          <a:r>
            <a:rPr lang="en-GB" dirty="0"/>
            <a:t>active/</a:t>
          </a:r>
          <a:endParaRPr lang="nl-NL" dirty="0"/>
        </a:p>
      </dgm:t>
    </dgm:pt>
    <dgm:pt modelId="{A690ADD2-245E-4A74-8406-5B4D1D6B1EE8}" type="parTrans" cxnId="{39C6540E-7D22-43DC-864C-EF827F926B61}">
      <dgm:prSet/>
      <dgm:spPr/>
      <dgm:t>
        <a:bodyPr/>
        <a:lstStyle/>
        <a:p>
          <a:endParaRPr lang="nl-NL"/>
        </a:p>
      </dgm:t>
    </dgm:pt>
    <dgm:pt modelId="{1AA6866E-297A-4F38-902E-5B150476552F}" type="sibTrans" cxnId="{39C6540E-7D22-43DC-864C-EF827F926B61}">
      <dgm:prSet/>
      <dgm:spPr/>
      <dgm:t>
        <a:bodyPr/>
        <a:lstStyle/>
        <a:p>
          <a:endParaRPr lang="nl-NL"/>
        </a:p>
      </dgm:t>
    </dgm:pt>
    <dgm:pt modelId="{9E973213-85B6-4C44-9170-EF6096AF3D30}">
      <dgm:prSet phldrT="[Text]"/>
      <dgm:spPr/>
      <dgm:t>
        <a:bodyPr/>
        <a:lstStyle/>
        <a:p>
          <a:r>
            <a:rPr lang="en-GB" dirty="0"/>
            <a:t>initialize/</a:t>
          </a:r>
          <a:endParaRPr lang="nl-NL" dirty="0"/>
        </a:p>
      </dgm:t>
    </dgm:pt>
    <dgm:pt modelId="{66C5001D-639E-4BA7-A3A6-90A79E8CFBFD}" type="parTrans" cxnId="{9BEDCA4D-3423-4B16-A4CC-F0F0FFE18993}">
      <dgm:prSet/>
      <dgm:spPr/>
      <dgm:t>
        <a:bodyPr/>
        <a:lstStyle/>
        <a:p>
          <a:endParaRPr lang="nl-NL"/>
        </a:p>
      </dgm:t>
    </dgm:pt>
    <dgm:pt modelId="{C1922DB9-DE44-4B75-89A5-3ACC806D2E6A}" type="sibTrans" cxnId="{9BEDCA4D-3423-4B16-A4CC-F0F0FFE18993}">
      <dgm:prSet/>
      <dgm:spPr/>
      <dgm:t>
        <a:bodyPr/>
        <a:lstStyle/>
        <a:p>
          <a:endParaRPr lang="nl-NL"/>
        </a:p>
      </dgm:t>
    </dgm:pt>
    <dgm:pt modelId="{7FD69366-8915-4465-BB04-203D2FBDFA71}">
      <dgm:prSet phldrT="[Text]"/>
      <dgm:spPr/>
      <dgm:t>
        <a:bodyPr/>
        <a:lstStyle/>
        <a:p>
          <a:r>
            <a:rPr lang="en-GB" dirty="0"/>
            <a:t>Web/</a:t>
          </a:r>
          <a:endParaRPr lang="nl-NL" dirty="0"/>
        </a:p>
      </dgm:t>
    </dgm:pt>
    <dgm:pt modelId="{245F7169-0E7E-4116-B90A-DABCF7BF828A}" type="parTrans" cxnId="{6E672EB9-68D1-416D-BADA-686B2E0AEC38}">
      <dgm:prSet/>
      <dgm:spPr/>
      <dgm:t>
        <a:bodyPr/>
        <a:lstStyle/>
        <a:p>
          <a:endParaRPr lang="nl-NL"/>
        </a:p>
      </dgm:t>
    </dgm:pt>
    <dgm:pt modelId="{82EEFB07-38C5-4262-9FB5-8E4FB9EB1A41}" type="sibTrans" cxnId="{6E672EB9-68D1-416D-BADA-686B2E0AEC38}">
      <dgm:prSet/>
      <dgm:spPr/>
      <dgm:t>
        <a:bodyPr/>
        <a:lstStyle/>
        <a:p>
          <a:endParaRPr lang="nl-NL"/>
        </a:p>
      </dgm:t>
    </dgm:pt>
    <dgm:pt modelId="{2BE1EAB9-F0EC-457B-9FE4-02460B141CEB}">
      <dgm:prSet phldrT="[Text]"/>
      <dgm:spPr/>
      <dgm:t>
        <a:bodyPr/>
        <a:lstStyle/>
        <a:p>
          <a:r>
            <a:rPr lang="en-GB" dirty="0"/>
            <a:t>biota/ -- what is shown hierarchical on the website</a:t>
          </a:r>
          <a:endParaRPr lang="nl-NL" dirty="0"/>
        </a:p>
      </dgm:t>
    </dgm:pt>
    <dgm:pt modelId="{1AE24FA2-86FA-4AA2-89C2-E340923C4026}" type="parTrans" cxnId="{055E7D30-5C0E-4D90-82CB-B9F9B322AEE8}">
      <dgm:prSet/>
      <dgm:spPr/>
      <dgm:t>
        <a:bodyPr/>
        <a:lstStyle/>
        <a:p>
          <a:endParaRPr lang="nl-NL"/>
        </a:p>
      </dgm:t>
    </dgm:pt>
    <dgm:pt modelId="{B012B1AC-FD8B-4669-AC15-DA86EA131363}" type="sibTrans" cxnId="{055E7D30-5C0E-4D90-82CB-B9F9B322AEE8}">
      <dgm:prSet/>
      <dgm:spPr/>
      <dgm:t>
        <a:bodyPr/>
        <a:lstStyle/>
        <a:p>
          <a:endParaRPr lang="nl-NL"/>
        </a:p>
      </dgm:t>
    </dgm:pt>
    <dgm:pt modelId="{A2700B0A-68B0-421F-B620-54D412076473}">
      <dgm:prSet phldrT="[Text]"/>
      <dgm:spPr/>
      <dgm:t>
        <a:bodyPr/>
        <a:lstStyle/>
        <a:p>
          <a:r>
            <a:rPr lang="en-GB" dirty="0" err="1"/>
            <a:t>biotablog</a:t>
          </a:r>
          <a:r>
            <a:rPr lang="en-GB" dirty="0"/>
            <a:t>/ – </a:t>
          </a:r>
          <a:r>
            <a:rPr lang="en-GB" dirty="0" err="1"/>
            <a:t>subdirecties</a:t>
          </a:r>
          <a:r>
            <a:rPr lang="en-GB" dirty="0"/>
            <a:t> every photo-blog</a:t>
          </a:r>
          <a:endParaRPr lang="nl-NL" dirty="0"/>
        </a:p>
      </dgm:t>
    </dgm:pt>
    <dgm:pt modelId="{3AE9816A-4257-4FB2-B47B-DCFDB263A573}" type="parTrans" cxnId="{3A5E2DA3-51F2-4396-AD7E-A8378B136429}">
      <dgm:prSet/>
      <dgm:spPr/>
      <dgm:t>
        <a:bodyPr/>
        <a:lstStyle/>
        <a:p>
          <a:endParaRPr lang="nl-NL"/>
        </a:p>
      </dgm:t>
    </dgm:pt>
    <dgm:pt modelId="{5159E4D8-29B4-42CB-AFCA-EA9391FA6FA1}" type="sibTrans" cxnId="{3A5E2DA3-51F2-4396-AD7E-A8378B136429}">
      <dgm:prSet/>
      <dgm:spPr/>
      <dgm:t>
        <a:bodyPr/>
        <a:lstStyle/>
        <a:p>
          <a:endParaRPr lang="nl-NL"/>
        </a:p>
      </dgm:t>
    </dgm:pt>
    <dgm:pt modelId="{2CD39A2D-FF85-422D-B51A-A3AA4FBA78A6}">
      <dgm:prSet phldrT="[Text]"/>
      <dgm:spPr/>
      <dgm:t>
        <a:bodyPr/>
        <a:lstStyle/>
        <a:p>
          <a:r>
            <a:rPr lang="en-GB" dirty="0"/>
            <a:t>includes web/ – pre-installed helper html etc</a:t>
          </a:r>
          <a:endParaRPr lang="nl-NL" dirty="0"/>
        </a:p>
      </dgm:t>
    </dgm:pt>
    <dgm:pt modelId="{F0109907-8639-4A19-BEB0-00369AA7DF9C}" type="parTrans" cxnId="{270AD81A-8D0B-401E-AC09-0AB5EF70E568}">
      <dgm:prSet/>
      <dgm:spPr/>
      <dgm:t>
        <a:bodyPr/>
        <a:lstStyle/>
        <a:p>
          <a:endParaRPr lang="nl-NL"/>
        </a:p>
      </dgm:t>
    </dgm:pt>
    <dgm:pt modelId="{25F55EE6-D8F6-4A34-8A9E-B6C3C6F31F47}" type="sibTrans" cxnId="{270AD81A-8D0B-401E-AC09-0AB5EF70E568}">
      <dgm:prSet/>
      <dgm:spPr/>
      <dgm:t>
        <a:bodyPr/>
        <a:lstStyle/>
        <a:p>
          <a:endParaRPr lang="nl-NL"/>
        </a:p>
      </dgm:t>
    </dgm:pt>
    <dgm:pt modelId="{A476CA14-8212-4CDE-852B-2048766B6482}">
      <dgm:prSet phldrT="[Text]"/>
      <dgm:spPr/>
      <dgm:t>
        <a:bodyPr/>
        <a:lstStyle/>
        <a:p>
          <a:r>
            <a:rPr lang="en-GB" dirty="0"/>
            <a:t>summaries/ – statistics on the biota information</a:t>
          </a:r>
          <a:endParaRPr lang="nl-NL" dirty="0"/>
        </a:p>
      </dgm:t>
    </dgm:pt>
    <dgm:pt modelId="{425E7B1B-B32F-4C17-BEBB-7577F59AE373}" type="parTrans" cxnId="{41530A52-20C0-431F-B0A2-F2D98B7CE0C8}">
      <dgm:prSet/>
      <dgm:spPr/>
      <dgm:t>
        <a:bodyPr/>
        <a:lstStyle/>
        <a:p>
          <a:endParaRPr lang="nl-NL"/>
        </a:p>
      </dgm:t>
    </dgm:pt>
    <dgm:pt modelId="{768FC3D8-29FB-4DD0-ACA9-6EAC0DC74BF2}" type="sibTrans" cxnId="{41530A52-20C0-431F-B0A2-F2D98B7CE0C8}">
      <dgm:prSet/>
      <dgm:spPr/>
      <dgm:t>
        <a:bodyPr/>
        <a:lstStyle/>
        <a:p>
          <a:endParaRPr lang="nl-NL"/>
        </a:p>
      </dgm:t>
    </dgm:pt>
    <dgm:pt modelId="{153947C7-55EF-49F4-8117-BBA272F31E9D}">
      <dgm:prSet phldrT="[Text]"/>
      <dgm:spPr/>
      <dgm:t>
        <a:bodyPr/>
        <a:lstStyle/>
        <a:p>
          <a:r>
            <a:rPr lang="en-GB" dirty="0"/>
            <a:t>plantae/</a:t>
          </a:r>
          <a:endParaRPr lang="nl-NL" dirty="0"/>
        </a:p>
      </dgm:t>
    </dgm:pt>
    <dgm:pt modelId="{021900B5-B5D2-432E-A752-812AABCC1AEA}" type="parTrans" cxnId="{180980C4-D907-4460-B631-59C986A7B5BA}">
      <dgm:prSet/>
      <dgm:spPr/>
      <dgm:t>
        <a:bodyPr/>
        <a:lstStyle/>
        <a:p>
          <a:endParaRPr lang="nl-NL"/>
        </a:p>
      </dgm:t>
    </dgm:pt>
    <dgm:pt modelId="{56D30F9A-239B-4375-90CD-62901401AC3F}" type="sibTrans" cxnId="{180980C4-D907-4460-B631-59C986A7B5BA}">
      <dgm:prSet/>
      <dgm:spPr/>
      <dgm:t>
        <a:bodyPr/>
        <a:lstStyle/>
        <a:p>
          <a:endParaRPr lang="nl-NL"/>
        </a:p>
      </dgm:t>
    </dgm:pt>
    <dgm:pt modelId="{06FCB30E-A92D-4E13-905F-5240137704EA}">
      <dgm:prSet phldrT="[Text]"/>
      <dgm:spPr/>
      <dgm:t>
        <a:bodyPr/>
        <a:lstStyle/>
        <a:p>
          <a:r>
            <a:rPr lang="en-GB" dirty="0"/>
            <a:t>review/ (with subdirectories, see later)</a:t>
          </a:r>
          <a:endParaRPr lang="nl-NL" dirty="0"/>
        </a:p>
      </dgm:t>
    </dgm:pt>
    <dgm:pt modelId="{CE75D309-3284-45C4-89C7-04AEFCA88CBB}" type="parTrans" cxnId="{A16565EC-C981-4CC5-B235-B37EF1897F7A}">
      <dgm:prSet/>
      <dgm:spPr/>
      <dgm:t>
        <a:bodyPr/>
        <a:lstStyle/>
        <a:p>
          <a:endParaRPr lang="nl-NL"/>
        </a:p>
      </dgm:t>
    </dgm:pt>
    <dgm:pt modelId="{5951AD67-F36B-47AB-AE47-15BD881E43CB}" type="sibTrans" cxnId="{A16565EC-C981-4CC5-B235-B37EF1897F7A}">
      <dgm:prSet/>
      <dgm:spPr/>
      <dgm:t>
        <a:bodyPr/>
        <a:lstStyle/>
        <a:p>
          <a:endParaRPr lang="nl-NL"/>
        </a:p>
      </dgm:t>
    </dgm:pt>
    <dgm:pt modelId="{BD8DCDCA-8C51-4EE0-8D9F-21059F275FCE}" type="pres">
      <dgm:prSet presAssocID="{017A9209-D9A6-43AB-B174-02EABB6411DB}" presName="Name0" presStyleCnt="0">
        <dgm:presLayoutVars>
          <dgm:dir/>
          <dgm:animLvl val="lvl"/>
          <dgm:resizeHandles val="exact"/>
        </dgm:presLayoutVars>
      </dgm:prSet>
      <dgm:spPr/>
    </dgm:pt>
    <dgm:pt modelId="{27E9699F-0C5B-4381-BE48-52FF86E933DD}" type="pres">
      <dgm:prSet presAssocID="{A5372E74-5EFF-47C8-B2C2-6865A33DF625}" presName="linNode" presStyleCnt="0"/>
      <dgm:spPr/>
    </dgm:pt>
    <dgm:pt modelId="{222F172A-B68A-4013-BC73-8760B97EB7B8}" type="pres">
      <dgm:prSet presAssocID="{A5372E74-5EFF-47C8-B2C2-6865A33DF625}" presName="parentText" presStyleLbl="node1" presStyleIdx="0" presStyleCnt="4" custLinFactNeighborX="-32279" custLinFactNeighborY="-59624">
        <dgm:presLayoutVars>
          <dgm:chMax val="1"/>
          <dgm:bulletEnabled val="1"/>
        </dgm:presLayoutVars>
      </dgm:prSet>
      <dgm:spPr/>
    </dgm:pt>
    <dgm:pt modelId="{F0EAF8A7-8289-45E6-A320-88AAC8CD679B}" type="pres">
      <dgm:prSet presAssocID="{A5372E74-5EFF-47C8-B2C2-6865A33DF625}" presName="descendantText" presStyleLbl="alignAccFollowNode1" presStyleIdx="0" presStyleCnt="4">
        <dgm:presLayoutVars>
          <dgm:bulletEnabled val="1"/>
        </dgm:presLayoutVars>
      </dgm:prSet>
      <dgm:spPr/>
    </dgm:pt>
    <dgm:pt modelId="{95256A72-07AA-4AB3-8ADF-4CAEBD53FF7C}" type="pres">
      <dgm:prSet presAssocID="{29B6D07C-B164-453A-BD7A-29971260027D}" presName="sp" presStyleCnt="0"/>
      <dgm:spPr/>
    </dgm:pt>
    <dgm:pt modelId="{3EF8E443-BA11-4829-927F-5503C94B7F67}" type="pres">
      <dgm:prSet presAssocID="{9F927DDC-1F36-432A-9535-36D8D4A1AA5B}" presName="linNode" presStyleCnt="0"/>
      <dgm:spPr/>
    </dgm:pt>
    <dgm:pt modelId="{6A619FD9-9EEE-49AF-845C-9D13E54C54B0}" type="pres">
      <dgm:prSet presAssocID="{9F927DDC-1F36-432A-9535-36D8D4A1AA5B}" presName="parentText" presStyleLbl="node1" presStyleIdx="1" presStyleCnt="4">
        <dgm:presLayoutVars>
          <dgm:chMax val="1"/>
          <dgm:bulletEnabled val="1"/>
        </dgm:presLayoutVars>
      </dgm:prSet>
      <dgm:spPr/>
    </dgm:pt>
    <dgm:pt modelId="{451DFFBD-84D9-4FAE-BC1A-C7154AC99DC4}" type="pres">
      <dgm:prSet presAssocID="{9F927DDC-1F36-432A-9535-36D8D4A1AA5B}" presName="descendantText" presStyleLbl="alignAccFollowNode1" presStyleIdx="1" presStyleCnt="4">
        <dgm:presLayoutVars>
          <dgm:bulletEnabled val="1"/>
        </dgm:presLayoutVars>
      </dgm:prSet>
      <dgm:spPr/>
    </dgm:pt>
    <dgm:pt modelId="{32256B07-F125-4793-8992-6B995FCC74B0}" type="pres">
      <dgm:prSet presAssocID="{DBD02912-3CC6-46F8-A6F7-3EF9926FAF1C}" presName="sp" presStyleCnt="0"/>
      <dgm:spPr/>
    </dgm:pt>
    <dgm:pt modelId="{E22C2DE5-808E-4BFA-8431-5CE8BBE04AB7}" type="pres">
      <dgm:prSet presAssocID="{255B9D59-E551-4DD1-9F52-82D196FDF77F}" presName="linNode" presStyleCnt="0"/>
      <dgm:spPr/>
    </dgm:pt>
    <dgm:pt modelId="{8E4A1974-2DB4-4279-ADFF-05F386154AB8}" type="pres">
      <dgm:prSet presAssocID="{255B9D59-E551-4DD1-9F52-82D196FDF77F}" presName="parentText" presStyleLbl="node1" presStyleIdx="2" presStyleCnt="4">
        <dgm:presLayoutVars>
          <dgm:chMax val="1"/>
          <dgm:bulletEnabled val="1"/>
        </dgm:presLayoutVars>
      </dgm:prSet>
      <dgm:spPr/>
    </dgm:pt>
    <dgm:pt modelId="{6975C828-FC69-41B9-99F0-EBA0A8A5CBA9}" type="pres">
      <dgm:prSet presAssocID="{255B9D59-E551-4DD1-9F52-82D196FDF77F}" presName="descendantText" presStyleLbl="alignAccFollowNode1" presStyleIdx="2" presStyleCnt="4">
        <dgm:presLayoutVars>
          <dgm:bulletEnabled val="1"/>
        </dgm:presLayoutVars>
      </dgm:prSet>
      <dgm:spPr/>
    </dgm:pt>
    <dgm:pt modelId="{FAA9FB73-E315-47DE-B0B6-6399E2490CE6}" type="pres">
      <dgm:prSet presAssocID="{0AC43BCE-CB3B-4C4F-9C47-5E7621D830A9}" presName="sp" presStyleCnt="0"/>
      <dgm:spPr/>
    </dgm:pt>
    <dgm:pt modelId="{C144A67A-4875-416E-8939-C42719A2DCD0}" type="pres">
      <dgm:prSet presAssocID="{7FD69366-8915-4465-BB04-203D2FBDFA71}" presName="linNode" presStyleCnt="0"/>
      <dgm:spPr/>
    </dgm:pt>
    <dgm:pt modelId="{0BA65C50-2887-40C2-9E74-44A4965485CE}" type="pres">
      <dgm:prSet presAssocID="{7FD69366-8915-4465-BB04-203D2FBDFA71}" presName="parentText" presStyleLbl="node1" presStyleIdx="3" presStyleCnt="4">
        <dgm:presLayoutVars>
          <dgm:chMax val="1"/>
          <dgm:bulletEnabled val="1"/>
        </dgm:presLayoutVars>
      </dgm:prSet>
      <dgm:spPr/>
    </dgm:pt>
    <dgm:pt modelId="{4A747581-02AA-48F7-9572-295AE6C821D6}" type="pres">
      <dgm:prSet presAssocID="{7FD69366-8915-4465-BB04-203D2FBDFA71}" presName="descendantText" presStyleLbl="alignAccFollowNode1" presStyleIdx="3" presStyleCnt="4">
        <dgm:presLayoutVars>
          <dgm:bulletEnabled val="1"/>
        </dgm:presLayoutVars>
      </dgm:prSet>
      <dgm:spPr/>
    </dgm:pt>
  </dgm:ptLst>
  <dgm:cxnLst>
    <dgm:cxn modelId="{92C4CC0D-A6E4-4BAF-9EFC-1450EA46A73C}" srcId="{9F927DDC-1F36-432A-9535-36D8D4A1AA5B}" destId="{DC8F4357-9FE7-4A01-8DCF-437B26E268F3}" srcOrd="2" destOrd="0" parTransId="{BDAC022D-6D10-4682-9F18-C536E9BC97F7}" sibTransId="{14B9F48B-C6B9-4DD9-B5FB-3B49CE906330}"/>
    <dgm:cxn modelId="{39C6540E-7D22-43DC-864C-EF827F926B61}" srcId="{255B9D59-E551-4DD1-9F52-82D196FDF77F}" destId="{1F8D5134-1BE7-49B3-A469-F8EDC9964D69}" srcOrd="0" destOrd="0" parTransId="{A690ADD2-245E-4A74-8406-5B4D1D6B1EE8}" sibTransId="{1AA6866E-297A-4F38-902E-5B150476552F}"/>
    <dgm:cxn modelId="{4FC0B417-9CD2-4BED-BBF5-1BA218B469F4}" srcId="{017A9209-D9A6-43AB-B174-02EABB6411DB}" destId="{9F927DDC-1F36-432A-9535-36D8D4A1AA5B}" srcOrd="1" destOrd="0" parTransId="{B2A69BEF-841B-426D-BDA3-BEC848679F7D}" sibTransId="{DBD02912-3CC6-46F8-A6F7-3EF9926FAF1C}"/>
    <dgm:cxn modelId="{E3192619-418F-421E-9EBD-BCDF191546AB}" type="presOf" srcId="{255B9D59-E551-4DD1-9F52-82D196FDF77F}" destId="{8E4A1974-2DB4-4279-ADFF-05F386154AB8}" srcOrd="0" destOrd="0" presId="urn:microsoft.com/office/officeart/2005/8/layout/vList5"/>
    <dgm:cxn modelId="{270AD81A-8D0B-401E-AC09-0AB5EF70E568}" srcId="{7FD69366-8915-4465-BB04-203D2FBDFA71}" destId="{2CD39A2D-FF85-422D-B51A-A3AA4FBA78A6}" srcOrd="2" destOrd="0" parTransId="{F0109907-8639-4A19-BEB0-00369AA7DF9C}" sibTransId="{25F55EE6-D8F6-4A34-8A9E-B6C3C6F31F47}"/>
    <dgm:cxn modelId="{E221F923-91CF-4475-9D33-6C38CAE4165F}" type="presOf" srcId="{A2700B0A-68B0-421F-B620-54D412076473}" destId="{4A747581-02AA-48F7-9572-295AE6C821D6}" srcOrd="0" destOrd="1" presId="urn:microsoft.com/office/officeart/2005/8/layout/vList5"/>
    <dgm:cxn modelId="{BB82DC27-175A-4409-8127-F3AEC72005BF}" srcId="{9F927DDC-1F36-432A-9535-36D8D4A1AA5B}" destId="{87F1C8D5-EDB2-431B-821D-F1420F1E7015}" srcOrd="0" destOrd="0" parTransId="{96AA7FEC-622A-4366-ACEA-D7C1E447A9DA}" sibTransId="{E944C9FF-86FF-46B6-9FAC-CFBB27884FD6}"/>
    <dgm:cxn modelId="{055E7D30-5C0E-4D90-82CB-B9F9B322AEE8}" srcId="{7FD69366-8915-4465-BB04-203D2FBDFA71}" destId="{2BE1EAB9-F0EC-457B-9FE4-02460B141CEB}" srcOrd="0" destOrd="0" parTransId="{1AE24FA2-86FA-4AA2-89C2-E340923C4026}" sibTransId="{B012B1AC-FD8B-4669-AC15-DA86EA131363}"/>
    <dgm:cxn modelId="{70EE1F38-864B-4F6F-8069-2C0D30BDC80A}" type="presOf" srcId="{2BE1EAB9-F0EC-457B-9FE4-02460B141CEB}" destId="{4A747581-02AA-48F7-9572-295AE6C821D6}" srcOrd="0" destOrd="0" presId="urn:microsoft.com/office/officeart/2005/8/layout/vList5"/>
    <dgm:cxn modelId="{B3348F40-A390-4A13-8B1C-4E97E7CE92F9}" srcId="{017A9209-D9A6-43AB-B174-02EABB6411DB}" destId="{255B9D59-E551-4DD1-9F52-82D196FDF77F}" srcOrd="2" destOrd="0" parTransId="{1B864888-ADBB-4F1E-9BD7-0B414C9990BC}" sibTransId="{0AC43BCE-CB3B-4C4F-9C47-5E7621D830A9}"/>
    <dgm:cxn modelId="{10020967-93F9-4D4A-A7CE-6A14219081FE}" type="presOf" srcId="{7FD69366-8915-4465-BB04-203D2FBDFA71}" destId="{0BA65C50-2887-40C2-9E74-44A4965485CE}" srcOrd="0" destOrd="0" presId="urn:microsoft.com/office/officeart/2005/8/layout/vList5"/>
    <dgm:cxn modelId="{9BEDCA4D-3423-4B16-A4CC-F0F0FFE18993}" srcId="{255B9D59-E551-4DD1-9F52-82D196FDF77F}" destId="{9E973213-85B6-4C44-9170-EF6096AF3D30}" srcOrd="1" destOrd="0" parTransId="{66C5001D-639E-4BA7-A3A6-90A79E8CFBFD}" sibTransId="{C1922DB9-DE44-4B75-89A5-3ACC806D2E6A}"/>
    <dgm:cxn modelId="{41530A52-20C0-431F-B0A2-F2D98B7CE0C8}" srcId="{7FD69366-8915-4465-BB04-203D2FBDFA71}" destId="{A476CA14-8212-4CDE-852B-2048766B6482}" srcOrd="3" destOrd="0" parTransId="{425E7B1B-B32F-4C17-BEBB-7577F59AE373}" sibTransId="{768FC3D8-29FB-4DD0-ACA9-6EAC0DC74BF2}"/>
    <dgm:cxn modelId="{35CDE477-CF9C-498D-9B64-15110FBEB3C8}" type="presOf" srcId="{9E973213-85B6-4C44-9170-EF6096AF3D30}" destId="{6975C828-FC69-41B9-99F0-EBA0A8A5CBA9}" srcOrd="0" destOrd="1" presId="urn:microsoft.com/office/officeart/2005/8/layout/vList5"/>
    <dgm:cxn modelId="{07964E7B-4AE2-49EC-AC84-B5B10A32CB37}" type="presOf" srcId="{87F1C8D5-EDB2-431B-821D-F1420F1E7015}" destId="{451DFFBD-84D9-4FAE-BC1A-C7154AC99DC4}" srcOrd="0" destOrd="0" presId="urn:microsoft.com/office/officeart/2005/8/layout/vList5"/>
    <dgm:cxn modelId="{8044BF87-A9EB-48C2-9DA9-B25F59E3D643}" srcId="{017A9209-D9A6-43AB-B174-02EABB6411DB}" destId="{A5372E74-5EFF-47C8-B2C2-6865A33DF625}" srcOrd="0" destOrd="0" parTransId="{1A768FBF-710F-4678-BE1F-3B4067767FD7}" sibTransId="{29B6D07C-B164-453A-BD7A-29971260027D}"/>
    <dgm:cxn modelId="{2814728C-906B-414A-8A6D-5BCBBF90734A}" type="presOf" srcId="{A5372E74-5EFF-47C8-B2C2-6865A33DF625}" destId="{222F172A-B68A-4013-BC73-8760B97EB7B8}" srcOrd="0" destOrd="0" presId="urn:microsoft.com/office/officeart/2005/8/layout/vList5"/>
    <dgm:cxn modelId="{3A5E2DA3-51F2-4396-AD7E-A8378B136429}" srcId="{7FD69366-8915-4465-BB04-203D2FBDFA71}" destId="{A2700B0A-68B0-421F-B620-54D412076473}" srcOrd="1" destOrd="0" parTransId="{3AE9816A-4257-4FB2-B47B-DCFDB263A573}" sibTransId="{5159E4D8-29B4-42CB-AFCA-EA9391FA6FA1}"/>
    <dgm:cxn modelId="{E210A7B7-B43F-4258-AF55-7A85C5E2E878}" srcId="{A5372E74-5EFF-47C8-B2C2-6865A33DF625}" destId="{1041552F-E2EC-476A-AE45-8C971CD10161}" srcOrd="0" destOrd="0" parTransId="{A4DD2ECE-B9CE-4CD7-BB78-E8B4D48E6971}" sibTransId="{F6C35599-7697-482C-959C-A842883796B1}"/>
    <dgm:cxn modelId="{6E672EB9-68D1-416D-BADA-686B2E0AEC38}" srcId="{017A9209-D9A6-43AB-B174-02EABB6411DB}" destId="{7FD69366-8915-4465-BB04-203D2FBDFA71}" srcOrd="3" destOrd="0" parTransId="{245F7169-0E7E-4116-B90A-DABCF7BF828A}" sibTransId="{82EEFB07-38C5-4262-9FB5-8E4FB9EB1A41}"/>
    <dgm:cxn modelId="{EECC25BF-5D9C-43F1-8A4C-BCA1195EE2E6}" type="presOf" srcId="{A476CA14-8212-4CDE-852B-2048766B6482}" destId="{4A747581-02AA-48F7-9572-295AE6C821D6}" srcOrd="0" destOrd="3" presId="urn:microsoft.com/office/officeart/2005/8/layout/vList5"/>
    <dgm:cxn modelId="{4110A3C1-5BFB-4C4A-A8B8-B2DBD8CB92E5}" type="presOf" srcId="{9F927DDC-1F36-432A-9535-36D8D4A1AA5B}" destId="{6A619FD9-9EEE-49AF-845C-9D13E54C54B0}" srcOrd="0" destOrd="0" presId="urn:microsoft.com/office/officeart/2005/8/layout/vList5"/>
    <dgm:cxn modelId="{180980C4-D907-4460-B631-59C986A7B5BA}" srcId="{9F927DDC-1F36-432A-9535-36D8D4A1AA5B}" destId="{153947C7-55EF-49F4-8117-BBA272F31E9D}" srcOrd="1" destOrd="0" parTransId="{021900B5-B5D2-432E-A752-812AABCC1AEA}" sibTransId="{56D30F9A-239B-4375-90CD-62901401AC3F}"/>
    <dgm:cxn modelId="{5FC89DCD-52E8-4022-9C6F-719258FE13AE}" type="presOf" srcId="{DC8F4357-9FE7-4A01-8DCF-437B26E268F3}" destId="{451DFFBD-84D9-4FAE-BC1A-C7154AC99DC4}" srcOrd="0" destOrd="2" presId="urn:microsoft.com/office/officeart/2005/8/layout/vList5"/>
    <dgm:cxn modelId="{838396D9-3089-4F7C-BD9A-7EA691F3A92A}" type="presOf" srcId="{1F8D5134-1BE7-49B3-A469-F8EDC9964D69}" destId="{6975C828-FC69-41B9-99F0-EBA0A8A5CBA9}" srcOrd="0" destOrd="0" presId="urn:microsoft.com/office/officeart/2005/8/layout/vList5"/>
    <dgm:cxn modelId="{945F7EDA-E53F-47A1-82E1-24EB1D2F9719}" type="presOf" srcId="{017A9209-D9A6-43AB-B174-02EABB6411DB}" destId="{BD8DCDCA-8C51-4EE0-8D9F-21059F275FCE}" srcOrd="0" destOrd="0" presId="urn:microsoft.com/office/officeart/2005/8/layout/vList5"/>
    <dgm:cxn modelId="{FE5069DF-DED3-46C3-AC34-40705BD4ADCC}" type="presOf" srcId="{1041552F-E2EC-476A-AE45-8C971CD10161}" destId="{F0EAF8A7-8289-45E6-A320-88AAC8CD679B}" srcOrd="0" destOrd="0" presId="urn:microsoft.com/office/officeart/2005/8/layout/vList5"/>
    <dgm:cxn modelId="{56F5CDE4-ACBE-4AFC-A7B5-8E429BEDADE0}" type="presOf" srcId="{153947C7-55EF-49F4-8117-BBA272F31E9D}" destId="{451DFFBD-84D9-4FAE-BC1A-C7154AC99DC4}" srcOrd="0" destOrd="1" presId="urn:microsoft.com/office/officeart/2005/8/layout/vList5"/>
    <dgm:cxn modelId="{A16565EC-C981-4CC5-B235-B37EF1897F7A}" srcId="{255B9D59-E551-4DD1-9F52-82D196FDF77F}" destId="{06FCB30E-A92D-4E13-905F-5240137704EA}" srcOrd="2" destOrd="0" parTransId="{CE75D309-3284-45C4-89C7-04AEFCA88CBB}" sibTransId="{5951AD67-F36B-47AB-AE47-15BD881E43CB}"/>
    <dgm:cxn modelId="{DD9710F5-1CEF-4C68-BF85-7C3E1313F793}" type="presOf" srcId="{2CD39A2D-FF85-422D-B51A-A3AA4FBA78A6}" destId="{4A747581-02AA-48F7-9572-295AE6C821D6}" srcOrd="0" destOrd="2" presId="urn:microsoft.com/office/officeart/2005/8/layout/vList5"/>
    <dgm:cxn modelId="{23DBFCFB-C7BB-4DFB-853B-08666D09B33D}" type="presOf" srcId="{06FCB30E-A92D-4E13-905F-5240137704EA}" destId="{6975C828-FC69-41B9-99F0-EBA0A8A5CBA9}" srcOrd="0" destOrd="2" presId="urn:microsoft.com/office/officeart/2005/8/layout/vList5"/>
    <dgm:cxn modelId="{DF28E8F3-9D5D-44BD-B7E1-532881AC1A21}" type="presParOf" srcId="{BD8DCDCA-8C51-4EE0-8D9F-21059F275FCE}" destId="{27E9699F-0C5B-4381-BE48-52FF86E933DD}" srcOrd="0" destOrd="0" presId="urn:microsoft.com/office/officeart/2005/8/layout/vList5"/>
    <dgm:cxn modelId="{454AA203-86AA-447C-9BC7-C328F4B6BEC2}" type="presParOf" srcId="{27E9699F-0C5B-4381-BE48-52FF86E933DD}" destId="{222F172A-B68A-4013-BC73-8760B97EB7B8}" srcOrd="0" destOrd="0" presId="urn:microsoft.com/office/officeart/2005/8/layout/vList5"/>
    <dgm:cxn modelId="{370F6619-94F9-4AC6-A8E0-3D98190E017B}" type="presParOf" srcId="{27E9699F-0C5B-4381-BE48-52FF86E933DD}" destId="{F0EAF8A7-8289-45E6-A320-88AAC8CD679B}" srcOrd="1" destOrd="0" presId="urn:microsoft.com/office/officeart/2005/8/layout/vList5"/>
    <dgm:cxn modelId="{E1109403-13EB-4F3F-871E-AABB64980AED}" type="presParOf" srcId="{BD8DCDCA-8C51-4EE0-8D9F-21059F275FCE}" destId="{95256A72-07AA-4AB3-8ADF-4CAEBD53FF7C}" srcOrd="1" destOrd="0" presId="urn:microsoft.com/office/officeart/2005/8/layout/vList5"/>
    <dgm:cxn modelId="{359F438D-E3AC-4511-8487-56838110AA7C}" type="presParOf" srcId="{BD8DCDCA-8C51-4EE0-8D9F-21059F275FCE}" destId="{3EF8E443-BA11-4829-927F-5503C94B7F67}" srcOrd="2" destOrd="0" presId="urn:microsoft.com/office/officeart/2005/8/layout/vList5"/>
    <dgm:cxn modelId="{50F44F23-60B3-431F-B00C-40B2BBE72A53}" type="presParOf" srcId="{3EF8E443-BA11-4829-927F-5503C94B7F67}" destId="{6A619FD9-9EEE-49AF-845C-9D13E54C54B0}" srcOrd="0" destOrd="0" presId="urn:microsoft.com/office/officeart/2005/8/layout/vList5"/>
    <dgm:cxn modelId="{2F0A7F4C-734B-4C9F-8155-95AD5C577D6C}" type="presParOf" srcId="{3EF8E443-BA11-4829-927F-5503C94B7F67}" destId="{451DFFBD-84D9-4FAE-BC1A-C7154AC99DC4}" srcOrd="1" destOrd="0" presId="urn:microsoft.com/office/officeart/2005/8/layout/vList5"/>
    <dgm:cxn modelId="{48D28DF8-7DD2-4EC0-886B-B178CCBACA48}" type="presParOf" srcId="{BD8DCDCA-8C51-4EE0-8D9F-21059F275FCE}" destId="{32256B07-F125-4793-8992-6B995FCC74B0}" srcOrd="3" destOrd="0" presId="urn:microsoft.com/office/officeart/2005/8/layout/vList5"/>
    <dgm:cxn modelId="{555F4CDA-EA7E-4593-8441-FE00B1A4BD4E}" type="presParOf" srcId="{BD8DCDCA-8C51-4EE0-8D9F-21059F275FCE}" destId="{E22C2DE5-808E-4BFA-8431-5CE8BBE04AB7}" srcOrd="4" destOrd="0" presId="urn:microsoft.com/office/officeart/2005/8/layout/vList5"/>
    <dgm:cxn modelId="{27F822D0-7008-4A50-9992-C6C9C074A020}" type="presParOf" srcId="{E22C2DE5-808E-4BFA-8431-5CE8BBE04AB7}" destId="{8E4A1974-2DB4-4279-ADFF-05F386154AB8}" srcOrd="0" destOrd="0" presId="urn:microsoft.com/office/officeart/2005/8/layout/vList5"/>
    <dgm:cxn modelId="{3C4A7EA2-901A-44E2-BF88-93D3360BC966}" type="presParOf" srcId="{E22C2DE5-808E-4BFA-8431-5CE8BBE04AB7}" destId="{6975C828-FC69-41B9-99F0-EBA0A8A5CBA9}" srcOrd="1" destOrd="0" presId="urn:microsoft.com/office/officeart/2005/8/layout/vList5"/>
    <dgm:cxn modelId="{A3C865A5-1598-465F-B9B0-3B2023F7F02B}" type="presParOf" srcId="{BD8DCDCA-8C51-4EE0-8D9F-21059F275FCE}" destId="{FAA9FB73-E315-47DE-B0B6-6399E2490CE6}" srcOrd="5" destOrd="0" presId="urn:microsoft.com/office/officeart/2005/8/layout/vList5"/>
    <dgm:cxn modelId="{A91C68C5-F6BA-4C9D-AEF7-84AAA52BFA6D}" type="presParOf" srcId="{BD8DCDCA-8C51-4EE0-8D9F-21059F275FCE}" destId="{C144A67A-4875-416E-8939-C42719A2DCD0}" srcOrd="6" destOrd="0" presId="urn:microsoft.com/office/officeart/2005/8/layout/vList5"/>
    <dgm:cxn modelId="{EC833866-A2D5-41B2-8236-E63C295C7084}" type="presParOf" srcId="{C144A67A-4875-416E-8939-C42719A2DCD0}" destId="{0BA65C50-2887-40C2-9E74-44A4965485CE}" srcOrd="0" destOrd="0" presId="urn:microsoft.com/office/officeart/2005/8/layout/vList5"/>
    <dgm:cxn modelId="{F6096408-305A-4E84-AAF6-79692228EC6F}" type="presParOf" srcId="{C144A67A-4875-416E-8939-C42719A2DCD0}" destId="{4A747581-02AA-48F7-9572-295AE6C821D6}" srcOrd="1" destOrd="0" presId="urn:microsoft.com/office/officeart/2005/8/layout/vList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EAF8A7-8289-45E6-A320-88AAC8CD679B}">
      <dsp:nvSpPr>
        <dsp:cNvPr id="0" name=""/>
        <dsp:cNvSpPr/>
      </dsp:nvSpPr>
      <dsp:spPr>
        <a:xfrm rot="5400000">
          <a:off x="3408952" y="-1161151"/>
          <a:ext cx="1129381" cy="373989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GB" sz="1200" kern="1200" dirty="0"/>
            <a:t>Blog_admin.csv</a:t>
          </a:r>
          <a:endParaRPr lang="nl-NL" sz="1200" kern="1200" dirty="0"/>
        </a:p>
      </dsp:txBody>
      <dsp:txXfrm rot="-5400000">
        <a:off x="2103693" y="199240"/>
        <a:ext cx="3684767" cy="1019117"/>
      </dsp:txXfrm>
    </dsp:sp>
    <dsp:sp modelId="{222F172A-B68A-4013-BC73-8760B97EB7B8}">
      <dsp:nvSpPr>
        <dsp:cNvPr id="0" name=""/>
        <dsp:cNvSpPr/>
      </dsp:nvSpPr>
      <dsp:spPr>
        <a:xfrm>
          <a:off x="0" y="0"/>
          <a:ext cx="2103693" cy="141172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a:t>admin/</a:t>
          </a:r>
          <a:endParaRPr lang="nl-NL" sz="2900" kern="1200" dirty="0"/>
        </a:p>
      </dsp:txBody>
      <dsp:txXfrm>
        <a:off x="68915" y="68915"/>
        <a:ext cx="1965863" cy="1273896"/>
      </dsp:txXfrm>
    </dsp:sp>
    <dsp:sp modelId="{451DFFBD-84D9-4FAE-BC1A-C7154AC99DC4}">
      <dsp:nvSpPr>
        <dsp:cNvPr id="0" name=""/>
        <dsp:cNvSpPr/>
      </dsp:nvSpPr>
      <dsp:spPr>
        <a:xfrm rot="5400000">
          <a:off x="3408952" y="321161"/>
          <a:ext cx="1129381" cy="373989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GB" sz="1200" kern="1200" dirty="0"/>
            <a:t>animalia/</a:t>
          </a:r>
          <a:endParaRPr lang="nl-NL" sz="1200" kern="1200" dirty="0"/>
        </a:p>
        <a:p>
          <a:pPr marL="114300" lvl="1" indent="-114300" algn="l" defTabSz="533400">
            <a:lnSpc>
              <a:spcPct val="90000"/>
            </a:lnSpc>
            <a:spcBef>
              <a:spcPct val="0"/>
            </a:spcBef>
            <a:spcAft>
              <a:spcPct val="15000"/>
            </a:spcAft>
            <a:buChar char="•"/>
          </a:pPr>
          <a:r>
            <a:rPr lang="en-GB" sz="1200" kern="1200" dirty="0"/>
            <a:t>plantae/</a:t>
          </a:r>
          <a:endParaRPr lang="nl-NL" sz="1200" kern="1200" dirty="0"/>
        </a:p>
        <a:p>
          <a:pPr marL="114300" lvl="1" indent="-114300" algn="l" defTabSz="533400">
            <a:lnSpc>
              <a:spcPct val="90000"/>
            </a:lnSpc>
            <a:spcBef>
              <a:spcPct val="0"/>
            </a:spcBef>
            <a:spcAft>
              <a:spcPct val="15000"/>
            </a:spcAft>
            <a:buChar char="•"/>
          </a:pPr>
          <a:r>
            <a:rPr lang="en-GB" sz="1200" kern="1200" dirty="0"/>
            <a:t>fungi/</a:t>
          </a:r>
          <a:endParaRPr lang="nl-NL" sz="1200" kern="1200" dirty="0"/>
        </a:p>
      </dsp:txBody>
      <dsp:txXfrm rot="-5400000">
        <a:off x="2103693" y="1681552"/>
        <a:ext cx="3684767" cy="1019117"/>
      </dsp:txXfrm>
    </dsp:sp>
    <dsp:sp modelId="{6A619FD9-9EEE-49AF-845C-9D13E54C54B0}">
      <dsp:nvSpPr>
        <dsp:cNvPr id="0" name=""/>
        <dsp:cNvSpPr/>
      </dsp:nvSpPr>
      <dsp:spPr>
        <a:xfrm>
          <a:off x="0" y="1485248"/>
          <a:ext cx="2103693" cy="141172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a:t>biota/</a:t>
          </a:r>
          <a:endParaRPr lang="nl-NL" sz="2900" kern="1200" dirty="0"/>
        </a:p>
      </dsp:txBody>
      <dsp:txXfrm>
        <a:off x="68915" y="1554163"/>
        <a:ext cx="1965863" cy="1273896"/>
      </dsp:txXfrm>
    </dsp:sp>
    <dsp:sp modelId="{6975C828-FC69-41B9-99F0-EBA0A8A5CBA9}">
      <dsp:nvSpPr>
        <dsp:cNvPr id="0" name=""/>
        <dsp:cNvSpPr/>
      </dsp:nvSpPr>
      <dsp:spPr>
        <a:xfrm rot="5400000">
          <a:off x="3408952" y="1803474"/>
          <a:ext cx="1129381" cy="373989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GB" sz="1200" kern="1200" dirty="0"/>
            <a:t>active/</a:t>
          </a:r>
          <a:endParaRPr lang="nl-NL" sz="1200" kern="1200" dirty="0"/>
        </a:p>
        <a:p>
          <a:pPr marL="114300" lvl="1" indent="-114300" algn="l" defTabSz="533400">
            <a:lnSpc>
              <a:spcPct val="90000"/>
            </a:lnSpc>
            <a:spcBef>
              <a:spcPct val="0"/>
            </a:spcBef>
            <a:spcAft>
              <a:spcPct val="15000"/>
            </a:spcAft>
            <a:buChar char="•"/>
          </a:pPr>
          <a:r>
            <a:rPr lang="en-GB" sz="1200" kern="1200" dirty="0"/>
            <a:t>initialize/</a:t>
          </a:r>
          <a:endParaRPr lang="nl-NL" sz="1200" kern="1200" dirty="0"/>
        </a:p>
        <a:p>
          <a:pPr marL="114300" lvl="1" indent="-114300" algn="l" defTabSz="533400">
            <a:lnSpc>
              <a:spcPct val="90000"/>
            </a:lnSpc>
            <a:spcBef>
              <a:spcPct val="0"/>
            </a:spcBef>
            <a:spcAft>
              <a:spcPct val="15000"/>
            </a:spcAft>
            <a:buChar char="•"/>
          </a:pPr>
          <a:r>
            <a:rPr lang="en-GB" sz="1200" kern="1200" dirty="0"/>
            <a:t>review/ (with subdirectories, see later)</a:t>
          </a:r>
          <a:endParaRPr lang="nl-NL" sz="1200" kern="1200" dirty="0"/>
        </a:p>
      </dsp:txBody>
      <dsp:txXfrm rot="-5400000">
        <a:off x="2103693" y="3163865"/>
        <a:ext cx="3684767" cy="1019117"/>
      </dsp:txXfrm>
    </dsp:sp>
    <dsp:sp modelId="{8E4A1974-2DB4-4279-ADFF-05F386154AB8}">
      <dsp:nvSpPr>
        <dsp:cNvPr id="0" name=""/>
        <dsp:cNvSpPr/>
      </dsp:nvSpPr>
      <dsp:spPr>
        <a:xfrm>
          <a:off x="0" y="2967561"/>
          <a:ext cx="2103693" cy="141172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a:t>metadata/</a:t>
          </a:r>
          <a:endParaRPr lang="nl-NL" sz="2900" kern="1200" dirty="0"/>
        </a:p>
      </dsp:txBody>
      <dsp:txXfrm>
        <a:off x="68915" y="3036476"/>
        <a:ext cx="1965863" cy="1273896"/>
      </dsp:txXfrm>
    </dsp:sp>
    <dsp:sp modelId="{4A747581-02AA-48F7-9572-295AE6C821D6}">
      <dsp:nvSpPr>
        <dsp:cNvPr id="0" name=""/>
        <dsp:cNvSpPr/>
      </dsp:nvSpPr>
      <dsp:spPr>
        <a:xfrm rot="5400000">
          <a:off x="3408952" y="3285787"/>
          <a:ext cx="1129381" cy="373989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GB" sz="1200" kern="1200" dirty="0"/>
            <a:t>biota/ -- what is shown hierarchical on the website</a:t>
          </a:r>
          <a:endParaRPr lang="nl-NL" sz="1200" kern="1200" dirty="0"/>
        </a:p>
        <a:p>
          <a:pPr marL="114300" lvl="1" indent="-114300" algn="l" defTabSz="533400">
            <a:lnSpc>
              <a:spcPct val="90000"/>
            </a:lnSpc>
            <a:spcBef>
              <a:spcPct val="0"/>
            </a:spcBef>
            <a:spcAft>
              <a:spcPct val="15000"/>
            </a:spcAft>
            <a:buChar char="•"/>
          </a:pPr>
          <a:r>
            <a:rPr lang="en-GB" sz="1200" kern="1200" dirty="0" err="1"/>
            <a:t>biotablog</a:t>
          </a:r>
          <a:r>
            <a:rPr lang="en-GB" sz="1200" kern="1200" dirty="0"/>
            <a:t>/ – </a:t>
          </a:r>
          <a:r>
            <a:rPr lang="en-GB" sz="1200" kern="1200" dirty="0" err="1"/>
            <a:t>subdirecties</a:t>
          </a:r>
          <a:r>
            <a:rPr lang="en-GB" sz="1200" kern="1200" dirty="0"/>
            <a:t> every photo-blog</a:t>
          </a:r>
          <a:endParaRPr lang="nl-NL" sz="1200" kern="1200" dirty="0"/>
        </a:p>
        <a:p>
          <a:pPr marL="114300" lvl="1" indent="-114300" algn="l" defTabSz="533400">
            <a:lnSpc>
              <a:spcPct val="90000"/>
            </a:lnSpc>
            <a:spcBef>
              <a:spcPct val="0"/>
            </a:spcBef>
            <a:spcAft>
              <a:spcPct val="15000"/>
            </a:spcAft>
            <a:buChar char="•"/>
          </a:pPr>
          <a:r>
            <a:rPr lang="en-GB" sz="1200" kern="1200" dirty="0"/>
            <a:t>includes web/ – pre-installed helper html etc</a:t>
          </a:r>
          <a:endParaRPr lang="nl-NL" sz="1200" kern="1200" dirty="0"/>
        </a:p>
        <a:p>
          <a:pPr marL="114300" lvl="1" indent="-114300" algn="l" defTabSz="533400">
            <a:lnSpc>
              <a:spcPct val="90000"/>
            </a:lnSpc>
            <a:spcBef>
              <a:spcPct val="0"/>
            </a:spcBef>
            <a:spcAft>
              <a:spcPct val="15000"/>
            </a:spcAft>
            <a:buChar char="•"/>
          </a:pPr>
          <a:r>
            <a:rPr lang="en-GB" sz="1200" kern="1200" dirty="0"/>
            <a:t>summaries/ – statistics on the biota information</a:t>
          </a:r>
          <a:endParaRPr lang="nl-NL" sz="1200" kern="1200" dirty="0"/>
        </a:p>
      </dsp:txBody>
      <dsp:txXfrm rot="-5400000">
        <a:off x="2103693" y="4646178"/>
        <a:ext cx="3684767" cy="1019117"/>
      </dsp:txXfrm>
    </dsp:sp>
    <dsp:sp modelId="{0BA65C50-2887-40C2-9E74-44A4965485CE}">
      <dsp:nvSpPr>
        <dsp:cNvPr id="0" name=""/>
        <dsp:cNvSpPr/>
      </dsp:nvSpPr>
      <dsp:spPr>
        <a:xfrm>
          <a:off x="0" y="4449874"/>
          <a:ext cx="2103693" cy="141172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a:t>Web/</a:t>
          </a:r>
          <a:endParaRPr lang="nl-NL" sz="2900" kern="1200" dirty="0"/>
        </a:p>
      </dsp:txBody>
      <dsp:txXfrm>
        <a:off x="68915" y="4518789"/>
        <a:ext cx="1965863" cy="1273896"/>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D4F64B-0D6B-41C4-960F-8BF36568A172}" type="datetimeFigureOut">
              <a:rPr lang="nl-NL" smtClean="0"/>
              <a:t>14-7-2025</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1F0CA7-94A2-42DA-B20C-BBBE621325FF}" type="slidenum">
              <a:rPr lang="nl-NL" smtClean="0"/>
              <a:t>‹#›</a:t>
            </a:fld>
            <a:endParaRPr lang="nl-NL"/>
          </a:p>
        </p:txBody>
      </p:sp>
    </p:spTree>
    <p:extLst>
      <p:ext uri="{BB962C8B-B14F-4D97-AF65-F5344CB8AC3E}">
        <p14:creationId xmlns:p14="http://schemas.microsoft.com/office/powerpoint/2010/main" val="6924366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8" Type="http://schemas.openxmlformats.org/officeDocument/2006/relationships/hyperlink" Target="https://dictionary.cambridge.org/dictionary/english/time" TargetMode="External"/><Relationship Id="rId3" Type="http://schemas.openxmlformats.org/officeDocument/2006/relationships/hyperlink" Target="https://dictionary.cambridge.org/dictionary/english/animal" TargetMode="External"/><Relationship Id="rId7" Type="http://schemas.openxmlformats.org/officeDocument/2006/relationships/hyperlink" Target="https://dictionary.cambridge.org/dictionary/english/place" TargetMode="External"/><Relationship Id="rId12" Type="http://schemas.openxmlformats.org/officeDocument/2006/relationships/hyperlink" Target="https://dictionary.cambridge.org/dictionary/english/environment" TargetMode="External"/><Relationship Id="rId2" Type="http://schemas.openxmlformats.org/officeDocument/2006/relationships/slide" Target="../slides/slide2.xml"/><Relationship Id="rId1" Type="http://schemas.openxmlformats.org/officeDocument/2006/relationships/notesMaster" Target="../notesMasters/notesMaster1.xml"/><Relationship Id="rId6" Type="http://schemas.openxmlformats.org/officeDocument/2006/relationships/hyperlink" Target="https://dictionary.cambridge.org/dictionary/english/particular" TargetMode="External"/><Relationship Id="rId11" Type="http://schemas.openxmlformats.org/officeDocument/2006/relationships/hyperlink" Target="https://dictionary.cambridge.org/dictionary/english/natural" TargetMode="External"/><Relationship Id="rId5" Type="http://schemas.openxmlformats.org/officeDocument/2006/relationships/hyperlink" Target="https://dictionary.cambridge.org/dictionary/english/living" TargetMode="External"/><Relationship Id="rId10" Type="http://schemas.openxmlformats.org/officeDocument/2006/relationships/hyperlink" Target="https://dictionary.cambridge.org/dictionary/english/type" TargetMode="External"/><Relationship Id="rId4" Type="http://schemas.openxmlformats.org/officeDocument/2006/relationships/hyperlink" Target="https://dictionary.cambridge.org/dictionary/english/plant" TargetMode="External"/><Relationship Id="rId9" Type="http://schemas.openxmlformats.org/officeDocument/2006/relationships/hyperlink" Target="https://dictionary.cambridge.org/dictionary/english/habitat" TargetMode="Externa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SpeciesViewer master and trip repository architecture</a:t>
            </a:r>
          </a:p>
          <a:p>
            <a:endParaRPr lang="en-GB" b="1" dirty="0"/>
          </a:p>
          <a:p>
            <a:endParaRPr lang="en-GB" dirty="0"/>
          </a:p>
          <a:p>
            <a:r>
              <a:rPr lang="en-GB" dirty="0"/>
              <a:t>A repository is a structure to keep photos in a species topology.  The SpeciesViewer organizes pictures that show life, anything in the </a:t>
            </a:r>
            <a:r>
              <a:rPr lang="en-GB" i="1" dirty="0"/>
              <a:t>biota.  </a:t>
            </a:r>
            <a:r>
              <a:rPr lang="en-GB" sz="1200" kern="1200" dirty="0">
                <a:solidFill>
                  <a:schemeClr val="tx1"/>
                </a:solidFill>
                <a:latin typeface="+mn-lt"/>
                <a:ea typeface="+mn-ea"/>
                <a:cs typeface="+mn-cs"/>
              </a:rPr>
              <a:t>Biota refers to the </a:t>
            </a:r>
            <a:r>
              <a:rPr lang="en-GB" sz="1200" kern="1200" dirty="0">
                <a:solidFill>
                  <a:schemeClr val="tx1"/>
                </a:solidFill>
                <a:latin typeface="+mn-lt"/>
                <a:ea typeface="+mn-ea"/>
                <a:cs typeface="+mn-cs"/>
                <a:hlinkClick r:id="rId3" tooltip="animals">
                  <a:extLst>
                    <a:ext uri="{A12FA001-AC4F-418D-AE19-62706E023703}">
                      <ahyp:hlinkClr xmlns:ahyp="http://schemas.microsoft.com/office/drawing/2018/hyperlinkcolor" val="tx"/>
                    </a:ext>
                  </a:extLst>
                </a:hlinkClick>
              </a:rPr>
              <a:t>animals</a:t>
            </a:r>
            <a:r>
              <a:rPr lang="en-GB" sz="1200" kern="1200" dirty="0">
                <a:solidFill>
                  <a:schemeClr val="tx1"/>
                </a:solidFill>
                <a:latin typeface="+mn-lt"/>
                <a:ea typeface="+mn-ea"/>
                <a:cs typeface="+mn-cs"/>
              </a:rPr>
              <a:t>,  </a:t>
            </a:r>
            <a:r>
              <a:rPr lang="en-GB" sz="1200" kern="1200" dirty="0">
                <a:solidFill>
                  <a:schemeClr val="tx1"/>
                </a:solidFill>
                <a:latin typeface="+mn-lt"/>
                <a:ea typeface="+mn-ea"/>
                <a:cs typeface="+mn-cs"/>
                <a:hlinkClick r:id="rId4" tooltip="plants">
                  <a:extLst>
                    <a:ext uri="{A12FA001-AC4F-418D-AE19-62706E023703}">
                      <ahyp:hlinkClr xmlns:ahyp="http://schemas.microsoft.com/office/drawing/2018/hyperlinkcolor" val="tx"/>
                    </a:ext>
                  </a:extLst>
                </a:hlinkClick>
              </a:rPr>
              <a:t>plants</a:t>
            </a:r>
            <a:r>
              <a:rPr lang="en-GB" sz="1200" kern="1200" dirty="0">
                <a:solidFill>
                  <a:schemeClr val="tx1"/>
                </a:solidFill>
                <a:latin typeface="+mn-lt"/>
                <a:ea typeface="+mn-ea"/>
                <a:cs typeface="+mn-cs"/>
              </a:rPr>
              <a:t> and fungi </a:t>
            </a:r>
            <a:r>
              <a:rPr lang="en-GB" sz="1200" kern="1200" dirty="0">
                <a:solidFill>
                  <a:schemeClr val="tx1"/>
                </a:solidFill>
                <a:latin typeface="+mn-lt"/>
                <a:ea typeface="+mn-ea"/>
                <a:cs typeface="+mn-cs"/>
                <a:hlinkClick r:id="rId5" tooltip="living">
                  <a:extLst>
                    <a:ext uri="{A12FA001-AC4F-418D-AE19-62706E023703}">
                      <ahyp:hlinkClr xmlns:ahyp="http://schemas.microsoft.com/office/drawing/2018/hyperlinkcolor" val="tx"/>
                    </a:ext>
                  </a:extLst>
                </a:hlinkClick>
              </a:rPr>
              <a:t>living</a:t>
            </a:r>
            <a:r>
              <a:rPr lang="en-GB" sz="1200" kern="1200" dirty="0">
                <a:solidFill>
                  <a:schemeClr val="tx1"/>
                </a:solidFill>
                <a:latin typeface="+mn-lt"/>
                <a:ea typeface="+mn-ea"/>
                <a:cs typeface="+mn-cs"/>
              </a:rPr>
              <a:t> in a </a:t>
            </a:r>
            <a:r>
              <a:rPr lang="en-GB" sz="1200" kern="1200" dirty="0">
                <a:solidFill>
                  <a:schemeClr val="tx1"/>
                </a:solidFill>
                <a:latin typeface="+mn-lt"/>
                <a:ea typeface="+mn-ea"/>
                <a:cs typeface="+mn-cs"/>
                <a:hlinkClick r:id="rId6" tooltip="particular">
                  <a:extLst>
                    <a:ext uri="{A12FA001-AC4F-418D-AE19-62706E023703}">
                      <ahyp:hlinkClr xmlns:ahyp="http://schemas.microsoft.com/office/drawing/2018/hyperlinkcolor" val="tx"/>
                    </a:ext>
                  </a:extLst>
                </a:hlinkClick>
              </a:rPr>
              <a:t>particular</a:t>
            </a:r>
            <a:r>
              <a:rPr lang="en-GB" sz="1200" kern="1200" dirty="0">
                <a:solidFill>
                  <a:schemeClr val="tx1"/>
                </a:solidFill>
                <a:latin typeface="+mn-lt"/>
                <a:ea typeface="+mn-ea"/>
                <a:cs typeface="+mn-cs"/>
              </a:rPr>
              <a:t> </a:t>
            </a:r>
            <a:r>
              <a:rPr lang="en-GB" sz="1200" kern="1200" dirty="0">
                <a:solidFill>
                  <a:schemeClr val="tx1"/>
                </a:solidFill>
                <a:latin typeface="+mn-lt"/>
                <a:ea typeface="+mn-ea"/>
                <a:cs typeface="+mn-cs"/>
                <a:hlinkClick r:id="rId7" tooltip="place">
                  <a:extLst>
                    <a:ext uri="{A12FA001-AC4F-418D-AE19-62706E023703}">
                      <ahyp:hlinkClr xmlns:ahyp="http://schemas.microsoft.com/office/drawing/2018/hyperlinkcolor" val="tx"/>
                    </a:ext>
                  </a:extLst>
                </a:hlinkClick>
              </a:rPr>
              <a:t>place</a:t>
            </a:r>
            <a:r>
              <a:rPr lang="en-GB" sz="1200" kern="1200" dirty="0">
                <a:solidFill>
                  <a:schemeClr val="tx1"/>
                </a:solidFill>
                <a:latin typeface="+mn-lt"/>
                <a:ea typeface="+mn-ea"/>
                <a:cs typeface="+mn-cs"/>
              </a:rPr>
              <a:t>, </a:t>
            </a:r>
            <a:r>
              <a:rPr lang="en-GB" sz="1200" kern="1200" dirty="0">
                <a:solidFill>
                  <a:schemeClr val="tx1"/>
                </a:solidFill>
                <a:latin typeface="+mn-lt"/>
                <a:ea typeface="+mn-ea"/>
                <a:cs typeface="+mn-cs"/>
                <a:hlinkClick r:id="rId8" tooltip="time">
                  <a:extLst>
                    <a:ext uri="{A12FA001-AC4F-418D-AE19-62706E023703}">
                      <ahyp:hlinkClr xmlns:ahyp="http://schemas.microsoft.com/office/drawing/2018/hyperlinkcolor" val="tx"/>
                    </a:ext>
                  </a:extLst>
                </a:hlinkClick>
              </a:rPr>
              <a:t>time</a:t>
            </a:r>
            <a:r>
              <a:rPr lang="en-GB" sz="1200" kern="1200" dirty="0">
                <a:solidFill>
                  <a:schemeClr val="tx1"/>
                </a:solidFill>
                <a:latin typeface="+mn-lt"/>
                <a:ea typeface="+mn-ea"/>
                <a:cs typeface="+mn-cs"/>
              </a:rPr>
              <a:t>, or </a:t>
            </a:r>
            <a:r>
              <a:rPr lang="en-GB" sz="1200" kern="1200" dirty="0">
                <a:solidFill>
                  <a:schemeClr val="tx1"/>
                </a:solidFill>
                <a:latin typeface="+mn-lt"/>
                <a:ea typeface="+mn-ea"/>
                <a:cs typeface="+mn-cs"/>
                <a:hlinkClick r:id="rId9" tooltip="habitat">
                  <a:extLst>
                    <a:ext uri="{A12FA001-AC4F-418D-AE19-62706E023703}">
                      <ahyp:hlinkClr xmlns:ahyp="http://schemas.microsoft.com/office/drawing/2018/hyperlinkcolor" val="tx"/>
                    </a:ext>
                  </a:extLst>
                </a:hlinkClick>
              </a:rPr>
              <a:t>habitat</a:t>
            </a:r>
            <a:r>
              <a:rPr lang="en-GB" sz="1200" kern="1200" dirty="0">
                <a:solidFill>
                  <a:schemeClr val="tx1"/>
                </a:solidFill>
                <a:latin typeface="+mn-lt"/>
                <a:ea typeface="+mn-ea"/>
                <a:cs typeface="+mn-cs"/>
              </a:rPr>
              <a:t> (= one </a:t>
            </a:r>
            <a:r>
              <a:rPr lang="en-GB" sz="1200" kern="1200" dirty="0">
                <a:solidFill>
                  <a:schemeClr val="tx1"/>
                </a:solidFill>
                <a:latin typeface="+mn-lt"/>
                <a:ea typeface="+mn-ea"/>
                <a:cs typeface="+mn-cs"/>
                <a:hlinkClick r:id="rId10" tooltip="type">
                  <a:extLst>
                    <a:ext uri="{A12FA001-AC4F-418D-AE19-62706E023703}">
                      <ahyp:hlinkClr xmlns:ahyp="http://schemas.microsoft.com/office/drawing/2018/hyperlinkcolor" val="tx"/>
                    </a:ext>
                  </a:extLst>
                </a:hlinkClick>
              </a:rPr>
              <a:t>type</a:t>
            </a:r>
            <a:r>
              <a:rPr lang="en-GB" sz="1200" kern="1200" dirty="0">
                <a:solidFill>
                  <a:schemeClr val="tx1"/>
                </a:solidFill>
                <a:latin typeface="+mn-lt"/>
                <a:ea typeface="+mn-ea"/>
                <a:cs typeface="+mn-cs"/>
              </a:rPr>
              <a:t> of </a:t>
            </a:r>
            <a:r>
              <a:rPr lang="en-GB" sz="1200" kern="1200" dirty="0">
                <a:solidFill>
                  <a:schemeClr val="tx1"/>
                </a:solidFill>
                <a:latin typeface="+mn-lt"/>
                <a:ea typeface="+mn-ea"/>
                <a:cs typeface="+mn-cs"/>
                <a:hlinkClick r:id="rId11" tooltip="natural">
                  <a:extLst>
                    <a:ext uri="{A12FA001-AC4F-418D-AE19-62706E023703}">
                      <ahyp:hlinkClr xmlns:ahyp="http://schemas.microsoft.com/office/drawing/2018/hyperlinkcolor" val="tx"/>
                    </a:ext>
                  </a:extLst>
                </a:hlinkClick>
              </a:rPr>
              <a:t>natural</a:t>
            </a:r>
            <a:r>
              <a:rPr lang="en-GB" sz="1200" kern="1200" dirty="0">
                <a:solidFill>
                  <a:schemeClr val="tx1"/>
                </a:solidFill>
                <a:latin typeface="+mn-lt"/>
                <a:ea typeface="+mn-ea"/>
                <a:cs typeface="+mn-cs"/>
              </a:rPr>
              <a:t> </a:t>
            </a:r>
            <a:r>
              <a:rPr lang="en-GB" sz="1200" kern="1200" dirty="0">
                <a:solidFill>
                  <a:schemeClr val="tx1"/>
                </a:solidFill>
                <a:latin typeface="+mn-lt"/>
                <a:ea typeface="+mn-ea"/>
                <a:cs typeface="+mn-cs"/>
                <a:hlinkClick r:id="rId12" tooltip="environment">
                  <a:extLst>
                    <a:ext uri="{A12FA001-AC4F-418D-AE19-62706E023703}">
                      <ahyp:hlinkClr xmlns:ahyp="http://schemas.microsoft.com/office/drawing/2018/hyperlinkcolor" val="tx"/>
                    </a:ext>
                  </a:extLst>
                </a:hlinkClick>
              </a:rPr>
              <a:t>environment</a:t>
            </a:r>
            <a:r>
              <a:rPr lang="en-GB" sz="1200" kern="1200" dirty="0">
                <a:solidFill>
                  <a:schemeClr val="tx1"/>
                </a:solidFill>
                <a:latin typeface="+mn-lt"/>
                <a:ea typeface="+mn-ea"/>
                <a:cs typeface="+mn-cs"/>
              </a:rPr>
              <a:t>).  In this project biota refers to the root in a hierarchical classification.  When the picture has no scientific, English or Dutch name, it will not be included.</a:t>
            </a:r>
          </a:p>
          <a:p>
            <a:endParaRPr lang="en-GB" sz="1200" kern="1200" dirty="0">
              <a:solidFill>
                <a:schemeClr val="tx1"/>
              </a:solidFill>
              <a:latin typeface="+mn-lt"/>
              <a:ea typeface="+mn-ea"/>
              <a:cs typeface="+mn-cs"/>
            </a:endParaRPr>
          </a:p>
          <a:p>
            <a:r>
              <a:rPr lang="en-GB" sz="1200" kern="1200" dirty="0">
                <a:solidFill>
                  <a:schemeClr val="tx1"/>
                </a:solidFill>
                <a:latin typeface="+mn-lt"/>
                <a:ea typeface="+mn-ea"/>
                <a:cs typeface="+mn-cs"/>
              </a:rPr>
              <a:t>In the implementation we choose a hierarchy of repositories: a master that has all validated data, and trip repository that contain data for a specific trip or project.</a:t>
            </a:r>
          </a:p>
          <a:p>
            <a:endParaRPr lang="en-GB" dirty="0"/>
          </a:p>
          <a:p>
            <a:r>
              <a:rPr lang="en-GB" dirty="0"/>
              <a:t>A repository is the storage database of both the raw data and the processed RAWs into JPGs.  </a:t>
            </a:r>
          </a:p>
          <a:p>
            <a:r>
              <a:rPr lang="en-GB" dirty="0"/>
              <a:t>There two separate data structures, one to keep all the raw and processed files, and one to have the Web ready data.</a:t>
            </a:r>
          </a:p>
          <a:p>
            <a:endParaRPr lang="en-GB" dirty="0"/>
          </a:p>
          <a:p>
            <a:r>
              <a:rPr lang="en-GB" dirty="0"/>
              <a:t>The master repository can be thought of as a static data storage. The main use is to accept data from trips once they are completely processed.  That means that the best pictures have been selected, species names are specified for every photo. The trips are repositories that use the same data store architecture, but only keeps the pictures from a “trip”.  A trip be a day at a zoo, a vacation or a birding trip.  Anything.</a:t>
            </a:r>
          </a:p>
          <a:p>
            <a:endParaRPr lang="en-GB" dirty="0"/>
          </a:p>
          <a:p>
            <a:endParaRPr lang="en-GB" dirty="0"/>
          </a:p>
          <a:p>
            <a:endParaRPr lang="nl-NL" dirty="0"/>
          </a:p>
        </p:txBody>
      </p:sp>
      <p:sp>
        <p:nvSpPr>
          <p:cNvPr id="4" name="Slide Number Placeholder 3"/>
          <p:cNvSpPr>
            <a:spLocks noGrp="1"/>
          </p:cNvSpPr>
          <p:nvPr>
            <p:ph type="sldNum" sz="quarter" idx="5"/>
          </p:nvPr>
        </p:nvSpPr>
        <p:spPr/>
        <p:txBody>
          <a:bodyPr/>
          <a:lstStyle/>
          <a:p>
            <a:fld id="{5F1F0CA7-94A2-42DA-B20C-BBBE621325FF}" type="slidenum">
              <a:rPr lang="nl-NL" smtClean="0"/>
              <a:t>2</a:t>
            </a:fld>
            <a:endParaRPr lang="nl-NL"/>
          </a:p>
        </p:txBody>
      </p:sp>
    </p:spTree>
    <p:extLst>
      <p:ext uri="{BB962C8B-B14F-4D97-AF65-F5344CB8AC3E}">
        <p14:creationId xmlns:p14="http://schemas.microsoft.com/office/powerpoint/2010/main" val="34883074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NL" dirty="0"/>
          </a:p>
        </p:txBody>
      </p:sp>
      <p:sp>
        <p:nvSpPr>
          <p:cNvPr id="4" name="Slide Number Placeholder 3"/>
          <p:cNvSpPr>
            <a:spLocks noGrp="1"/>
          </p:cNvSpPr>
          <p:nvPr>
            <p:ph type="sldNum" sz="quarter" idx="5"/>
          </p:nvPr>
        </p:nvSpPr>
        <p:spPr/>
        <p:txBody>
          <a:bodyPr/>
          <a:lstStyle/>
          <a:p>
            <a:fld id="{5F1F0CA7-94A2-42DA-B20C-BBBE621325FF}" type="slidenum">
              <a:rPr lang="nl-NL" smtClean="0"/>
              <a:t>3</a:t>
            </a:fld>
            <a:endParaRPr lang="nl-NL"/>
          </a:p>
        </p:txBody>
      </p:sp>
    </p:spTree>
    <p:extLst>
      <p:ext uri="{BB962C8B-B14F-4D97-AF65-F5344CB8AC3E}">
        <p14:creationId xmlns:p14="http://schemas.microsoft.com/office/powerpoint/2010/main" val="16778075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NL" dirty="0"/>
          </a:p>
        </p:txBody>
      </p:sp>
      <p:sp>
        <p:nvSpPr>
          <p:cNvPr id="4" name="Slide Number Placeholder 3"/>
          <p:cNvSpPr>
            <a:spLocks noGrp="1"/>
          </p:cNvSpPr>
          <p:nvPr>
            <p:ph type="sldNum" sz="quarter" idx="5"/>
          </p:nvPr>
        </p:nvSpPr>
        <p:spPr/>
        <p:txBody>
          <a:bodyPr/>
          <a:lstStyle/>
          <a:p>
            <a:fld id="{5F1F0CA7-94A2-42DA-B20C-BBBE621325FF}" type="slidenum">
              <a:rPr lang="nl-NL" smtClean="0"/>
              <a:t>16</a:t>
            </a:fld>
            <a:endParaRPr lang="nl-NL"/>
          </a:p>
        </p:txBody>
      </p:sp>
    </p:spTree>
    <p:extLst>
      <p:ext uri="{BB962C8B-B14F-4D97-AF65-F5344CB8AC3E}">
        <p14:creationId xmlns:p14="http://schemas.microsoft.com/office/powerpoint/2010/main" val="11445726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NL" dirty="0"/>
          </a:p>
        </p:txBody>
      </p:sp>
      <p:sp>
        <p:nvSpPr>
          <p:cNvPr id="4" name="Slide Number Placeholder 3"/>
          <p:cNvSpPr>
            <a:spLocks noGrp="1"/>
          </p:cNvSpPr>
          <p:nvPr>
            <p:ph type="sldNum" sz="quarter" idx="5"/>
          </p:nvPr>
        </p:nvSpPr>
        <p:spPr/>
        <p:txBody>
          <a:bodyPr/>
          <a:lstStyle/>
          <a:p>
            <a:fld id="{5F1F0CA7-94A2-42DA-B20C-BBBE621325FF}" type="slidenum">
              <a:rPr lang="nl-NL" smtClean="0"/>
              <a:t>17</a:t>
            </a:fld>
            <a:endParaRPr lang="nl-NL"/>
          </a:p>
        </p:txBody>
      </p:sp>
    </p:spTree>
    <p:extLst>
      <p:ext uri="{BB962C8B-B14F-4D97-AF65-F5344CB8AC3E}">
        <p14:creationId xmlns:p14="http://schemas.microsoft.com/office/powerpoint/2010/main" val="27638839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E60B0-AF60-C401-7BAD-E6A277753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AE2DE-FD4F-6FC2-B8E0-F7A9923572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E20DF5-A4C9-2CE8-3D57-3C34E4BDD11B}"/>
              </a:ext>
            </a:extLst>
          </p:cNvPr>
          <p:cNvSpPr>
            <a:spLocks noGrp="1"/>
          </p:cNvSpPr>
          <p:nvPr>
            <p:ph type="body" idx="1"/>
          </p:nvPr>
        </p:nvSpPr>
        <p:spPr/>
        <p:txBody>
          <a:bodyPr/>
          <a:lstStyle/>
          <a:p>
            <a:endParaRPr lang="nl-NL" dirty="0"/>
          </a:p>
        </p:txBody>
      </p:sp>
      <p:sp>
        <p:nvSpPr>
          <p:cNvPr id="4" name="Slide Number Placeholder 3">
            <a:extLst>
              <a:ext uri="{FF2B5EF4-FFF2-40B4-BE49-F238E27FC236}">
                <a16:creationId xmlns:a16="http://schemas.microsoft.com/office/drawing/2014/main" id="{AF32D367-22F0-7777-BE25-7DEB35428511}"/>
              </a:ext>
            </a:extLst>
          </p:cNvPr>
          <p:cNvSpPr>
            <a:spLocks noGrp="1"/>
          </p:cNvSpPr>
          <p:nvPr>
            <p:ph type="sldNum" sz="quarter" idx="5"/>
          </p:nvPr>
        </p:nvSpPr>
        <p:spPr/>
        <p:txBody>
          <a:bodyPr/>
          <a:lstStyle/>
          <a:p>
            <a:fld id="{5F1F0CA7-94A2-42DA-B20C-BBBE621325FF}" type="slidenum">
              <a:rPr lang="nl-NL" smtClean="0"/>
              <a:t>18</a:t>
            </a:fld>
            <a:endParaRPr lang="nl-NL"/>
          </a:p>
        </p:txBody>
      </p:sp>
    </p:spTree>
    <p:extLst>
      <p:ext uri="{BB962C8B-B14F-4D97-AF65-F5344CB8AC3E}">
        <p14:creationId xmlns:p14="http://schemas.microsoft.com/office/powerpoint/2010/main" val="7919526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BA6EE-1CD1-B87E-69C8-F1A298194E8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NL"/>
          </a:p>
        </p:txBody>
      </p:sp>
      <p:sp>
        <p:nvSpPr>
          <p:cNvPr id="3" name="Subtitle 2">
            <a:extLst>
              <a:ext uri="{FF2B5EF4-FFF2-40B4-BE49-F238E27FC236}">
                <a16:creationId xmlns:a16="http://schemas.microsoft.com/office/drawing/2014/main" id="{5F942D96-ADD9-EA9A-1210-EB4F8A8A914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sp>
        <p:nvSpPr>
          <p:cNvPr id="4" name="Date Placeholder 3">
            <a:extLst>
              <a:ext uri="{FF2B5EF4-FFF2-40B4-BE49-F238E27FC236}">
                <a16:creationId xmlns:a16="http://schemas.microsoft.com/office/drawing/2014/main" id="{9D480377-4326-6C9C-7F81-86CCC438B50E}"/>
              </a:ext>
            </a:extLst>
          </p:cNvPr>
          <p:cNvSpPr>
            <a:spLocks noGrp="1"/>
          </p:cNvSpPr>
          <p:nvPr>
            <p:ph type="dt" sz="half" idx="10"/>
          </p:nvPr>
        </p:nvSpPr>
        <p:spPr/>
        <p:txBody>
          <a:bodyPr/>
          <a:lstStyle/>
          <a:p>
            <a:fld id="{A7A69C3B-192C-4ABE-8AD2-9BDA44DCF295}" type="datetimeFigureOut">
              <a:rPr lang="nl-NL" smtClean="0"/>
              <a:t>14-7-2025</a:t>
            </a:fld>
            <a:endParaRPr lang="nl-NL"/>
          </a:p>
        </p:txBody>
      </p:sp>
      <p:sp>
        <p:nvSpPr>
          <p:cNvPr id="5" name="Footer Placeholder 4">
            <a:extLst>
              <a:ext uri="{FF2B5EF4-FFF2-40B4-BE49-F238E27FC236}">
                <a16:creationId xmlns:a16="http://schemas.microsoft.com/office/drawing/2014/main" id="{48256CD1-6CC3-9AF7-8A85-BCEA2C39244B}"/>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04109996-C87A-C82F-0BAA-222B1B2C0208}"/>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1072052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9FBEF-0565-2E84-E8C6-AF554C559FFA}"/>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C71D91F8-3403-3373-7C4F-F29C7B97996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C8C79E0E-E829-CB8A-80B7-C19C6C2BEC9D}"/>
              </a:ext>
            </a:extLst>
          </p:cNvPr>
          <p:cNvSpPr>
            <a:spLocks noGrp="1"/>
          </p:cNvSpPr>
          <p:nvPr>
            <p:ph type="dt" sz="half" idx="10"/>
          </p:nvPr>
        </p:nvSpPr>
        <p:spPr/>
        <p:txBody>
          <a:bodyPr/>
          <a:lstStyle/>
          <a:p>
            <a:fld id="{A7A69C3B-192C-4ABE-8AD2-9BDA44DCF295}" type="datetimeFigureOut">
              <a:rPr lang="nl-NL" smtClean="0"/>
              <a:t>14-7-2025</a:t>
            </a:fld>
            <a:endParaRPr lang="nl-NL"/>
          </a:p>
        </p:txBody>
      </p:sp>
      <p:sp>
        <p:nvSpPr>
          <p:cNvPr id="5" name="Footer Placeholder 4">
            <a:extLst>
              <a:ext uri="{FF2B5EF4-FFF2-40B4-BE49-F238E27FC236}">
                <a16:creationId xmlns:a16="http://schemas.microsoft.com/office/drawing/2014/main" id="{45A145F3-CE4C-099C-7D6A-ECF5EA8A7FB5}"/>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20A7D5E3-541C-3E0B-D48F-4E71223223A1}"/>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3486794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44938B-BA91-4148-41E7-E19507F010A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NL"/>
          </a:p>
        </p:txBody>
      </p:sp>
      <p:sp>
        <p:nvSpPr>
          <p:cNvPr id="3" name="Text Placeholder 2">
            <a:extLst>
              <a:ext uri="{FF2B5EF4-FFF2-40B4-BE49-F238E27FC236}">
                <a16:creationId xmlns:a16="http://schemas.microsoft.com/office/drawing/2014/main" id="{F94AA9FB-B071-2BCB-D31D-06BF76BDD0F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45483C-C391-D14E-0FDA-58F92E72CD8F}"/>
              </a:ext>
            </a:extLst>
          </p:cNvPr>
          <p:cNvSpPr>
            <a:spLocks noGrp="1"/>
          </p:cNvSpPr>
          <p:nvPr>
            <p:ph type="dt" sz="half" idx="10"/>
          </p:nvPr>
        </p:nvSpPr>
        <p:spPr/>
        <p:txBody>
          <a:bodyPr/>
          <a:lstStyle/>
          <a:p>
            <a:fld id="{A7A69C3B-192C-4ABE-8AD2-9BDA44DCF295}" type="datetimeFigureOut">
              <a:rPr lang="nl-NL" smtClean="0"/>
              <a:t>14-7-2025</a:t>
            </a:fld>
            <a:endParaRPr lang="nl-NL"/>
          </a:p>
        </p:txBody>
      </p:sp>
      <p:sp>
        <p:nvSpPr>
          <p:cNvPr id="5" name="Footer Placeholder 4">
            <a:extLst>
              <a:ext uri="{FF2B5EF4-FFF2-40B4-BE49-F238E27FC236}">
                <a16:creationId xmlns:a16="http://schemas.microsoft.com/office/drawing/2014/main" id="{1FC742EB-F6EB-A08E-C409-BC2E9178EE4A}"/>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18E566F6-2C1B-C939-9CAC-870744E69AF2}"/>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22079766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A51F19-259D-DACC-1673-18F06396F216}"/>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530435F3-CED9-3873-B354-303796148C7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Content Placeholder 3">
            <a:extLst>
              <a:ext uri="{FF2B5EF4-FFF2-40B4-BE49-F238E27FC236}">
                <a16:creationId xmlns:a16="http://schemas.microsoft.com/office/drawing/2014/main" id="{29E74DDF-3864-0C40-D43E-73FE934419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Date Placeholder 4">
            <a:extLst>
              <a:ext uri="{FF2B5EF4-FFF2-40B4-BE49-F238E27FC236}">
                <a16:creationId xmlns:a16="http://schemas.microsoft.com/office/drawing/2014/main" id="{EFE5BB81-CB73-BADD-833C-E6C08251BE4C}"/>
              </a:ext>
            </a:extLst>
          </p:cNvPr>
          <p:cNvSpPr>
            <a:spLocks noGrp="1"/>
          </p:cNvSpPr>
          <p:nvPr>
            <p:ph type="dt" sz="half" idx="10"/>
          </p:nvPr>
        </p:nvSpPr>
        <p:spPr/>
        <p:txBody>
          <a:bodyPr/>
          <a:lstStyle/>
          <a:p>
            <a:fld id="{A7A69C3B-192C-4ABE-8AD2-9BDA44DCF295}" type="datetimeFigureOut">
              <a:rPr lang="nl-NL" smtClean="0"/>
              <a:t>14-7-2025</a:t>
            </a:fld>
            <a:endParaRPr lang="nl-NL"/>
          </a:p>
        </p:txBody>
      </p:sp>
      <p:sp>
        <p:nvSpPr>
          <p:cNvPr id="6" name="Footer Placeholder 5">
            <a:extLst>
              <a:ext uri="{FF2B5EF4-FFF2-40B4-BE49-F238E27FC236}">
                <a16:creationId xmlns:a16="http://schemas.microsoft.com/office/drawing/2014/main" id="{00ECAE4F-799F-9143-5894-EC647AE6D99D}"/>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88EDFF5E-5FA0-E8D5-FA51-1CCAFA78B23F}"/>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4790824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466C7-9FC5-E197-D212-F7957359516F}"/>
              </a:ext>
            </a:extLst>
          </p:cNvPr>
          <p:cNvSpPr>
            <a:spLocks noGrp="1"/>
          </p:cNvSpPr>
          <p:nvPr>
            <p:ph type="title"/>
          </p:nvPr>
        </p:nvSpPr>
        <p:spPr>
          <a:xfrm>
            <a:off x="839788" y="365125"/>
            <a:ext cx="10515600" cy="1325563"/>
          </a:xfrm>
        </p:spPr>
        <p:txBody>
          <a:bodyPr/>
          <a:lstStyle/>
          <a:p>
            <a:r>
              <a:rPr lang="en-US"/>
              <a:t>Click to edit Master title style</a:t>
            </a:r>
            <a:endParaRPr lang="nl-NL"/>
          </a:p>
        </p:txBody>
      </p:sp>
      <p:sp>
        <p:nvSpPr>
          <p:cNvPr id="3" name="Text Placeholder 2">
            <a:extLst>
              <a:ext uri="{FF2B5EF4-FFF2-40B4-BE49-F238E27FC236}">
                <a16:creationId xmlns:a16="http://schemas.microsoft.com/office/drawing/2014/main" id="{3EEBAEFC-F861-185C-4C05-ADC84AD21E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B484965-CC8C-B52D-E6F5-67C0DC4627D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Text Placeholder 4">
            <a:extLst>
              <a:ext uri="{FF2B5EF4-FFF2-40B4-BE49-F238E27FC236}">
                <a16:creationId xmlns:a16="http://schemas.microsoft.com/office/drawing/2014/main" id="{AD9B8711-0E71-0108-0DDE-53C7572A856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26A00BF-A171-34FF-0F6E-1FE8B5D21A2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7" name="Date Placeholder 6">
            <a:extLst>
              <a:ext uri="{FF2B5EF4-FFF2-40B4-BE49-F238E27FC236}">
                <a16:creationId xmlns:a16="http://schemas.microsoft.com/office/drawing/2014/main" id="{0FBA23EF-BE76-DF80-4E67-CFF6438829FD}"/>
              </a:ext>
            </a:extLst>
          </p:cNvPr>
          <p:cNvSpPr>
            <a:spLocks noGrp="1"/>
          </p:cNvSpPr>
          <p:nvPr>
            <p:ph type="dt" sz="half" idx="10"/>
          </p:nvPr>
        </p:nvSpPr>
        <p:spPr/>
        <p:txBody>
          <a:bodyPr/>
          <a:lstStyle/>
          <a:p>
            <a:fld id="{A7A69C3B-192C-4ABE-8AD2-9BDA44DCF295}" type="datetimeFigureOut">
              <a:rPr lang="nl-NL" smtClean="0"/>
              <a:t>14-7-2025</a:t>
            </a:fld>
            <a:endParaRPr lang="nl-NL"/>
          </a:p>
        </p:txBody>
      </p:sp>
      <p:sp>
        <p:nvSpPr>
          <p:cNvPr id="8" name="Footer Placeholder 7">
            <a:extLst>
              <a:ext uri="{FF2B5EF4-FFF2-40B4-BE49-F238E27FC236}">
                <a16:creationId xmlns:a16="http://schemas.microsoft.com/office/drawing/2014/main" id="{71E14CBD-063A-DD7E-2C84-3192FB33B8DA}"/>
              </a:ext>
            </a:extLst>
          </p:cNvPr>
          <p:cNvSpPr>
            <a:spLocks noGrp="1"/>
          </p:cNvSpPr>
          <p:nvPr>
            <p:ph type="ftr" sz="quarter" idx="11"/>
          </p:nvPr>
        </p:nvSpPr>
        <p:spPr/>
        <p:txBody>
          <a:bodyPr/>
          <a:lstStyle/>
          <a:p>
            <a:endParaRPr lang="nl-NL"/>
          </a:p>
        </p:txBody>
      </p:sp>
      <p:sp>
        <p:nvSpPr>
          <p:cNvPr id="9" name="Slide Number Placeholder 8">
            <a:extLst>
              <a:ext uri="{FF2B5EF4-FFF2-40B4-BE49-F238E27FC236}">
                <a16:creationId xmlns:a16="http://schemas.microsoft.com/office/drawing/2014/main" id="{6F4BE850-9BA3-7A00-0517-39226119158E}"/>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17428913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14F81-D4BA-32EC-0E08-4A34AA6D5F70}"/>
              </a:ext>
            </a:extLst>
          </p:cNvPr>
          <p:cNvSpPr>
            <a:spLocks noGrp="1"/>
          </p:cNvSpPr>
          <p:nvPr>
            <p:ph type="title"/>
          </p:nvPr>
        </p:nvSpPr>
        <p:spPr/>
        <p:txBody>
          <a:bodyPr/>
          <a:lstStyle/>
          <a:p>
            <a:r>
              <a:rPr lang="en-US"/>
              <a:t>Click to edit Master title style</a:t>
            </a:r>
            <a:endParaRPr lang="nl-NL"/>
          </a:p>
        </p:txBody>
      </p:sp>
      <p:sp>
        <p:nvSpPr>
          <p:cNvPr id="3" name="Date Placeholder 2">
            <a:extLst>
              <a:ext uri="{FF2B5EF4-FFF2-40B4-BE49-F238E27FC236}">
                <a16:creationId xmlns:a16="http://schemas.microsoft.com/office/drawing/2014/main" id="{700C5642-7837-EF08-7070-C010D509A460}"/>
              </a:ext>
            </a:extLst>
          </p:cNvPr>
          <p:cNvSpPr>
            <a:spLocks noGrp="1"/>
          </p:cNvSpPr>
          <p:nvPr>
            <p:ph type="dt" sz="half" idx="10"/>
          </p:nvPr>
        </p:nvSpPr>
        <p:spPr/>
        <p:txBody>
          <a:bodyPr/>
          <a:lstStyle/>
          <a:p>
            <a:fld id="{A7A69C3B-192C-4ABE-8AD2-9BDA44DCF295}" type="datetimeFigureOut">
              <a:rPr lang="nl-NL" smtClean="0"/>
              <a:t>14-7-2025</a:t>
            </a:fld>
            <a:endParaRPr lang="nl-NL"/>
          </a:p>
        </p:txBody>
      </p:sp>
      <p:sp>
        <p:nvSpPr>
          <p:cNvPr id="4" name="Footer Placeholder 3">
            <a:extLst>
              <a:ext uri="{FF2B5EF4-FFF2-40B4-BE49-F238E27FC236}">
                <a16:creationId xmlns:a16="http://schemas.microsoft.com/office/drawing/2014/main" id="{4D424291-71CD-CC11-C1DC-36CC3F88EFA4}"/>
              </a:ext>
            </a:extLst>
          </p:cNvPr>
          <p:cNvSpPr>
            <a:spLocks noGrp="1"/>
          </p:cNvSpPr>
          <p:nvPr>
            <p:ph type="ftr" sz="quarter" idx="11"/>
          </p:nvPr>
        </p:nvSpPr>
        <p:spPr/>
        <p:txBody>
          <a:bodyPr/>
          <a:lstStyle/>
          <a:p>
            <a:endParaRPr lang="nl-NL"/>
          </a:p>
        </p:txBody>
      </p:sp>
      <p:sp>
        <p:nvSpPr>
          <p:cNvPr id="5" name="Slide Number Placeholder 4">
            <a:extLst>
              <a:ext uri="{FF2B5EF4-FFF2-40B4-BE49-F238E27FC236}">
                <a16:creationId xmlns:a16="http://schemas.microsoft.com/office/drawing/2014/main" id="{0E55EFFB-F3BA-D4ED-9CF3-E68AE9F813BA}"/>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18132833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C5CEBD-7B93-EFD6-66E9-4ED7EF4AC5D6}"/>
              </a:ext>
            </a:extLst>
          </p:cNvPr>
          <p:cNvSpPr>
            <a:spLocks noGrp="1"/>
          </p:cNvSpPr>
          <p:nvPr>
            <p:ph type="dt" sz="half" idx="10"/>
          </p:nvPr>
        </p:nvSpPr>
        <p:spPr/>
        <p:txBody>
          <a:bodyPr/>
          <a:lstStyle/>
          <a:p>
            <a:fld id="{A7A69C3B-192C-4ABE-8AD2-9BDA44DCF295}" type="datetimeFigureOut">
              <a:rPr lang="nl-NL" smtClean="0"/>
              <a:t>14-7-2025</a:t>
            </a:fld>
            <a:endParaRPr lang="nl-NL"/>
          </a:p>
        </p:txBody>
      </p:sp>
      <p:sp>
        <p:nvSpPr>
          <p:cNvPr id="3" name="Footer Placeholder 2">
            <a:extLst>
              <a:ext uri="{FF2B5EF4-FFF2-40B4-BE49-F238E27FC236}">
                <a16:creationId xmlns:a16="http://schemas.microsoft.com/office/drawing/2014/main" id="{65C18ADF-45A7-2041-1FEA-3E6EA903CFA6}"/>
              </a:ext>
            </a:extLst>
          </p:cNvPr>
          <p:cNvSpPr>
            <a:spLocks noGrp="1"/>
          </p:cNvSpPr>
          <p:nvPr>
            <p:ph type="ftr" sz="quarter" idx="11"/>
          </p:nvPr>
        </p:nvSpPr>
        <p:spPr/>
        <p:txBody>
          <a:bodyPr/>
          <a:lstStyle/>
          <a:p>
            <a:endParaRPr lang="nl-NL"/>
          </a:p>
        </p:txBody>
      </p:sp>
      <p:sp>
        <p:nvSpPr>
          <p:cNvPr id="4" name="Slide Number Placeholder 3">
            <a:extLst>
              <a:ext uri="{FF2B5EF4-FFF2-40B4-BE49-F238E27FC236}">
                <a16:creationId xmlns:a16="http://schemas.microsoft.com/office/drawing/2014/main" id="{D55357CD-96AA-E425-7465-290B9907AE9E}"/>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1650805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08600-1C2D-5D94-C48A-0A2ECE9A5E7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Content Placeholder 2">
            <a:extLst>
              <a:ext uri="{FF2B5EF4-FFF2-40B4-BE49-F238E27FC236}">
                <a16:creationId xmlns:a16="http://schemas.microsoft.com/office/drawing/2014/main" id="{793F15F3-AA41-1EDB-BAE9-57E1910FE3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Text Placeholder 3">
            <a:extLst>
              <a:ext uri="{FF2B5EF4-FFF2-40B4-BE49-F238E27FC236}">
                <a16:creationId xmlns:a16="http://schemas.microsoft.com/office/drawing/2014/main" id="{4D9927FD-EA53-EBB3-9123-EA4D8735637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8AED02-EA9F-2346-B222-260421C0DFDD}"/>
              </a:ext>
            </a:extLst>
          </p:cNvPr>
          <p:cNvSpPr>
            <a:spLocks noGrp="1"/>
          </p:cNvSpPr>
          <p:nvPr>
            <p:ph type="dt" sz="half" idx="10"/>
          </p:nvPr>
        </p:nvSpPr>
        <p:spPr/>
        <p:txBody>
          <a:bodyPr/>
          <a:lstStyle/>
          <a:p>
            <a:fld id="{A7A69C3B-192C-4ABE-8AD2-9BDA44DCF295}" type="datetimeFigureOut">
              <a:rPr lang="nl-NL" smtClean="0"/>
              <a:t>14-7-2025</a:t>
            </a:fld>
            <a:endParaRPr lang="nl-NL"/>
          </a:p>
        </p:txBody>
      </p:sp>
      <p:sp>
        <p:nvSpPr>
          <p:cNvPr id="6" name="Footer Placeholder 5">
            <a:extLst>
              <a:ext uri="{FF2B5EF4-FFF2-40B4-BE49-F238E27FC236}">
                <a16:creationId xmlns:a16="http://schemas.microsoft.com/office/drawing/2014/main" id="{226A5A83-3E16-F36D-94A0-4E90836049A4}"/>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95748670-929A-25D8-352C-B8031BC0F472}"/>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38267837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47E4E-09DA-C794-6E1D-CA4FA48829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Picture Placeholder 2">
            <a:extLst>
              <a:ext uri="{FF2B5EF4-FFF2-40B4-BE49-F238E27FC236}">
                <a16:creationId xmlns:a16="http://schemas.microsoft.com/office/drawing/2014/main" id="{FA0E143A-0619-F57E-A6F9-73236B2BBAA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NL"/>
          </a:p>
        </p:txBody>
      </p:sp>
      <p:sp>
        <p:nvSpPr>
          <p:cNvPr id="4" name="Text Placeholder 3">
            <a:extLst>
              <a:ext uri="{FF2B5EF4-FFF2-40B4-BE49-F238E27FC236}">
                <a16:creationId xmlns:a16="http://schemas.microsoft.com/office/drawing/2014/main" id="{EC87B388-D816-7D61-3DB3-97E07AD2F7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4D7559-AC53-DC28-7885-B026277FF27F}"/>
              </a:ext>
            </a:extLst>
          </p:cNvPr>
          <p:cNvSpPr>
            <a:spLocks noGrp="1"/>
          </p:cNvSpPr>
          <p:nvPr>
            <p:ph type="dt" sz="half" idx="10"/>
          </p:nvPr>
        </p:nvSpPr>
        <p:spPr/>
        <p:txBody>
          <a:bodyPr/>
          <a:lstStyle/>
          <a:p>
            <a:fld id="{A7A69C3B-192C-4ABE-8AD2-9BDA44DCF295}" type="datetimeFigureOut">
              <a:rPr lang="nl-NL" smtClean="0"/>
              <a:t>14-7-2025</a:t>
            </a:fld>
            <a:endParaRPr lang="nl-NL"/>
          </a:p>
        </p:txBody>
      </p:sp>
      <p:sp>
        <p:nvSpPr>
          <p:cNvPr id="6" name="Footer Placeholder 5">
            <a:extLst>
              <a:ext uri="{FF2B5EF4-FFF2-40B4-BE49-F238E27FC236}">
                <a16:creationId xmlns:a16="http://schemas.microsoft.com/office/drawing/2014/main" id="{1EF67CFA-F8FA-4C56-FE49-7D1172763A06}"/>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CA01D4B8-DE7D-071F-515C-51BD5F00FEDE}"/>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28527097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902395-AA74-B50A-0074-C1897EC546DD}"/>
              </a:ext>
            </a:extLst>
          </p:cNvPr>
          <p:cNvSpPr>
            <a:spLocks noGrp="1"/>
          </p:cNvSpPr>
          <p:nvPr>
            <p:ph type="title"/>
          </p:nvPr>
        </p:nvSpPr>
        <p:spPr/>
        <p:txBody>
          <a:bodyPr/>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6786BF2D-C9BF-C3B4-A228-CFF7820FDF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E38DDA80-B4BA-B5AB-84C7-C33532495054}"/>
              </a:ext>
            </a:extLst>
          </p:cNvPr>
          <p:cNvSpPr>
            <a:spLocks noGrp="1"/>
          </p:cNvSpPr>
          <p:nvPr>
            <p:ph type="dt" sz="half" idx="10"/>
          </p:nvPr>
        </p:nvSpPr>
        <p:spPr/>
        <p:txBody>
          <a:bodyPr/>
          <a:lstStyle/>
          <a:p>
            <a:fld id="{A7A69C3B-192C-4ABE-8AD2-9BDA44DCF295}" type="datetimeFigureOut">
              <a:rPr lang="nl-NL" smtClean="0"/>
              <a:t>14-7-2025</a:t>
            </a:fld>
            <a:endParaRPr lang="nl-NL"/>
          </a:p>
        </p:txBody>
      </p:sp>
      <p:sp>
        <p:nvSpPr>
          <p:cNvPr id="5" name="Footer Placeholder 4">
            <a:extLst>
              <a:ext uri="{FF2B5EF4-FFF2-40B4-BE49-F238E27FC236}">
                <a16:creationId xmlns:a16="http://schemas.microsoft.com/office/drawing/2014/main" id="{743992AD-3CBC-DCBC-0DC5-7A74C004C6BC}"/>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177FC7C2-639B-F34D-AABA-CD2C96833A10}"/>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3421262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1F9DD3-8803-6BA3-FBC8-065BF972EAC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5027A037-BA50-4B19-DBF1-0DE82580BA9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8B8D16D4-C186-E0D6-5397-8A9D27C49F19}"/>
              </a:ext>
            </a:extLst>
          </p:cNvPr>
          <p:cNvSpPr>
            <a:spLocks noGrp="1"/>
          </p:cNvSpPr>
          <p:nvPr>
            <p:ph type="dt" sz="half" idx="10"/>
          </p:nvPr>
        </p:nvSpPr>
        <p:spPr/>
        <p:txBody>
          <a:bodyPr/>
          <a:lstStyle/>
          <a:p>
            <a:fld id="{A7A69C3B-192C-4ABE-8AD2-9BDA44DCF295}" type="datetimeFigureOut">
              <a:rPr lang="nl-NL" smtClean="0"/>
              <a:t>14-7-2025</a:t>
            </a:fld>
            <a:endParaRPr lang="nl-NL"/>
          </a:p>
        </p:txBody>
      </p:sp>
      <p:sp>
        <p:nvSpPr>
          <p:cNvPr id="5" name="Footer Placeholder 4">
            <a:extLst>
              <a:ext uri="{FF2B5EF4-FFF2-40B4-BE49-F238E27FC236}">
                <a16:creationId xmlns:a16="http://schemas.microsoft.com/office/drawing/2014/main" id="{B162B537-BAF6-3C77-13BA-79E7334EDC57}"/>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40A1DB2F-3B1D-C839-5214-52EB8EB651BB}"/>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7079308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5FE9DE-5A40-6FD7-E90C-FE36B859653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NL"/>
          </a:p>
        </p:txBody>
      </p:sp>
      <p:sp>
        <p:nvSpPr>
          <p:cNvPr id="3" name="Text Placeholder 2">
            <a:extLst>
              <a:ext uri="{FF2B5EF4-FFF2-40B4-BE49-F238E27FC236}">
                <a16:creationId xmlns:a16="http://schemas.microsoft.com/office/drawing/2014/main" id="{6E582FB0-E9C0-46CE-B838-05FB3636E81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19017FE0-3F12-72F2-A4E1-EC7E6409F90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A69C3B-192C-4ABE-8AD2-9BDA44DCF295}" type="datetimeFigureOut">
              <a:rPr lang="nl-NL" smtClean="0"/>
              <a:t>14-7-2025</a:t>
            </a:fld>
            <a:endParaRPr lang="nl-NL"/>
          </a:p>
        </p:txBody>
      </p:sp>
      <p:sp>
        <p:nvSpPr>
          <p:cNvPr id="5" name="Footer Placeholder 4">
            <a:extLst>
              <a:ext uri="{FF2B5EF4-FFF2-40B4-BE49-F238E27FC236}">
                <a16:creationId xmlns:a16="http://schemas.microsoft.com/office/drawing/2014/main" id="{9C2FB952-011F-CA2B-CC5D-E5CAB9CD9E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l-NL"/>
          </a:p>
        </p:txBody>
      </p:sp>
      <p:sp>
        <p:nvSpPr>
          <p:cNvPr id="6" name="Slide Number Placeholder 5">
            <a:extLst>
              <a:ext uri="{FF2B5EF4-FFF2-40B4-BE49-F238E27FC236}">
                <a16:creationId xmlns:a16="http://schemas.microsoft.com/office/drawing/2014/main" id="{86DF49BE-08F5-560D-86AA-F3701EDD1C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C0A9F8-F45E-47EC-B75F-3078FD9E26F7}" type="slidenum">
              <a:rPr lang="nl-NL" smtClean="0"/>
              <a:t>‹#›</a:t>
            </a:fld>
            <a:endParaRPr lang="nl-NL"/>
          </a:p>
        </p:txBody>
      </p:sp>
    </p:spTree>
    <p:extLst>
      <p:ext uri="{BB962C8B-B14F-4D97-AF65-F5344CB8AC3E}">
        <p14:creationId xmlns:p14="http://schemas.microsoft.com/office/powerpoint/2010/main" val="27433127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1.png"/><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2.svg"/><Relationship Id="rId9" Type="http://schemas.microsoft.com/office/2007/relationships/diagramDrawing" Target="../diagrams/drawing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F035BC7-E861-84E0-F834-46516AF2DEEF}"/>
              </a:ext>
            </a:extLst>
          </p:cNvPr>
          <p:cNvSpPr>
            <a:spLocks noGrp="1"/>
          </p:cNvSpPr>
          <p:nvPr>
            <p:ph type="ctrTitle"/>
          </p:nvPr>
        </p:nvSpPr>
        <p:spPr/>
        <p:txBody>
          <a:bodyPr/>
          <a:lstStyle/>
          <a:p>
            <a:r>
              <a:rPr lang="en-GB" dirty="0"/>
              <a:t>SpeciesViewer</a:t>
            </a:r>
            <a:endParaRPr lang="nl-NL" dirty="0"/>
          </a:p>
        </p:txBody>
      </p:sp>
      <p:sp>
        <p:nvSpPr>
          <p:cNvPr id="5" name="Subtitle 4">
            <a:extLst>
              <a:ext uri="{FF2B5EF4-FFF2-40B4-BE49-F238E27FC236}">
                <a16:creationId xmlns:a16="http://schemas.microsoft.com/office/drawing/2014/main" id="{47E5B9C9-9AE6-8D27-5F51-4565BD675716}"/>
              </a:ext>
            </a:extLst>
          </p:cNvPr>
          <p:cNvSpPr>
            <a:spLocks noGrp="1"/>
          </p:cNvSpPr>
          <p:nvPr>
            <p:ph type="subTitle" idx="1"/>
          </p:nvPr>
        </p:nvSpPr>
        <p:spPr/>
        <p:txBody>
          <a:bodyPr/>
          <a:lstStyle/>
          <a:p>
            <a:r>
              <a:rPr lang="en-GB" dirty="0"/>
              <a:t>Implementation notes</a:t>
            </a:r>
            <a:endParaRPr lang="nl-NL" dirty="0"/>
          </a:p>
        </p:txBody>
      </p:sp>
    </p:spTree>
    <p:extLst>
      <p:ext uri="{BB962C8B-B14F-4D97-AF65-F5344CB8AC3E}">
        <p14:creationId xmlns:p14="http://schemas.microsoft.com/office/powerpoint/2010/main" val="95033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Rounded Corners 30">
            <a:extLst>
              <a:ext uri="{FF2B5EF4-FFF2-40B4-BE49-F238E27FC236}">
                <a16:creationId xmlns:a16="http://schemas.microsoft.com/office/drawing/2014/main" id="{B1735BB9-E650-CD0F-1217-D39A17824557}"/>
              </a:ext>
            </a:extLst>
          </p:cNvPr>
          <p:cNvSpPr/>
          <p:nvPr/>
        </p:nvSpPr>
        <p:spPr>
          <a:xfrm>
            <a:off x="5961747" y="4292559"/>
            <a:ext cx="2034723" cy="1993357"/>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nchorCtr="1"/>
          <a:lstStyle/>
          <a:p>
            <a:pPr algn="ctr"/>
            <a:r>
              <a:rPr lang="en-GB" sz="1400" dirty="0">
                <a:solidFill>
                  <a:srgbClr val="FF0000"/>
                </a:solidFill>
              </a:rPr>
              <a:t>repository</a:t>
            </a:r>
            <a:endParaRPr lang="nl-NL" sz="1400" dirty="0">
              <a:solidFill>
                <a:srgbClr val="FF0000"/>
              </a:solidFill>
            </a:endParaRPr>
          </a:p>
        </p:txBody>
      </p:sp>
      <p:sp>
        <p:nvSpPr>
          <p:cNvPr id="30" name="Rectangle: Rounded Corners 29">
            <a:extLst>
              <a:ext uri="{FF2B5EF4-FFF2-40B4-BE49-F238E27FC236}">
                <a16:creationId xmlns:a16="http://schemas.microsoft.com/office/drawing/2014/main" id="{74E196A1-0A3E-D921-849F-8959F0461F49}"/>
              </a:ext>
            </a:extLst>
          </p:cNvPr>
          <p:cNvSpPr/>
          <p:nvPr/>
        </p:nvSpPr>
        <p:spPr>
          <a:xfrm>
            <a:off x="3539637" y="4302177"/>
            <a:ext cx="2034723" cy="1993357"/>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nchorCtr="1"/>
          <a:lstStyle/>
          <a:p>
            <a:pPr algn="ctr"/>
            <a:r>
              <a:rPr lang="en-GB" sz="1400" dirty="0">
                <a:solidFill>
                  <a:srgbClr val="FF0000"/>
                </a:solidFill>
              </a:rPr>
              <a:t>repository</a:t>
            </a:r>
            <a:endParaRPr lang="nl-NL" sz="1400" dirty="0">
              <a:solidFill>
                <a:srgbClr val="FF0000"/>
              </a:solidFill>
            </a:endParaRPr>
          </a:p>
        </p:txBody>
      </p:sp>
      <p:sp>
        <p:nvSpPr>
          <p:cNvPr id="29" name="Rectangle: Rounded Corners 28">
            <a:extLst>
              <a:ext uri="{FF2B5EF4-FFF2-40B4-BE49-F238E27FC236}">
                <a16:creationId xmlns:a16="http://schemas.microsoft.com/office/drawing/2014/main" id="{65EA22B0-6AC3-646A-A7C0-43BF22FF6AE6}"/>
              </a:ext>
            </a:extLst>
          </p:cNvPr>
          <p:cNvSpPr/>
          <p:nvPr/>
        </p:nvSpPr>
        <p:spPr>
          <a:xfrm>
            <a:off x="646268" y="2726011"/>
            <a:ext cx="2387217" cy="2138184"/>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nchorCtr="1"/>
          <a:lstStyle/>
          <a:p>
            <a:pPr algn="ctr"/>
            <a:r>
              <a:rPr lang="en-GB" dirty="0">
                <a:solidFill>
                  <a:srgbClr val="FF0000"/>
                </a:solidFill>
              </a:rPr>
              <a:t>repository</a:t>
            </a:r>
            <a:endParaRPr lang="nl-NL" dirty="0">
              <a:solidFill>
                <a:srgbClr val="FF0000"/>
              </a:solidFill>
            </a:endParaRPr>
          </a:p>
        </p:txBody>
      </p:sp>
      <p:sp>
        <p:nvSpPr>
          <p:cNvPr id="2" name="Cylinder 1">
            <a:extLst>
              <a:ext uri="{FF2B5EF4-FFF2-40B4-BE49-F238E27FC236}">
                <a16:creationId xmlns:a16="http://schemas.microsoft.com/office/drawing/2014/main" id="{A581A054-7803-7D19-B22B-115DEF2D63A9}"/>
              </a:ext>
            </a:extLst>
          </p:cNvPr>
          <p:cNvSpPr/>
          <p:nvPr/>
        </p:nvSpPr>
        <p:spPr>
          <a:xfrm>
            <a:off x="1196283" y="2873828"/>
            <a:ext cx="1285660" cy="921275"/>
          </a:xfrm>
          <a:prstGeom prst="can">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Master</a:t>
            </a:r>
          </a:p>
          <a:p>
            <a:pPr algn="ctr"/>
            <a:r>
              <a:rPr lang="en-GB" dirty="0"/>
              <a:t>(nature)</a:t>
            </a:r>
            <a:endParaRPr lang="nl-NL" dirty="0"/>
          </a:p>
        </p:txBody>
      </p:sp>
      <p:sp>
        <p:nvSpPr>
          <p:cNvPr id="3" name="Cylinder 2">
            <a:extLst>
              <a:ext uri="{FF2B5EF4-FFF2-40B4-BE49-F238E27FC236}">
                <a16:creationId xmlns:a16="http://schemas.microsoft.com/office/drawing/2014/main" id="{CAFB5B68-81C7-09FB-2D31-55CEDA79F4AE}"/>
              </a:ext>
            </a:extLst>
          </p:cNvPr>
          <p:cNvSpPr/>
          <p:nvPr/>
        </p:nvSpPr>
        <p:spPr>
          <a:xfrm>
            <a:off x="5025248" y="2877266"/>
            <a:ext cx="1349529" cy="529390"/>
          </a:xfrm>
          <a:prstGeom prst="can">
            <a:avLst>
              <a:gd name="adj" fmla="val 23701"/>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Trips</a:t>
            </a:r>
          </a:p>
        </p:txBody>
      </p:sp>
      <p:sp>
        <p:nvSpPr>
          <p:cNvPr id="6" name="Cylinder 5">
            <a:extLst>
              <a:ext uri="{FF2B5EF4-FFF2-40B4-BE49-F238E27FC236}">
                <a16:creationId xmlns:a16="http://schemas.microsoft.com/office/drawing/2014/main" id="{27C0BE62-8244-0F6C-185D-4527DF9E0F42}"/>
              </a:ext>
            </a:extLst>
          </p:cNvPr>
          <p:cNvSpPr/>
          <p:nvPr/>
        </p:nvSpPr>
        <p:spPr>
          <a:xfrm>
            <a:off x="4126106" y="4405139"/>
            <a:ext cx="899142" cy="780903"/>
          </a:xfrm>
          <a:prstGeom prst="can">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600" dirty="0"/>
              <a:t>Trip 1</a:t>
            </a:r>
          </a:p>
          <a:p>
            <a:pPr algn="ctr"/>
            <a:r>
              <a:rPr lang="en-GB" dirty="0"/>
              <a:t>(</a:t>
            </a:r>
            <a:r>
              <a:rPr lang="en-GB" sz="1600" dirty="0"/>
              <a:t>safari</a:t>
            </a:r>
            <a:r>
              <a:rPr lang="en-GB" dirty="0"/>
              <a:t>)</a:t>
            </a:r>
            <a:endParaRPr lang="nl-NL" dirty="0"/>
          </a:p>
        </p:txBody>
      </p:sp>
      <p:sp>
        <p:nvSpPr>
          <p:cNvPr id="7" name="Cylinder 6">
            <a:extLst>
              <a:ext uri="{FF2B5EF4-FFF2-40B4-BE49-F238E27FC236}">
                <a16:creationId xmlns:a16="http://schemas.microsoft.com/office/drawing/2014/main" id="{67BA7AC7-1097-266C-AAC3-F40EDEA38EED}"/>
              </a:ext>
            </a:extLst>
          </p:cNvPr>
          <p:cNvSpPr/>
          <p:nvPr/>
        </p:nvSpPr>
        <p:spPr>
          <a:xfrm>
            <a:off x="6414111" y="4395519"/>
            <a:ext cx="899142" cy="780903"/>
          </a:xfrm>
          <a:prstGeom prst="can">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600" dirty="0"/>
              <a:t>Trip n</a:t>
            </a:r>
          </a:p>
          <a:p>
            <a:pPr algn="ctr"/>
            <a:r>
              <a:rPr lang="en-GB" sz="1600" dirty="0"/>
              <a:t>(</a:t>
            </a:r>
            <a:r>
              <a:rPr lang="en-GB" sz="1600" dirty="0" err="1"/>
              <a:t>spain</a:t>
            </a:r>
            <a:r>
              <a:rPr lang="en-GB" sz="1600" dirty="0"/>
              <a:t>)</a:t>
            </a:r>
            <a:endParaRPr lang="nl-NL" sz="1600" dirty="0"/>
          </a:p>
        </p:txBody>
      </p:sp>
      <p:sp>
        <p:nvSpPr>
          <p:cNvPr id="8" name="TextBox 7">
            <a:extLst>
              <a:ext uri="{FF2B5EF4-FFF2-40B4-BE49-F238E27FC236}">
                <a16:creationId xmlns:a16="http://schemas.microsoft.com/office/drawing/2014/main" id="{5DBCF3E6-1ACB-6F4D-7BF1-6A44AC7664B3}"/>
              </a:ext>
            </a:extLst>
          </p:cNvPr>
          <p:cNvSpPr txBox="1"/>
          <p:nvPr/>
        </p:nvSpPr>
        <p:spPr>
          <a:xfrm>
            <a:off x="5503586" y="4601304"/>
            <a:ext cx="515501" cy="369332"/>
          </a:xfrm>
          <a:prstGeom prst="rect">
            <a:avLst/>
          </a:prstGeom>
          <a:noFill/>
        </p:spPr>
        <p:txBody>
          <a:bodyPr wrap="square" rtlCol="0">
            <a:spAutoFit/>
          </a:bodyPr>
          <a:lstStyle/>
          <a:p>
            <a:r>
              <a:rPr lang="en-GB" dirty="0"/>
              <a:t>. . .  </a:t>
            </a:r>
            <a:endParaRPr lang="nl-NL" dirty="0"/>
          </a:p>
        </p:txBody>
      </p:sp>
      <p:sp>
        <p:nvSpPr>
          <p:cNvPr id="9" name="Flowchart: Magnetic Disk 8">
            <a:extLst>
              <a:ext uri="{FF2B5EF4-FFF2-40B4-BE49-F238E27FC236}">
                <a16:creationId xmlns:a16="http://schemas.microsoft.com/office/drawing/2014/main" id="{7EC838AA-A87A-A1F2-A33C-E15D39EF56EC}"/>
              </a:ext>
            </a:extLst>
          </p:cNvPr>
          <p:cNvSpPr/>
          <p:nvPr/>
        </p:nvSpPr>
        <p:spPr>
          <a:xfrm>
            <a:off x="1050694" y="3958162"/>
            <a:ext cx="715019" cy="455619"/>
          </a:xfrm>
          <a:prstGeom prst="flowChartMagneticDisk">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disk</a:t>
            </a:r>
            <a:endParaRPr lang="nl-NL" dirty="0"/>
          </a:p>
        </p:txBody>
      </p:sp>
      <p:grpSp>
        <p:nvGrpSpPr>
          <p:cNvPr id="14" name="Group 13">
            <a:extLst>
              <a:ext uri="{FF2B5EF4-FFF2-40B4-BE49-F238E27FC236}">
                <a16:creationId xmlns:a16="http://schemas.microsoft.com/office/drawing/2014/main" id="{1B899FBE-5A97-1537-F56D-0EEABBD380C6}"/>
              </a:ext>
            </a:extLst>
          </p:cNvPr>
          <p:cNvGrpSpPr/>
          <p:nvPr/>
        </p:nvGrpSpPr>
        <p:grpSpPr>
          <a:xfrm>
            <a:off x="3816117" y="5186042"/>
            <a:ext cx="1490010" cy="730450"/>
            <a:chOff x="3981121" y="3529122"/>
            <a:chExt cx="1490010" cy="730450"/>
          </a:xfrm>
        </p:grpSpPr>
        <p:pic>
          <p:nvPicPr>
            <p:cNvPr id="11" name="Graphic 10" descr="Web design with solid fill">
              <a:extLst>
                <a:ext uri="{FF2B5EF4-FFF2-40B4-BE49-F238E27FC236}">
                  <a16:creationId xmlns:a16="http://schemas.microsoft.com/office/drawing/2014/main" id="{7112DA1B-CE43-A880-3665-AE5BACC7F36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740681" y="3529122"/>
              <a:ext cx="730450" cy="730450"/>
            </a:xfrm>
            <a:prstGeom prst="rect">
              <a:avLst/>
            </a:prstGeom>
          </p:spPr>
        </p:pic>
        <p:sp>
          <p:nvSpPr>
            <p:cNvPr id="12" name="Flowchart: Magnetic Disk 11">
              <a:extLst>
                <a:ext uri="{FF2B5EF4-FFF2-40B4-BE49-F238E27FC236}">
                  <a16:creationId xmlns:a16="http://schemas.microsoft.com/office/drawing/2014/main" id="{DE254100-443B-B95E-9F68-490391D76DFD}"/>
                </a:ext>
              </a:extLst>
            </p:cNvPr>
            <p:cNvSpPr/>
            <p:nvPr/>
          </p:nvSpPr>
          <p:spPr>
            <a:xfrm>
              <a:off x="3981121" y="3672483"/>
              <a:ext cx="715019" cy="455619"/>
            </a:xfrm>
            <a:prstGeom prst="flowChartMagneticDisk">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600" dirty="0"/>
                <a:t>disk</a:t>
              </a:r>
              <a:endParaRPr lang="nl-NL" sz="1600" dirty="0"/>
            </a:p>
          </p:txBody>
        </p:sp>
      </p:grpSp>
      <p:pic>
        <p:nvPicPr>
          <p:cNvPr id="13" name="Graphic 12" descr="Web design with solid fill">
            <a:extLst>
              <a:ext uri="{FF2B5EF4-FFF2-40B4-BE49-F238E27FC236}">
                <a16:creationId xmlns:a16="http://schemas.microsoft.com/office/drawing/2014/main" id="{E3D8442F-B70F-8EAA-3A78-AD52F191CA0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98465" y="3820746"/>
            <a:ext cx="730450" cy="730450"/>
          </a:xfrm>
          <a:prstGeom prst="rect">
            <a:avLst/>
          </a:prstGeom>
        </p:spPr>
      </p:pic>
      <p:grpSp>
        <p:nvGrpSpPr>
          <p:cNvPr id="15" name="Group 14">
            <a:extLst>
              <a:ext uri="{FF2B5EF4-FFF2-40B4-BE49-F238E27FC236}">
                <a16:creationId xmlns:a16="http://schemas.microsoft.com/office/drawing/2014/main" id="{5CD20E6C-64E1-2D14-2289-D1257799D977}"/>
              </a:ext>
            </a:extLst>
          </p:cNvPr>
          <p:cNvGrpSpPr/>
          <p:nvPr/>
        </p:nvGrpSpPr>
        <p:grpSpPr>
          <a:xfrm>
            <a:off x="6118677" y="5145878"/>
            <a:ext cx="1490010" cy="730450"/>
            <a:chOff x="3981121" y="3529122"/>
            <a:chExt cx="1490010" cy="730450"/>
          </a:xfrm>
        </p:grpSpPr>
        <p:pic>
          <p:nvPicPr>
            <p:cNvPr id="16" name="Graphic 15" descr="Web design with solid fill">
              <a:extLst>
                <a:ext uri="{FF2B5EF4-FFF2-40B4-BE49-F238E27FC236}">
                  <a16:creationId xmlns:a16="http://schemas.microsoft.com/office/drawing/2014/main" id="{335C3B30-4543-4759-CFA4-FB6970C7F44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740681" y="3529122"/>
              <a:ext cx="730450" cy="730450"/>
            </a:xfrm>
            <a:prstGeom prst="rect">
              <a:avLst/>
            </a:prstGeom>
          </p:spPr>
        </p:pic>
        <p:sp>
          <p:nvSpPr>
            <p:cNvPr id="17" name="Flowchart: Magnetic Disk 16">
              <a:extLst>
                <a:ext uri="{FF2B5EF4-FFF2-40B4-BE49-F238E27FC236}">
                  <a16:creationId xmlns:a16="http://schemas.microsoft.com/office/drawing/2014/main" id="{94BE695D-A071-59E9-27D0-2D930DD961E4}"/>
                </a:ext>
              </a:extLst>
            </p:cNvPr>
            <p:cNvSpPr/>
            <p:nvPr/>
          </p:nvSpPr>
          <p:spPr>
            <a:xfrm>
              <a:off x="3981121" y="3672483"/>
              <a:ext cx="715019" cy="455619"/>
            </a:xfrm>
            <a:prstGeom prst="flowChartMagneticDisk">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600" dirty="0"/>
                <a:t>disk</a:t>
              </a:r>
              <a:endParaRPr lang="nl-NL" sz="1600" dirty="0"/>
            </a:p>
          </p:txBody>
        </p:sp>
      </p:grpSp>
      <p:cxnSp>
        <p:nvCxnSpPr>
          <p:cNvPr id="19" name="Straight Arrow Connector 18">
            <a:extLst>
              <a:ext uri="{FF2B5EF4-FFF2-40B4-BE49-F238E27FC236}">
                <a16:creationId xmlns:a16="http://schemas.microsoft.com/office/drawing/2014/main" id="{F7C3B1C2-56FE-015C-6316-D611866B8003}"/>
              </a:ext>
            </a:extLst>
          </p:cNvPr>
          <p:cNvCxnSpPr>
            <a:cxnSpLocks/>
            <a:endCxn id="29" idx="0"/>
          </p:cNvCxnSpPr>
          <p:nvPr/>
        </p:nvCxnSpPr>
        <p:spPr>
          <a:xfrm flipH="1">
            <a:off x="1839877" y="2029898"/>
            <a:ext cx="1699760" cy="696113"/>
          </a:xfrm>
          <a:prstGeom prst="straightConnector1">
            <a:avLst/>
          </a:prstGeom>
          <a:ln>
            <a:headEnd type="none" w="med" len="med"/>
            <a:tailEnd type="stealth" w="med" len="med"/>
          </a:ln>
        </p:spPr>
        <p:style>
          <a:lnRef idx="3">
            <a:schemeClr val="accent1"/>
          </a:lnRef>
          <a:fillRef idx="0">
            <a:schemeClr val="accent1"/>
          </a:fillRef>
          <a:effectRef idx="2">
            <a:schemeClr val="accent1"/>
          </a:effectRef>
          <a:fontRef idx="minor">
            <a:schemeClr val="tx1"/>
          </a:fontRef>
        </p:style>
      </p:cxnSp>
      <p:cxnSp>
        <p:nvCxnSpPr>
          <p:cNvPr id="20" name="Straight Arrow Connector 19">
            <a:extLst>
              <a:ext uri="{FF2B5EF4-FFF2-40B4-BE49-F238E27FC236}">
                <a16:creationId xmlns:a16="http://schemas.microsoft.com/office/drawing/2014/main" id="{EF2809C2-88C9-F279-6422-F37A0F37A460}"/>
              </a:ext>
            </a:extLst>
          </p:cNvPr>
          <p:cNvCxnSpPr>
            <a:cxnSpLocks/>
            <a:stCxn id="23" idx="4"/>
            <a:endCxn id="3" idx="1"/>
          </p:cNvCxnSpPr>
          <p:nvPr/>
        </p:nvCxnSpPr>
        <p:spPr>
          <a:xfrm>
            <a:off x="3816117" y="2017868"/>
            <a:ext cx="1883896" cy="859398"/>
          </a:xfrm>
          <a:prstGeom prst="straightConnector1">
            <a:avLst/>
          </a:prstGeom>
          <a:ln w="25400">
            <a:headEnd type="none" w="med" len="med"/>
            <a:tailEnd type="stealth" w="med" len="med"/>
          </a:ln>
        </p:spPr>
        <p:style>
          <a:lnRef idx="2">
            <a:schemeClr val="accent1"/>
          </a:lnRef>
          <a:fillRef idx="0">
            <a:schemeClr val="accent1"/>
          </a:fillRef>
          <a:effectRef idx="1">
            <a:schemeClr val="accent1"/>
          </a:effectRef>
          <a:fontRef idx="minor">
            <a:schemeClr val="tx1"/>
          </a:fontRef>
        </p:style>
      </p:cxnSp>
      <p:sp>
        <p:nvSpPr>
          <p:cNvPr id="23" name="Flowchart: Magnetic Disk 22">
            <a:extLst>
              <a:ext uri="{FF2B5EF4-FFF2-40B4-BE49-F238E27FC236}">
                <a16:creationId xmlns:a16="http://schemas.microsoft.com/office/drawing/2014/main" id="{8179A676-1461-20D0-76FB-80D850C2B956}"/>
              </a:ext>
            </a:extLst>
          </p:cNvPr>
          <p:cNvSpPr/>
          <p:nvPr/>
        </p:nvSpPr>
        <p:spPr>
          <a:xfrm>
            <a:off x="3526972" y="1931928"/>
            <a:ext cx="289145" cy="171879"/>
          </a:xfrm>
          <a:prstGeom prst="flowChartMagneticDisk">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nl-NL"/>
          </a:p>
        </p:txBody>
      </p:sp>
      <p:cxnSp>
        <p:nvCxnSpPr>
          <p:cNvPr id="24" name="Straight Arrow Connector 23">
            <a:extLst>
              <a:ext uri="{FF2B5EF4-FFF2-40B4-BE49-F238E27FC236}">
                <a16:creationId xmlns:a16="http://schemas.microsoft.com/office/drawing/2014/main" id="{9FC8AF25-1EB7-B1A8-8A29-DC17603F3013}"/>
              </a:ext>
            </a:extLst>
          </p:cNvPr>
          <p:cNvCxnSpPr>
            <a:cxnSpLocks/>
            <a:endCxn id="31" idx="0"/>
          </p:cNvCxnSpPr>
          <p:nvPr/>
        </p:nvCxnSpPr>
        <p:spPr>
          <a:xfrm>
            <a:off x="5774770" y="3406656"/>
            <a:ext cx="1204339" cy="885903"/>
          </a:xfrm>
          <a:prstGeom prst="straightConnector1">
            <a:avLst/>
          </a:prstGeom>
          <a:ln w="25400">
            <a:headEnd type="none" w="med" len="med"/>
            <a:tailEnd type="stealth" w="med" len="med"/>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BFA88BA9-6E92-70B0-6D52-AB34A640EEDC}"/>
              </a:ext>
            </a:extLst>
          </p:cNvPr>
          <p:cNvCxnSpPr>
            <a:cxnSpLocks/>
            <a:stCxn id="3" idx="3"/>
            <a:endCxn id="30" idx="0"/>
          </p:cNvCxnSpPr>
          <p:nvPr/>
        </p:nvCxnSpPr>
        <p:spPr>
          <a:xfrm flipH="1">
            <a:off x="4556999" y="3406656"/>
            <a:ext cx="1143014" cy="895521"/>
          </a:xfrm>
          <a:prstGeom prst="straightConnector1">
            <a:avLst/>
          </a:prstGeom>
          <a:ln w="25400">
            <a:headEnd type="none" w="med" len="med"/>
            <a:tailEnd type="stealth" w="med" len="med"/>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EF11DD23-4EB9-1360-B6C8-527539B591F3}"/>
              </a:ext>
            </a:extLst>
          </p:cNvPr>
          <p:cNvSpPr txBox="1"/>
          <p:nvPr/>
        </p:nvSpPr>
        <p:spPr>
          <a:xfrm>
            <a:off x="8333797" y="1644888"/>
            <a:ext cx="3719476" cy="4801314"/>
          </a:xfrm>
          <a:prstGeom prst="rect">
            <a:avLst/>
          </a:prstGeom>
          <a:noFill/>
        </p:spPr>
        <p:txBody>
          <a:bodyPr wrap="square" rtlCol="0">
            <a:spAutoFit/>
          </a:bodyPr>
          <a:lstStyle/>
          <a:p>
            <a:r>
              <a:rPr lang="en-GB" dirty="0"/>
              <a:t>Location on local servers</a:t>
            </a:r>
          </a:p>
          <a:p>
            <a:endParaRPr lang="en-GB" dirty="0"/>
          </a:p>
          <a:p>
            <a:r>
              <a:rPr lang="en-GB" dirty="0"/>
              <a:t>Master repository:</a:t>
            </a:r>
          </a:p>
          <a:p>
            <a:r>
              <a:rPr lang="en-GB" dirty="0"/>
              <a:t>Disk: E:\dropbox\nature</a:t>
            </a:r>
          </a:p>
          <a:p>
            <a:r>
              <a:rPr lang="en-GB" dirty="0"/>
              <a:t>URL: https:// .. /nature</a:t>
            </a:r>
          </a:p>
          <a:p>
            <a:endParaRPr lang="en-GB" dirty="0"/>
          </a:p>
          <a:p>
            <a:r>
              <a:rPr lang="en-GB" dirty="0"/>
              <a:t>Trips have their own hierarchy:</a:t>
            </a:r>
          </a:p>
          <a:p>
            <a:r>
              <a:rPr lang="en-GB" dirty="0"/>
              <a:t>Disk: E:\dropbox\trips\safaridb</a:t>
            </a:r>
          </a:p>
          <a:p>
            <a:r>
              <a:rPr lang="en-GB" dirty="0"/>
              <a:t>URL: https:// .. /trips/safari</a:t>
            </a:r>
          </a:p>
          <a:p>
            <a:endParaRPr lang="en-GB" dirty="0"/>
          </a:p>
          <a:p>
            <a:r>
              <a:rPr lang="en-GB" dirty="0"/>
              <a:t> </a:t>
            </a:r>
          </a:p>
          <a:p>
            <a:r>
              <a:rPr lang="en-GB" dirty="0"/>
              <a:t>Disk: E:\dropbox\trips\spain2024</a:t>
            </a:r>
          </a:p>
          <a:p>
            <a:r>
              <a:rPr lang="en-GB" dirty="0"/>
              <a:t>URL: https:// .. /trips/</a:t>
            </a:r>
            <a:r>
              <a:rPr lang="en-GB" dirty="0" err="1"/>
              <a:t>spain</a:t>
            </a:r>
            <a:endParaRPr lang="en-GB" dirty="0"/>
          </a:p>
          <a:p>
            <a:endParaRPr lang="en-GB" dirty="0"/>
          </a:p>
          <a:p>
            <a:r>
              <a:rPr lang="en-GB" dirty="0"/>
              <a:t>The last qualifier is free-format, it is used as unique ID</a:t>
            </a:r>
          </a:p>
          <a:p>
            <a:endParaRPr lang="nl-NL" dirty="0"/>
          </a:p>
        </p:txBody>
      </p:sp>
      <p:sp>
        <p:nvSpPr>
          <p:cNvPr id="43" name="Title 42">
            <a:extLst>
              <a:ext uri="{FF2B5EF4-FFF2-40B4-BE49-F238E27FC236}">
                <a16:creationId xmlns:a16="http://schemas.microsoft.com/office/drawing/2014/main" id="{4DB8E6EA-DA13-C12A-CDDE-F4660FC6B306}"/>
              </a:ext>
            </a:extLst>
          </p:cNvPr>
          <p:cNvSpPr>
            <a:spLocks noGrp="1"/>
          </p:cNvSpPr>
          <p:nvPr>
            <p:ph type="title"/>
          </p:nvPr>
        </p:nvSpPr>
        <p:spPr/>
        <p:txBody>
          <a:bodyPr/>
          <a:lstStyle/>
          <a:p>
            <a:r>
              <a:rPr lang="en-GB" dirty="0"/>
              <a:t>SpeciesViewer master and trip repository</a:t>
            </a:r>
            <a:endParaRPr lang="nl-NL" dirty="0"/>
          </a:p>
        </p:txBody>
      </p:sp>
    </p:spTree>
    <p:extLst>
      <p:ext uri="{BB962C8B-B14F-4D97-AF65-F5344CB8AC3E}">
        <p14:creationId xmlns:p14="http://schemas.microsoft.com/office/powerpoint/2010/main" val="2123959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B9BE1-DEE4-39B9-65A2-1E90E4C906A3}"/>
              </a:ext>
            </a:extLst>
          </p:cNvPr>
          <p:cNvSpPr>
            <a:spLocks noGrp="1"/>
          </p:cNvSpPr>
          <p:nvPr>
            <p:ph type="title"/>
          </p:nvPr>
        </p:nvSpPr>
        <p:spPr>
          <a:xfrm>
            <a:off x="322562" y="365125"/>
            <a:ext cx="5631352" cy="1325563"/>
          </a:xfrm>
        </p:spPr>
        <p:txBody>
          <a:bodyPr/>
          <a:lstStyle/>
          <a:p>
            <a:r>
              <a:rPr lang="en-GB" dirty="0"/>
              <a:t>Repository </a:t>
            </a:r>
            <a:br>
              <a:rPr lang="en-GB" dirty="0"/>
            </a:br>
            <a:r>
              <a:rPr lang="en-GB" sz="3200" dirty="0"/>
              <a:t>(master or trip)</a:t>
            </a:r>
            <a:endParaRPr lang="nl-NL" sz="3200" dirty="0"/>
          </a:p>
        </p:txBody>
      </p:sp>
      <p:grpSp>
        <p:nvGrpSpPr>
          <p:cNvPr id="10" name="Group 9">
            <a:extLst>
              <a:ext uri="{FF2B5EF4-FFF2-40B4-BE49-F238E27FC236}">
                <a16:creationId xmlns:a16="http://schemas.microsoft.com/office/drawing/2014/main" id="{18E648EC-493E-F2B5-03F3-6551B1D79F0B}"/>
              </a:ext>
            </a:extLst>
          </p:cNvPr>
          <p:cNvGrpSpPr/>
          <p:nvPr/>
        </p:nvGrpSpPr>
        <p:grpSpPr>
          <a:xfrm>
            <a:off x="322561" y="4660767"/>
            <a:ext cx="2138756" cy="1960037"/>
            <a:chOff x="645504" y="2671010"/>
            <a:chExt cx="2387217" cy="2138184"/>
          </a:xfrm>
        </p:grpSpPr>
        <p:sp>
          <p:nvSpPr>
            <p:cNvPr id="4" name="Rectangle: Rounded Corners 3">
              <a:extLst>
                <a:ext uri="{FF2B5EF4-FFF2-40B4-BE49-F238E27FC236}">
                  <a16:creationId xmlns:a16="http://schemas.microsoft.com/office/drawing/2014/main" id="{B49A9465-2275-5BFD-845E-C9F6EBE53132}"/>
                </a:ext>
              </a:extLst>
            </p:cNvPr>
            <p:cNvSpPr/>
            <p:nvPr/>
          </p:nvSpPr>
          <p:spPr>
            <a:xfrm>
              <a:off x="645504" y="2671010"/>
              <a:ext cx="2387217" cy="2138184"/>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nchorCtr="1"/>
            <a:lstStyle/>
            <a:p>
              <a:pPr algn="ctr"/>
              <a:r>
                <a:rPr lang="en-GB" dirty="0">
                  <a:solidFill>
                    <a:srgbClr val="FF0000"/>
                  </a:solidFill>
                </a:rPr>
                <a:t>repository</a:t>
              </a:r>
              <a:endParaRPr lang="nl-NL" dirty="0">
                <a:solidFill>
                  <a:srgbClr val="FF0000"/>
                </a:solidFill>
              </a:endParaRPr>
            </a:p>
          </p:txBody>
        </p:sp>
        <p:sp>
          <p:nvSpPr>
            <p:cNvPr id="5" name="Cylinder 4">
              <a:extLst>
                <a:ext uri="{FF2B5EF4-FFF2-40B4-BE49-F238E27FC236}">
                  <a16:creationId xmlns:a16="http://schemas.microsoft.com/office/drawing/2014/main" id="{5C155DCB-5165-902E-7B2D-FECA8897BF46}"/>
                </a:ext>
              </a:extLst>
            </p:cNvPr>
            <p:cNvSpPr/>
            <p:nvPr/>
          </p:nvSpPr>
          <p:spPr>
            <a:xfrm>
              <a:off x="1196283" y="2873828"/>
              <a:ext cx="1285660" cy="921275"/>
            </a:xfrm>
            <a:prstGeom prst="can">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Master</a:t>
              </a:r>
            </a:p>
            <a:p>
              <a:pPr algn="ctr"/>
              <a:r>
                <a:rPr lang="en-GB" dirty="0"/>
                <a:t>(nature)</a:t>
              </a:r>
              <a:endParaRPr lang="nl-NL" dirty="0"/>
            </a:p>
          </p:txBody>
        </p:sp>
        <p:sp>
          <p:nvSpPr>
            <p:cNvPr id="6" name="Flowchart: Magnetic Disk 5">
              <a:extLst>
                <a:ext uri="{FF2B5EF4-FFF2-40B4-BE49-F238E27FC236}">
                  <a16:creationId xmlns:a16="http://schemas.microsoft.com/office/drawing/2014/main" id="{BD12C619-1A83-247C-7114-3CAE1E8C5B65}"/>
                </a:ext>
              </a:extLst>
            </p:cNvPr>
            <p:cNvSpPr/>
            <p:nvPr/>
          </p:nvSpPr>
          <p:spPr>
            <a:xfrm>
              <a:off x="1050694" y="3958162"/>
              <a:ext cx="715019" cy="455619"/>
            </a:xfrm>
            <a:prstGeom prst="flowChartMagneticDisk">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disk</a:t>
              </a:r>
              <a:endParaRPr lang="nl-NL" dirty="0"/>
            </a:p>
          </p:txBody>
        </p:sp>
        <p:pic>
          <p:nvPicPr>
            <p:cNvPr id="7" name="Graphic 6" descr="Web design with solid fill">
              <a:extLst>
                <a:ext uri="{FF2B5EF4-FFF2-40B4-BE49-F238E27FC236}">
                  <a16:creationId xmlns:a16="http://schemas.microsoft.com/office/drawing/2014/main" id="{636E0360-5268-6ECF-F266-3AC29098A38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98465" y="3820746"/>
              <a:ext cx="730450" cy="730450"/>
            </a:xfrm>
            <a:prstGeom prst="rect">
              <a:avLst/>
            </a:prstGeom>
          </p:spPr>
        </p:pic>
      </p:grpSp>
      <p:graphicFrame>
        <p:nvGraphicFramePr>
          <p:cNvPr id="9" name="Diagram 8">
            <a:extLst>
              <a:ext uri="{FF2B5EF4-FFF2-40B4-BE49-F238E27FC236}">
                <a16:creationId xmlns:a16="http://schemas.microsoft.com/office/drawing/2014/main" id="{E2AAA250-2542-EAC9-0885-681B3D642296}"/>
              </a:ext>
            </a:extLst>
          </p:cNvPr>
          <p:cNvGraphicFramePr/>
          <p:nvPr>
            <p:extLst>
              <p:ext uri="{D42A27DB-BD31-4B8C-83A1-F6EECF244321}">
                <p14:modId xmlns:p14="http://schemas.microsoft.com/office/powerpoint/2010/main" val="3576874529"/>
              </p:ext>
            </p:extLst>
          </p:nvPr>
        </p:nvGraphicFramePr>
        <p:xfrm>
          <a:off x="6096000" y="628339"/>
          <a:ext cx="5843593" cy="5864536"/>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11" name="TextBox 10">
            <a:extLst>
              <a:ext uri="{FF2B5EF4-FFF2-40B4-BE49-F238E27FC236}">
                <a16:creationId xmlns:a16="http://schemas.microsoft.com/office/drawing/2014/main" id="{96154123-8AC0-7CF3-E82B-E4FFAE7186E0}"/>
              </a:ext>
            </a:extLst>
          </p:cNvPr>
          <p:cNvSpPr txBox="1"/>
          <p:nvPr/>
        </p:nvSpPr>
        <p:spPr>
          <a:xfrm>
            <a:off x="252407" y="1714194"/>
            <a:ext cx="5465774" cy="2862322"/>
          </a:xfrm>
          <a:prstGeom prst="rect">
            <a:avLst/>
          </a:prstGeom>
          <a:noFill/>
        </p:spPr>
        <p:txBody>
          <a:bodyPr wrap="square" rtlCol="0">
            <a:spAutoFit/>
          </a:bodyPr>
          <a:lstStyle/>
          <a:p>
            <a:pPr marL="285750" indent="-285750">
              <a:buFont typeface="Arial" panose="020B0604020202020204" pitchFamily="34" charset="0"/>
              <a:buChar char="•"/>
            </a:pPr>
            <a:r>
              <a:rPr lang="en-GB" b="1" dirty="0"/>
              <a:t>admin</a:t>
            </a:r>
            <a:r>
              <a:rPr lang="en-GB" dirty="0"/>
              <a:t> has a blog administration for the repository.  </a:t>
            </a:r>
          </a:p>
          <a:p>
            <a:pPr marL="285750" indent="-285750">
              <a:buFont typeface="Arial" panose="020B0604020202020204" pitchFamily="34" charset="0"/>
              <a:buChar char="•"/>
            </a:pPr>
            <a:r>
              <a:rPr lang="en-GB" b="1" dirty="0"/>
              <a:t>biota</a:t>
            </a:r>
            <a:r>
              <a:rPr lang="en-GB" dirty="0"/>
              <a:t>  contains all species pictures, hierarchical organized.  This a datastore, not aimed at publication</a:t>
            </a:r>
          </a:p>
          <a:p>
            <a:pPr marL="285750" indent="-285750">
              <a:buFont typeface="Arial" panose="020B0604020202020204" pitchFamily="34" charset="0"/>
              <a:buChar char="•"/>
            </a:pPr>
            <a:r>
              <a:rPr lang="en-GB" b="1" dirty="0"/>
              <a:t>metadata</a:t>
            </a:r>
            <a:r>
              <a:rPr lang="en-GB" dirty="0"/>
              <a:t> contains information all files and picture, as well as the species in our “cache” and what we actually have.</a:t>
            </a:r>
          </a:p>
          <a:p>
            <a:pPr marL="285750" indent="-285750">
              <a:buFont typeface="Arial" panose="020B0604020202020204" pitchFamily="34" charset="0"/>
              <a:buChar char="•"/>
            </a:pPr>
            <a:r>
              <a:rPr lang="en-GB" b="1" dirty="0"/>
              <a:t>Web</a:t>
            </a:r>
            <a:r>
              <a:rPr lang="en-GB" dirty="0"/>
              <a:t> contains a mirror of what is put on the website</a:t>
            </a:r>
          </a:p>
          <a:p>
            <a:endParaRPr lang="nl-NL" dirty="0"/>
          </a:p>
        </p:txBody>
      </p:sp>
    </p:spTree>
    <p:extLst>
      <p:ext uri="{BB962C8B-B14F-4D97-AF65-F5344CB8AC3E}">
        <p14:creationId xmlns:p14="http://schemas.microsoft.com/office/powerpoint/2010/main" val="5518862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35820-4C3C-4179-EF5A-E18D90A002F2}"/>
              </a:ext>
            </a:extLst>
          </p:cNvPr>
          <p:cNvSpPr>
            <a:spLocks noGrp="1"/>
          </p:cNvSpPr>
          <p:nvPr>
            <p:ph type="title"/>
          </p:nvPr>
        </p:nvSpPr>
        <p:spPr/>
        <p:txBody>
          <a:bodyPr/>
          <a:lstStyle/>
          <a:p>
            <a:r>
              <a:rPr lang="en-GB" dirty="0"/>
              <a:t>Files</a:t>
            </a:r>
            <a:endParaRPr lang="nl-NL" dirty="0"/>
          </a:p>
        </p:txBody>
      </p:sp>
      <p:sp>
        <p:nvSpPr>
          <p:cNvPr id="3" name="Content Placeholder 2">
            <a:extLst>
              <a:ext uri="{FF2B5EF4-FFF2-40B4-BE49-F238E27FC236}">
                <a16:creationId xmlns:a16="http://schemas.microsoft.com/office/drawing/2014/main" id="{0F9E5FB8-77D9-FC39-1FB4-CAA51B0C2FD8}"/>
              </a:ext>
            </a:extLst>
          </p:cNvPr>
          <p:cNvSpPr>
            <a:spLocks noGrp="1"/>
          </p:cNvSpPr>
          <p:nvPr>
            <p:ph idx="1"/>
          </p:nvPr>
        </p:nvSpPr>
        <p:spPr>
          <a:xfrm>
            <a:off x="838200" y="1825625"/>
            <a:ext cx="10911496" cy="4351338"/>
          </a:xfrm>
        </p:spPr>
        <p:txBody>
          <a:bodyPr>
            <a:normAutofit fontScale="70000" lnSpcReduction="20000"/>
          </a:bodyPr>
          <a:lstStyle/>
          <a:p>
            <a:pPr marL="0" indent="0">
              <a:buNone/>
            </a:pPr>
            <a:r>
              <a:rPr lang="en-GB" dirty="0"/>
              <a:t>The design is based on the concept that metadata is also be retrieved from  files.   </a:t>
            </a:r>
          </a:p>
          <a:p>
            <a:r>
              <a:rPr lang="en-GB" dirty="0"/>
              <a:t>RAWs from the camera </a:t>
            </a:r>
            <a:endParaRPr lang="en-GB" sz="2400" dirty="0"/>
          </a:p>
          <a:p>
            <a:pPr lvl="1"/>
            <a:r>
              <a:rPr lang="en-GB" sz="2000" dirty="0"/>
              <a:t>NEF or NRW  from Nikon, HEIC from Apple or ORF or from Olympus</a:t>
            </a:r>
            <a:endParaRPr lang="en-GB" dirty="0"/>
          </a:p>
          <a:p>
            <a:r>
              <a:rPr lang="en-GB" dirty="0"/>
              <a:t>XMP or DOP files with metadata </a:t>
            </a:r>
            <a:r>
              <a:rPr lang="en-GB" sz="2400" dirty="0"/>
              <a:t>(from Lightroom </a:t>
            </a:r>
            <a:r>
              <a:rPr lang="en-GB" sz="2400" dirty="0" err="1"/>
              <a:t>resp</a:t>
            </a:r>
            <a:r>
              <a:rPr lang="en-GB" sz="2400" dirty="0"/>
              <a:t> DxO </a:t>
            </a:r>
            <a:r>
              <a:rPr lang="en-GB" sz="2400" dirty="0" err="1"/>
              <a:t>PhotoLab</a:t>
            </a:r>
            <a:r>
              <a:rPr lang="en-GB" sz="2400" dirty="0"/>
              <a:t>)</a:t>
            </a:r>
          </a:p>
          <a:p>
            <a:r>
              <a:rPr lang="en-GB" dirty="0"/>
              <a:t>JPGs from the camera/iPhone, or from post-processing software</a:t>
            </a:r>
          </a:p>
          <a:p>
            <a:pPr marL="0" indent="0">
              <a:buNone/>
            </a:pPr>
            <a:r>
              <a:rPr lang="en-GB" dirty="0"/>
              <a:t>The database store in a trip is typically organized by day:</a:t>
            </a:r>
          </a:p>
          <a:p>
            <a:r>
              <a:rPr lang="nl-NL" dirty="0"/>
              <a:t>The </a:t>
            </a:r>
            <a:r>
              <a:rPr lang="nl-NL" dirty="0" err="1"/>
              <a:t>properties</a:t>
            </a:r>
            <a:r>
              <a:rPr lang="nl-NL" dirty="0"/>
              <a:t> of </a:t>
            </a:r>
            <a:r>
              <a:rPr lang="nl-NL" dirty="0" err="1"/>
              <a:t>all</a:t>
            </a:r>
            <a:r>
              <a:rPr lang="nl-NL" dirty="0"/>
              <a:t> files are </a:t>
            </a:r>
            <a:r>
              <a:rPr lang="nl-NL" dirty="0" err="1"/>
              <a:t>scanned</a:t>
            </a:r>
            <a:r>
              <a:rPr lang="nl-NL" dirty="0"/>
              <a:t> </a:t>
            </a:r>
            <a:r>
              <a:rPr lang="nl-NL" dirty="0" err="1"/>
              <a:t>with</a:t>
            </a:r>
            <a:r>
              <a:rPr lang="nl-NL" dirty="0"/>
              <a:t> </a:t>
            </a:r>
            <a:r>
              <a:rPr lang="nl-NL" sz="2400" dirty="0" err="1">
                <a:latin typeface="Courier New" panose="02070309020205020404" pitchFamily="49" charset="0"/>
                <a:cs typeface="Courier New" panose="02070309020205020404" pitchFamily="49" charset="0"/>
              </a:rPr>
              <a:t>exiftool</a:t>
            </a:r>
            <a:r>
              <a:rPr lang="nl-NL" dirty="0"/>
              <a:t> </a:t>
            </a:r>
            <a:r>
              <a:rPr lang="nl-NL" dirty="0" err="1"/>
              <a:t>and</a:t>
            </a:r>
            <a:r>
              <a:rPr lang="nl-NL" dirty="0"/>
              <a:t> </a:t>
            </a:r>
            <a:r>
              <a:rPr lang="nl-NL" dirty="0" err="1"/>
              <a:t>saved</a:t>
            </a:r>
            <a:r>
              <a:rPr lang="nl-NL" dirty="0"/>
              <a:t> in </a:t>
            </a:r>
            <a:r>
              <a:rPr lang="nl-NL" sz="2400" dirty="0">
                <a:latin typeface="Courier New" panose="02070309020205020404" pitchFamily="49" charset="0"/>
                <a:cs typeface="Courier New" panose="02070309020205020404" pitchFamily="49" charset="0"/>
              </a:rPr>
              <a:t>data_files.csv</a:t>
            </a:r>
          </a:p>
          <a:p>
            <a:r>
              <a:rPr lang="nl-NL" dirty="0"/>
              <a:t>The concept of </a:t>
            </a:r>
            <a:r>
              <a:rPr lang="nl-NL" i="1" dirty="0"/>
              <a:t>picture</a:t>
            </a:r>
            <a:r>
              <a:rPr lang="nl-NL" dirty="0"/>
              <a:t> in SpeciesViewer is a set of files </a:t>
            </a:r>
            <a:r>
              <a:rPr lang="nl-NL" dirty="0" err="1"/>
              <a:t>that</a:t>
            </a:r>
            <a:r>
              <a:rPr lang="nl-NL" dirty="0"/>
              <a:t> are </a:t>
            </a:r>
            <a:r>
              <a:rPr lang="nl-NL" dirty="0" err="1"/>
              <a:t>all</a:t>
            </a:r>
            <a:r>
              <a:rPr lang="nl-NL" dirty="0"/>
              <a:t> </a:t>
            </a:r>
            <a:r>
              <a:rPr lang="nl-NL" dirty="0" err="1"/>
              <a:t>based</a:t>
            </a:r>
            <a:r>
              <a:rPr lang="nl-NL" dirty="0"/>
              <a:t> on a single camera click: </a:t>
            </a:r>
            <a:r>
              <a:rPr lang="nl-NL" sz="2400" dirty="0">
                <a:latin typeface="Courier New" panose="02070309020205020404" pitchFamily="49" charset="0"/>
                <a:cs typeface="Courier New" panose="02070309020205020404" pitchFamily="49" charset="0"/>
              </a:rPr>
              <a:t>data_pictures.csv</a:t>
            </a:r>
            <a:r>
              <a:rPr lang="nl-NL" sz="2800" dirty="0">
                <a:latin typeface="Courier New" panose="02070309020205020404" pitchFamily="49" charset="0"/>
                <a:cs typeface="Courier New" panose="02070309020205020404" pitchFamily="49" charset="0"/>
              </a:rPr>
              <a:t>.</a:t>
            </a:r>
            <a:r>
              <a:rPr lang="nl-NL" dirty="0"/>
              <a:t>  </a:t>
            </a:r>
            <a:r>
              <a:rPr lang="nl-NL" dirty="0" err="1"/>
              <a:t>Typically</a:t>
            </a:r>
            <a:r>
              <a:rPr lang="nl-NL" dirty="0"/>
              <a:t> </a:t>
            </a:r>
            <a:r>
              <a:rPr lang="nl-NL" dirty="0" err="1"/>
              <a:t>this</a:t>
            </a:r>
            <a:r>
              <a:rPr lang="nl-NL" dirty="0"/>
              <a:t> is at </a:t>
            </a:r>
            <a:r>
              <a:rPr lang="nl-NL" dirty="0" err="1"/>
              <a:t>least</a:t>
            </a:r>
            <a:r>
              <a:rPr lang="nl-NL" dirty="0"/>
              <a:t> a </a:t>
            </a:r>
            <a:r>
              <a:rPr lang="nl-NL" dirty="0" err="1"/>
              <a:t>Raw</a:t>
            </a:r>
            <a:r>
              <a:rPr lang="nl-NL" dirty="0"/>
              <a:t> </a:t>
            </a:r>
            <a:r>
              <a:rPr lang="nl-NL" dirty="0" err="1"/>
              <a:t>and</a:t>
            </a:r>
            <a:r>
              <a:rPr lang="nl-NL" dirty="0"/>
              <a:t> XMP file, </a:t>
            </a:r>
            <a:r>
              <a:rPr lang="nl-NL" dirty="0" err="1"/>
              <a:t>optionally</a:t>
            </a:r>
            <a:r>
              <a:rPr lang="nl-NL" dirty="0"/>
              <a:t> </a:t>
            </a:r>
            <a:r>
              <a:rPr lang="nl-NL" dirty="0" err="1"/>
              <a:t>with</a:t>
            </a:r>
            <a:r>
              <a:rPr lang="nl-NL" dirty="0"/>
              <a:t> </a:t>
            </a:r>
            <a:r>
              <a:rPr lang="nl-NL" dirty="0" err="1"/>
              <a:t>JPGs</a:t>
            </a:r>
            <a:r>
              <a:rPr lang="nl-NL" dirty="0"/>
              <a:t>, DOP </a:t>
            </a:r>
            <a:r>
              <a:rPr lang="nl-NL" dirty="0" err="1"/>
              <a:t>and</a:t>
            </a:r>
            <a:r>
              <a:rPr lang="nl-NL" dirty="0"/>
              <a:t>/or DNG (Adobe </a:t>
            </a:r>
            <a:r>
              <a:rPr lang="nl-NL" dirty="0" err="1"/>
              <a:t>version</a:t>
            </a:r>
            <a:r>
              <a:rPr lang="nl-NL" dirty="0"/>
              <a:t> of </a:t>
            </a:r>
            <a:r>
              <a:rPr lang="nl-NL" dirty="0" err="1"/>
              <a:t>RAWs</a:t>
            </a:r>
            <a:r>
              <a:rPr lang="nl-NL" dirty="0"/>
              <a:t>).</a:t>
            </a:r>
          </a:p>
          <a:p>
            <a:r>
              <a:rPr lang="nl-NL" sz="2400" dirty="0">
                <a:latin typeface="Courier New" panose="02070309020205020404" pitchFamily="49" charset="0"/>
                <a:cs typeface="Courier New" panose="02070309020205020404" pitchFamily="49" charset="0"/>
              </a:rPr>
              <a:t>species.csv </a:t>
            </a:r>
            <a:r>
              <a:rPr lang="nl-NL" dirty="0" err="1"/>
              <a:t>contains</a:t>
            </a:r>
            <a:r>
              <a:rPr lang="nl-NL" dirty="0"/>
              <a:t> </a:t>
            </a:r>
            <a:r>
              <a:rPr lang="nl-NL" dirty="0" err="1"/>
              <a:t>the</a:t>
            </a:r>
            <a:r>
              <a:rPr lang="nl-NL" dirty="0"/>
              <a:t> link </a:t>
            </a:r>
            <a:r>
              <a:rPr lang="nl-NL" dirty="0" err="1"/>
              <a:t>between</a:t>
            </a:r>
            <a:r>
              <a:rPr lang="nl-NL" dirty="0"/>
              <a:t> </a:t>
            </a:r>
            <a:r>
              <a:rPr lang="nl-NL" dirty="0" err="1"/>
              <a:t>the</a:t>
            </a:r>
            <a:r>
              <a:rPr lang="nl-NL" dirty="0"/>
              <a:t> species information </a:t>
            </a:r>
            <a:r>
              <a:rPr lang="nl-NL" dirty="0" err="1"/>
              <a:t>an</a:t>
            </a:r>
            <a:r>
              <a:rPr lang="nl-NL" dirty="0"/>
              <a:t> </a:t>
            </a:r>
            <a:r>
              <a:rPr lang="nl-NL" dirty="0" err="1"/>
              <a:t>the</a:t>
            </a:r>
            <a:r>
              <a:rPr lang="nl-NL" dirty="0"/>
              <a:t> pictures </a:t>
            </a:r>
            <a:r>
              <a:rPr lang="nl-NL" dirty="0" err="1"/>
              <a:t>and</a:t>
            </a:r>
            <a:r>
              <a:rPr lang="nl-NL" dirty="0"/>
              <a:t> files.</a:t>
            </a:r>
          </a:p>
          <a:p>
            <a:r>
              <a:rPr lang="nl-NL" sz="2400" dirty="0" err="1">
                <a:latin typeface="Courier New" panose="02070309020205020404" pitchFamily="49" charset="0"/>
                <a:cs typeface="Courier New" panose="02070309020205020404" pitchFamily="49" charset="0"/>
              </a:rPr>
              <a:t>stats</a:t>
            </a:r>
            <a:r>
              <a:rPr lang="nl-NL" sz="2400" dirty="0">
                <a:latin typeface="Courier New" panose="02070309020205020404" pitchFamily="49" charset="0"/>
                <a:cs typeface="Courier New" panose="02070309020205020404" pitchFamily="49" charset="0"/>
              </a:rPr>
              <a:t> report yyyy-mm-dd.csv </a:t>
            </a:r>
            <a:r>
              <a:rPr lang="nl-NL" dirty="0" err="1"/>
              <a:t>summarizes</a:t>
            </a:r>
            <a:r>
              <a:rPr lang="nl-NL" dirty="0"/>
              <a:t> </a:t>
            </a:r>
            <a:r>
              <a:rPr lang="nl-NL" dirty="0" err="1"/>
              <a:t>the</a:t>
            </a:r>
            <a:r>
              <a:rPr lang="nl-NL" dirty="0"/>
              <a:t> species found </a:t>
            </a:r>
            <a:r>
              <a:rPr lang="nl-NL" dirty="0" err="1"/>
              <a:t>along</a:t>
            </a:r>
            <a:r>
              <a:rPr lang="nl-NL" dirty="0"/>
              <a:t> </a:t>
            </a:r>
            <a:r>
              <a:rPr lang="nl-NL" dirty="0" err="1"/>
              <a:t>with</a:t>
            </a:r>
            <a:r>
              <a:rPr lang="nl-NL" dirty="0"/>
              <a:t> more </a:t>
            </a:r>
            <a:r>
              <a:rPr lang="nl-NL" dirty="0" err="1"/>
              <a:t>statistics</a:t>
            </a:r>
            <a:r>
              <a:rPr lang="nl-NL" dirty="0"/>
              <a:t> </a:t>
            </a:r>
            <a:r>
              <a:rPr lang="nl-NL" dirty="0" err="1"/>
              <a:t>abot</a:t>
            </a:r>
            <a:r>
              <a:rPr lang="nl-NL" dirty="0"/>
              <a:t> a directory is </a:t>
            </a:r>
            <a:r>
              <a:rPr lang="nl-NL" dirty="0" err="1"/>
              <a:t>scanned</a:t>
            </a:r>
            <a:r>
              <a:rPr lang="nl-NL" dirty="0"/>
              <a:t>.</a:t>
            </a:r>
          </a:p>
          <a:p>
            <a:r>
              <a:rPr lang="nl-NL" dirty="0"/>
              <a:t>Statemachine.ini is a file </a:t>
            </a:r>
            <a:r>
              <a:rPr lang="nl-NL" dirty="0" err="1"/>
              <a:t>to</a:t>
            </a:r>
            <a:r>
              <a:rPr lang="nl-NL" dirty="0"/>
              <a:t> </a:t>
            </a:r>
            <a:r>
              <a:rPr lang="nl-NL" dirty="0" err="1"/>
              <a:t>memorize</a:t>
            </a:r>
            <a:r>
              <a:rPr lang="nl-NL" dirty="0"/>
              <a:t> </a:t>
            </a:r>
            <a:r>
              <a:rPr lang="nl-NL" dirty="0" err="1"/>
              <a:t>which</a:t>
            </a:r>
            <a:r>
              <a:rPr lang="nl-NL" dirty="0"/>
              <a:t> processing steps have been run on </a:t>
            </a:r>
            <a:r>
              <a:rPr lang="nl-NL" dirty="0" err="1"/>
              <a:t>this</a:t>
            </a:r>
            <a:r>
              <a:rPr lang="nl-NL" dirty="0"/>
              <a:t> project.</a:t>
            </a:r>
          </a:p>
        </p:txBody>
      </p:sp>
    </p:spTree>
    <p:extLst>
      <p:ext uri="{BB962C8B-B14F-4D97-AF65-F5344CB8AC3E}">
        <p14:creationId xmlns:p14="http://schemas.microsoft.com/office/powerpoint/2010/main" val="25870079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35820-4C3C-4179-EF5A-E18D90A002F2}"/>
              </a:ext>
            </a:extLst>
          </p:cNvPr>
          <p:cNvSpPr>
            <a:spLocks noGrp="1"/>
          </p:cNvSpPr>
          <p:nvPr>
            <p:ph type="title"/>
          </p:nvPr>
        </p:nvSpPr>
        <p:spPr/>
        <p:txBody>
          <a:bodyPr/>
          <a:lstStyle/>
          <a:p>
            <a:r>
              <a:rPr lang="en-GB" dirty="0"/>
              <a:t>Configuration/descriptive files</a:t>
            </a:r>
            <a:endParaRPr lang="nl-NL" dirty="0"/>
          </a:p>
        </p:txBody>
      </p:sp>
      <p:sp>
        <p:nvSpPr>
          <p:cNvPr id="3" name="Content Placeholder 2">
            <a:extLst>
              <a:ext uri="{FF2B5EF4-FFF2-40B4-BE49-F238E27FC236}">
                <a16:creationId xmlns:a16="http://schemas.microsoft.com/office/drawing/2014/main" id="{0F9E5FB8-77D9-FC39-1FB4-CAA51B0C2FD8}"/>
              </a:ext>
            </a:extLst>
          </p:cNvPr>
          <p:cNvSpPr>
            <a:spLocks noGrp="1"/>
          </p:cNvSpPr>
          <p:nvPr>
            <p:ph idx="1"/>
          </p:nvPr>
        </p:nvSpPr>
        <p:spPr>
          <a:xfrm>
            <a:off x="838200" y="1825625"/>
            <a:ext cx="10911496" cy="4351338"/>
          </a:xfrm>
        </p:spPr>
        <p:txBody>
          <a:bodyPr>
            <a:normAutofit fontScale="92500" lnSpcReduction="20000"/>
          </a:bodyPr>
          <a:lstStyle/>
          <a:p>
            <a:pPr marL="0" indent="0">
              <a:buNone/>
            </a:pPr>
            <a:r>
              <a:rPr lang="en-GB" dirty="0"/>
              <a:t>SpeciesViewer adds some are .</a:t>
            </a:r>
            <a:r>
              <a:rPr lang="en-GB" dirty="0" err="1"/>
              <a:t>ini</a:t>
            </a:r>
            <a:r>
              <a:rPr lang="en-GB" dirty="0"/>
              <a:t> and .csv files in various places:</a:t>
            </a:r>
          </a:p>
          <a:p>
            <a:r>
              <a:rPr lang="en-GB" sz="2200" dirty="0">
                <a:latin typeface="Courier New" panose="02070309020205020404" pitchFamily="49" charset="0"/>
                <a:cs typeface="Courier New" panose="02070309020205020404" pitchFamily="49" charset="0"/>
              </a:rPr>
              <a:t>svconfig.ini </a:t>
            </a:r>
            <a:r>
              <a:rPr lang="en-GB" dirty="0"/>
              <a:t>(variable name) – a file to describe the active repository. </a:t>
            </a:r>
          </a:p>
          <a:p>
            <a:r>
              <a:rPr lang="en-GB" dirty="0"/>
              <a:t>Blog entries require some text and a title for every project, which is in </a:t>
            </a:r>
            <a:r>
              <a:rPr lang="en-GB" sz="2200" dirty="0">
                <a:latin typeface="Courier New" panose="02070309020205020404" pitchFamily="49" charset="0"/>
                <a:cs typeface="Courier New" panose="02070309020205020404" pitchFamily="49" charset="0"/>
              </a:rPr>
              <a:t>blog.ini</a:t>
            </a:r>
            <a:r>
              <a:rPr lang="en-GB" dirty="0"/>
              <a:t>.  It is stored with the JPGs and RAWs (outside the repository)</a:t>
            </a:r>
          </a:p>
          <a:p>
            <a:r>
              <a:rPr lang="en-GB" sz="2200" dirty="0">
                <a:latin typeface="Courier New" panose="02070309020205020404" pitchFamily="49" charset="0"/>
                <a:cs typeface="Courier New" panose="02070309020205020404" pitchFamily="49" charset="0"/>
              </a:rPr>
              <a:t>admin/blog_admin.csv </a:t>
            </a:r>
            <a:r>
              <a:rPr lang="en-GB" dirty="0"/>
              <a:t>– a property files that describes all blogs in a repository. </a:t>
            </a:r>
          </a:p>
          <a:p>
            <a:r>
              <a:rPr lang="en-GB" sz="2200" dirty="0">
                <a:latin typeface="Courier New" panose="02070309020205020404" pitchFamily="49" charset="0"/>
                <a:cs typeface="Courier New" panose="02070309020205020404" pitchFamily="49" charset="0"/>
              </a:rPr>
              <a:t>statemachine.ini </a:t>
            </a:r>
            <a:r>
              <a:rPr lang="en-GB" dirty="0"/>
              <a:t>keeps track of progress of the process steps. It is stored in a file like  </a:t>
            </a:r>
            <a:r>
              <a:rPr lang="en-GB" sz="2200" dirty="0">
                <a:latin typeface="Courier New" panose="02070309020205020404" pitchFamily="49" charset="0"/>
                <a:cs typeface="Courier New" panose="02070309020205020404" pitchFamily="49" charset="0"/>
              </a:rPr>
              <a:t>[name]/metadata/review/2024-06-26/statemachine.ini</a:t>
            </a:r>
            <a:r>
              <a:rPr lang="en-GB" dirty="0"/>
              <a:t>"</a:t>
            </a:r>
          </a:p>
          <a:p>
            <a:r>
              <a:rPr lang="en-GB" sz="2200" dirty="0">
                <a:latin typeface="Courier New" panose="02070309020205020404" pitchFamily="49" charset="0"/>
                <a:cs typeface="Courier New" panose="02070309020205020404" pitchFamily="49" charset="0"/>
              </a:rPr>
              <a:t>trip.ini </a:t>
            </a:r>
            <a:r>
              <a:rPr lang="en-GB" dirty="0"/>
              <a:t>– a property file that describes a trip repository, stored in the root of the trip (trips/[name]/trip.ini).  Use it to give the repository a name, to provide a description, show a picture and a banner.</a:t>
            </a:r>
          </a:p>
          <a:p>
            <a:r>
              <a:rPr lang="en-GB" sz="2200" dirty="0">
                <a:latin typeface="Courier New" panose="02070309020205020404" pitchFamily="49" charset="0"/>
                <a:cs typeface="Courier New" panose="02070309020205020404" pitchFamily="49" charset="0"/>
              </a:rPr>
              <a:t>trips/Trip.csv </a:t>
            </a:r>
            <a:r>
              <a:rPr lang="en-GB" dirty="0"/>
              <a:t>– like the blog_admin.csv all info from the trip.ini files.</a:t>
            </a:r>
          </a:p>
          <a:p>
            <a:endParaRPr lang="nl-NL" dirty="0"/>
          </a:p>
        </p:txBody>
      </p:sp>
    </p:spTree>
    <p:extLst>
      <p:ext uri="{BB962C8B-B14F-4D97-AF65-F5344CB8AC3E}">
        <p14:creationId xmlns:p14="http://schemas.microsoft.com/office/powerpoint/2010/main" val="18867246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F62B7-7A91-80FB-89F0-03D54D934F05}"/>
              </a:ext>
            </a:extLst>
          </p:cNvPr>
          <p:cNvSpPr>
            <a:spLocks noGrp="1"/>
          </p:cNvSpPr>
          <p:nvPr>
            <p:ph type="title"/>
          </p:nvPr>
        </p:nvSpPr>
        <p:spPr/>
        <p:txBody>
          <a:bodyPr/>
          <a:lstStyle/>
          <a:p>
            <a:r>
              <a:rPr lang="en-GB" dirty="0"/>
              <a:t>Master and trip repositories (1)</a:t>
            </a:r>
            <a:endParaRPr lang="nl-NL" dirty="0"/>
          </a:p>
        </p:txBody>
      </p:sp>
      <p:sp>
        <p:nvSpPr>
          <p:cNvPr id="3" name="Content Placeholder 2">
            <a:extLst>
              <a:ext uri="{FF2B5EF4-FFF2-40B4-BE49-F238E27FC236}">
                <a16:creationId xmlns:a16="http://schemas.microsoft.com/office/drawing/2014/main" id="{128B6FCC-ECFE-2A32-4453-5A0052407081}"/>
              </a:ext>
            </a:extLst>
          </p:cNvPr>
          <p:cNvSpPr>
            <a:spLocks noGrp="1"/>
          </p:cNvSpPr>
          <p:nvPr>
            <p:ph idx="1"/>
          </p:nvPr>
        </p:nvSpPr>
        <p:spPr/>
        <p:txBody>
          <a:bodyPr>
            <a:normAutofit fontScale="92500" lnSpcReduction="20000"/>
          </a:bodyPr>
          <a:lstStyle/>
          <a:p>
            <a:pPr marL="0" indent="0">
              <a:buNone/>
            </a:pPr>
            <a:r>
              <a:rPr lang="en-GB" dirty="0"/>
              <a:t>The </a:t>
            </a:r>
            <a:r>
              <a:rPr lang="en-GB" sz="2800" dirty="0">
                <a:latin typeface="Courier New" panose="02070309020205020404" pitchFamily="49" charset="0"/>
                <a:cs typeface="Courier New" panose="02070309020205020404" pitchFamily="49" charset="0"/>
              </a:rPr>
              <a:t>svconfig.ini </a:t>
            </a:r>
            <a:r>
              <a:rPr lang="en-GB" dirty="0"/>
              <a:t>defines the following directories/paths:</a:t>
            </a:r>
          </a:p>
          <a:p>
            <a:pPr marL="0" indent="0">
              <a:buNone/>
            </a:pPr>
            <a:r>
              <a:rPr lang="nl-NL" sz="1800" b="0" dirty="0">
                <a:solidFill>
                  <a:srgbClr val="CCCCCC"/>
                </a:solidFill>
                <a:effectLst/>
                <a:latin typeface="Consolas" panose="020B0609020204030204" pitchFamily="49" charset="0"/>
              </a:rPr>
              <a:t>[</a:t>
            </a:r>
            <a:r>
              <a:rPr lang="nl-NL" sz="1800" b="0" dirty="0" err="1">
                <a:solidFill>
                  <a:srgbClr val="CCCCCC"/>
                </a:solidFill>
                <a:effectLst/>
                <a:latin typeface="Consolas" panose="020B0609020204030204" pitchFamily="49" charset="0"/>
              </a:rPr>
              <a:t>repository</a:t>
            </a:r>
            <a:r>
              <a:rPr lang="nl-NL" sz="1800" b="0" dirty="0">
                <a:solidFill>
                  <a:srgbClr val="CCCCCC"/>
                </a:solidFill>
                <a:effectLst/>
                <a:latin typeface="Consolas" panose="020B0609020204030204" pitchFamily="49" charset="0"/>
              </a:rPr>
              <a:t>]  </a:t>
            </a:r>
          </a:p>
          <a:p>
            <a:pPr marL="0" indent="0">
              <a:buNone/>
            </a:pPr>
            <a:r>
              <a:rPr lang="en-GB" sz="1800" b="0" dirty="0" err="1">
                <a:solidFill>
                  <a:srgbClr val="569CD6"/>
                </a:solidFill>
                <a:effectLst/>
                <a:latin typeface="Consolas" panose="020B0609020204030204" pitchFamily="49" charset="0"/>
              </a:rPr>
              <a:t>BiotaDatebase</a:t>
            </a:r>
            <a:r>
              <a:rPr lang="en-GB" sz="1800" b="0" dirty="0">
                <a:solidFill>
                  <a:srgbClr val="CCCCCC"/>
                </a:solidFill>
                <a:effectLst/>
                <a:latin typeface="Consolas" panose="020B0609020204030204" pitchFamily="49" charset="0"/>
              </a:rPr>
              <a:t>=c:/laptop/trips/safaridb/</a:t>
            </a:r>
          </a:p>
          <a:p>
            <a:pPr marL="0" indent="0">
              <a:buNone/>
            </a:pPr>
            <a:r>
              <a:rPr lang="en-GB" sz="1800" b="0" dirty="0" err="1">
                <a:solidFill>
                  <a:srgbClr val="569CD6"/>
                </a:solidFill>
                <a:effectLst/>
                <a:latin typeface="Consolas" panose="020B0609020204030204" pitchFamily="49" charset="0"/>
              </a:rPr>
              <a:t>BiotaWebRoot</a:t>
            </a:r>
            <a:r>
              <a:rPr lang="en-GB" sz="1800" b="0" dirty="0">
                <a:solidFill>
                  <a:srgbClr val="CCCCCC"/>
                </a:solidFill>
                <a:effectLst/>
                <a:latin typeface="Consolas" panose="020B0609020204030204" pitchFamily="49" charset="0"/>
              </a:rPr>
              <a:t>=/trips/safari/</a:t>
            </a:r>
          </a:p>
          <a:p>
            <a:pPr marL="0" indent="0">
              <a:buNone/>
            </a:pPr>
            <a:r>
              <a:rPr lang="en-GB" sz="1800" b="0" dirty="0">
                <a:solidFill>
                  <a:srgbClr val="CCCCCC"/>
                </a:solidFill>
                <a:effectLst/>
                <a:latin typeface="Consolas" panose="020B0609020204030204" pitchFamily="49" charset="0"/>
              </a:rPr>
              <a:t>[project]</a:t>
            </a:r>
          </a:p>
          <a:p>
            <a:pPr marL="0" indent="0">
              <a:buNone/>
            </a:pPr>
            <a:r>
              <a:rPr lang="en-GB" sz="1800" b="0" dirty="0" err="1">
                <a:solidFill>
                  <a:srgbClr val="569CD6"/>
                </a:solidFill>
                <a:effectLst/>
                <a:latin typeface="Consolas" panose="020B0609020204030204" pitchFamily="49" charset="0"/>
              </a:rPr>
              <a:t>PictureDirectory</a:t>
            </a:r>
            <a:r>
              <a:rPr lang="en-GB" sz="1800" b="0" dirty="0">
                <a:solidFill>
                  <a:srgbClr val="CCCCCC"/>
                </a:solidFill>
                <a:effectLst/>
                <a:latin typeface="Consolas" panose="020B0609020204030204" pitchFamily="49" charset="0"/>
              </a:rPr>
              <a:t>=C:\CurrentPictures\2024\2024 Test </a:t>
            </a:r>
            <a:r>
              <a:rPr lang="en-GB" sz="1800" b="0" dirty="0" err="1">
                <a:solidFill>
                  <a:srgbClr val="CCCCCC"/>
                </a:solidFill>
                <a:effectLst/>
                <a:latin typeface="Consolas" panose="020B0609020204030204" pitchFamily="49" charset="0"/>
              </a:rPr>
              <a:t>Specviewer</a:t>
            </a:r>
            <a:r>
              <a:rPr lang="en-GB" sz="1800" b="0" dirty="0">
                <a:solidFill>
                  <a:srgbClr val="CCCCCC"/>
                </a:solidFill>
                <a:effectLst/>
                <a:latin typeface="Consolas" panose="020B0609020204030204" pitchFamily="49" charset="0"/>
              </a:rPr>
              <a:t>/2024-06-26</a:t>
            </a:r>
          </a:p>
          <a:p>
            <a:pPr marL="0" indent="0">
              <a:buNone/>
            </a:pPr>
            <a:r>
              <a:rPr lang="nl-NL" dirty="0"/>
              <a:t>The </a:t>
            </a:r>
            <a:r>
              <a:rPr lang="nl-NL" dirty="0" err="1"/>
              <a:t>same</a:t>
            </a:r>
            <a:r>
              <a:rPr lang="nl-NL" dirty="0"/>
              <a:t> parameters </a:t>
            </a:r>
            <a:r>
              <a:rPr lang="nl-NL" dirty="0" err="1"/>
              <a:t>work</a:t>
            </a:r>
            <a:r>
              <a:rPr lang="nl-NL" dirty="0"/>
              <a:t> </a:t>
            </a:r>
            <a:r>
              <a:rPr lang="nl-NL" dirty="0" err="1"/>
              <a:t>for</a:t>
            </a:r>
            <a:r>
              <a:rPr lang="nl-NL" dirty="0"/>
              <a:t> </a:t>
            </a:r>
            <a:r>
              <a:rPr lang="nl-NL" dirty="0" err="1"/>
              <a:t>the</a:t>
            </a:r>
            <a:r>
              <a:rPr lang="nl-NL" dirty="0"/>
              <a:t> master </a:t>
            </a:r>
            <a:r>
              <a:rPr lang="nl-NL" dirty="0" err="1"/>
              <a:t>and</a:t>
            </a:r>
            <a:r>
              <a:rPr lang="nl-NL" dirty="0"/>
              <a:t> trips, but do </a:t>
            </a:r>
            <a:r>
              <a:rPr lang="nl-NL" dirty="0" err="1"/>
              <a:t>not</a:t>
            </a:r>
            <a:r>
              <a:rPr lang="nl-NL" dirty="0"/>
              <a:t> </a:t>
            </a:r>
            <a:r>
              <a:rPr lang="nl-NL" dirty="0" err="1"/>
              <a:t>allow</a:t>
            </a:r>
            <a:r>
              <a:rPr lang="nl-NL" dirty="0"/>
              <a:t> </a:t>
            </a:r>
            <a:r>
              <a:rPr lang="nl-NL" dirty="0" err="1"/>
              <a:t>for</a:t>
            </a:r>
            <a:r>
              <a:rPr lang="nl-NL" dirty="0"/>
              <a:t> more </a:t>
            </a:r>
            <a:r>
              <a:rPr lang="nl-NL" dirty="0" err="1"/>
              <a:t>customization</a:t>
            </a:r>
            <a:r>
              <a:rPr lang="nl-NL" dirty="0"/>
              <a:t> </a:t>
            </a:r>
            <a:r>
              <a:rPr lang="nl-NL" dirty="0" err="1"/>
              <a:t>for</a:t>
            </a:r>
            <a:r>
              <a:rPr lang="nl-NL" dirty="0"/>
              <a:t> trips, or </a:t>
            </a:r>
            <a:r>
              <a:rPr lang="nl-NL" dirty="0" err="1"/>
              <a:t>for</a:t>
            </a:r>
            <a:r>
              <a:rPr lang="nl-NL" dirty="0"/>
              <a:t> trips </a:t>
            </a:r>
            <a:r>
              <a:rPr lang="nl-NL" dirty="0" err="1"/>
              <a:t>to</a:t>
            </a:r>
            <a:r>
              <a:rPr lang="nl-NL" dirty="0"/>
              <a:t> </a:t>
            </a:r>
            <a:r>
              <a:rPr lang="nl-NL" dirty="0" err="1"/>
              <a:t>reference</a:t>
            </a:r>
            <a:r>
              <a:rPr lang="nl-NL" dirty="0"/>
              <a:t> </a:t>
            </a:r>
            <a:r>
              <a:rPr lang="nl-NL" dirty="0" err="1"/>
              <a:t>existing</a:t>
            </a:r>
            <a:r>
              <a:rPr lang="nl-NL" dirty="0"/>
              <a:t> species.  </a:t>
            </a:r>
            <a:r>
              <a:rPr lang="nl-NL" dirty="0" err="1"/>
              <a:t>This</a:t>
            </a:r>
            <a:r>
              <a:rPr lang="nl-NL" dirty="0"/>
              <a:t> </a:t>
            </a:r>
            <a:r>
              <a:rPr lang="nl-NL" dirty="0" err="1"/>
              <a:t>done</a:t>
            </a:r>
            <a:r>
              <a:rPr lang="nl-NL" dirty="0"/>
              <a:t> </a:t>
            </a:r>
            <a:r>
              <a:rPr lang="nl-NL" dirty="0" err="1"/>
              <a:t>with</a:t>
            </a:r>
            <a:endParaRPr lang="nl-NL" dirty="0"/>
          </a:p>
          <a:p>
            <a:pPr marL="0" indent="0">
              <a:buNone/>
            </a:pPr>
            <a:r>
              <a:rPr lang="en-GB" sz="1800" dirty="0" err="1">
                <a:solidFill>
                  <a:srgbClr val="569CD6"/>
                </a:solidFill>
                <a:latin typeface="Consolas" panose="020B0609020204030204" pitchFamily="49" charset="0"/>
              </a:rPr>
              <a:t>BiotaMasterDatabase</a:t>
            </a:r>
            <a:r>
              <a:rPr lang="en-GB" sz="1800" dirty="0">
                <a:solidFill>
                  <a:srgbClr val="569CD6"/>
                </a:solidFill>
                <a:latin typeface="Consolas" panose="020B0609020204030204" pitchFamily="49" charset="0"/>
              </a:rPr>
              <a:t>=</a:t>
            </a:r>
            <a:r>
              <a:rPr lang="en-GB" sz="1800" b="0" dirty="0">
                <a:solidFill>
                  <a:srgbClr val="CCCCCC"/>
                </a:solidFill>
                <a:effectLst/>
                <a:latin typeface="Consolas" panose="020B0609020204030204" pitchFamily="49" charset="0"/>
              </a:rPr>
              <a:t>c:/laptop/nature/</a:t>
            </a:r>
          </a:p>
          <a:p>
            <a:pPr marL="0" indent="0">
              <a:buNone/>
            </a:pPr>
            <a:r>
              <a:rPr lang="nl-NL" dirty="0" err="1"/>
              <a:t>Based</a:t>
            </a:r>
            <a:r>
              <a:rPr lang="nl-NL" dirty="0"/>
              <a:t> on </a:t>
            </a:r>
            <a:r>
              <a:rPr lang="nl-NL" dirty="0" err="1"/>
              <a:t>this</a:t>
            </a:r>
            <a:r>
              <a:rPr lang="nl-NL" dirty="0"/>
              <a:t> link, </a:t>
            </a:r>
            <a:r>
              <a:rPr lang="nl-NL" dirty="0" err="1"/>
              <a:t>the</a:t>
            </a:r>
            <a:r>
              <a:rPr lang="nl-NL" dirty="0"/>
              <a:t> master is </a:t>
            </a:r>
            <a:r>
              <a:rPr lang="nl-NL" dirty="0" err="1"/>
              <a:t>available</a:t>
            </a:r>
            <a:r>
              <a:rPr lang="nl-NL" dirty="0"/>
              <a:t> as well as (</a:t>
            </a:r>
            <a:r>
              <a:rPr lang="nl-NL" dirty="0" err="1"/>
              <a:t>implied</a:t>
            </a:r>
            <a:r>
              <a:rPr lang="nl-NL" dirty="0"/>
              <a:t>) </a:t>
            </a:r>
            <a:r>
              <a:rPr lang="nl-NL" dirty="0" err="1"/>
              <a:t>the</a:t>
            </a:r>
            <a:r>
              <a:rPr lang="nl-NL" dirty="0"/>
              <a:t> trips directory (</a:t>
            </a:r>
            <a:r>
              <a:rPr lang="nl-NL" dirty="0" err="1"/>
              <a:t>all</a:t>
            </a:r>
            <a:r>
              <a:rPr lang="nl-NL" dirty="0"/>
              <a:t> but last </a:t>
            </a:r>
            <a:r>
              <a:rPr lang="nl-NL" dirty="0" err="1"/>
              <a:t>qualifier</a:t>
            </a:r>
            <a:r>
              <a:rPr lang="nl-NL" dirty="0"/>
              <a:t> </a:t>
            </a:r>
            <a:r>
              <a:rPr lang="en-GB" sz="2200" b="0" dirty="0">
                <a:solidFill>
                  <a:srgbClr val="CCCCCC"/>
                </a:solidFill>
                <a:effectLst/>
                <a:latin typeface="Consolas" panose="020B0609020204030204" pitchFamily="49" charset="0"/>
              </a:rPr>
              <a:t>trips</a:t>
            </a:r>
            <a:r>
              <a:rPr lang="en-GB" sz="2800" b="0" dirty="0">
                <a:solidFill>
                  <a:srgbClr val="CCCCCC"/>
                </a:solidFill>
                <a:effectLst/>
                <a:latin typeface="Consolas" panose="020B0609020204030204" pitchFamily="49" charset="0"/>
              </a:rPr>
              <a:t>/ </a:t>
            </a:r>
            <a:r>
              <a:rPr lang="nl-NL" dirty="0" err="1"/>
              <a:t>from</a:t>
            </a:r>
            <a:r>
              <a:rPr lang="nl-NL" dirty="0"/>
              <a:t> </a:t>
            </a:r>
            <a:r>
              <a:rPr lang="nl-NL" dirty="0" err="1"/>
              <a:t>the</a:t>
            </a:r>
            <a:r>
              <a:rPr lang="nl-NL" dirty="0"/>
              <a:t> </a:t>
            </a:r>
            <a:r>
              <a:rPr lang="en-GB" sz="2200" dirty="0" err="1">
                <a:solidFill>
                  <a:srgbClr val="569CD6"/>
                </a:solidFill>
                <a:latin typeface="Consolas" panose="020B0609020204030204" pitchFamily="49" charset="0"/>
              </a:rPr>
              <a:t>BiotaWebRoot</a:t>
            </a:r>
            <a:r>
              <a:rPr lang="en-GB" dirty="0"/>
              <a:t>), and the current trip name (</a:t>
            </a:r>
            <a:r>
              <a:rPr lang="en-GB" sz="2200" b="0" dirty="0">
                <a:solidFill>
                  <a:srgbClr val="CCCCCC"/>
                </a:solidFill>
                <a:effectLst/>
                <a:latin typeface="Consolas" panose="020B0609020204030204" pitchFamily="49" charset="0"/>
              </a:rPr>
              <a:t>safari/</a:t>
            </a:r>
            <a:r>
              <a:rPr lang="en-GB" dirty="0"/>
              <a:t>)</a:t>
            </a:r>
            <a:endParaRPr lang="nl-NL" dirty="0"/>
          </a:p>
        </p:txBody>
      </p:sp>
    </p:spTree>
    <p:extLst>
      <p:ext uri="{BB962C8B-B14F-4D97-AF65-F5344CB8AC3E}">
        <p14:creationId xmlns:p14="http://schemas.microsoft.com/office/powerpoint/2010/main" val="3228332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EBE9F3-3BAE-5347-B7FF-FD15C38936B4}"/>
              </a:ext>
            </a:extLst>
          </p:cNvPr>
          <p:cNvSpPr>
            <a:spLocks noGrp="1"/>
          </p:cNvSpPr>
          <p:nvPr>
            <p:ph type="title"/>
          </p:nvPr>
        </p:nvSpPr>
        <p:spPr/>
        <p:txBody>
          <a:bodyPr/>
          <a:lstStyle/>
          <a:p>
            <a:r>
              <a:rPr lang="en-GB" dirty="0"/>
              <a:t>Master and trip repositories (2)</a:t>
            </a:r>
            <a:endParaRPr lang="nl-NL" dirty="0"/>
          </a:p>
        </p:txBody>
      </p:sp>
      <p:sp>
        <p:nvSpPr>
          <p:cNvPr id="3" name="Content Placeholder 2">
            <a:extLst>
              <a:ext uri="{FF2B5EF4-FFF2-40B4-BE49-F238E27FC236}">
                <a16:creationId xmlns:a16="http://schemas.microsoft.com/office/drawing/2014/main" id="{EEA678FA-5EB5-40F6-3589-D0C49C4FB7F9}"/>
              </a:ext>
            </a:extLst>
          </p:cNvPr>
          <p:cNvSpPr>
            <a:spLocks noGrp="1"/>
          </p:cNvSpPr>
          <p:nvPr>
            <p:ph idx="1"/>
          </p:nvPr>
        </p:nvSpPr>
        <p:spPr/>
        <p:txBody>
          <a:bodyPr>
            <a:normAutofit fontScale="92500"/>
          </a:bodyPr>
          <a:lstStyle/>
          <a:p>
            <a:pPr marL="0" indent="0">
              <a:buNone/>
            </a:pPr>
            <a:r>
              <a:rPr lang="en-GB" dirty="0"/>
              <a:t>Most of the logic is in the </a:t>
            </a:r>
            <a:r>
              <a:rPr lang="en-GB" dirty="0" err="1"/>
              <a:t>MyProject</a:t>
            </a:r>
            <a:r>
              <a:rPr lang="en-GB" dirty="0"/>
              <a:t> initialization, that reads the active svconfig.ini.  </a:t>
            </a:r>
            <a:r>
              <a:rPr kumimoji="0" lang="en-GB" sz="2400" b="0" i="0" u="none" strike="noStrike" kern="1200" cap="none" spc="0" normalizeH="0" baseline="0" noProof="0" dirty="0" err="1">
                <a:ln>
                  <a:noFill/>
                </a:ln>
                <a:solidFill>
                  <a:srgbClr val="569CD6"/>
                </a:solidFill>
                <a:effectLst/>
                <a:uLnTx/>
                <a:uFillTx/>
                <a:latin typeface="Consolas" panose="020B0609020204030204" pitchFamily="49" charset="0"/>
                <a:ea typeface="+mn-ea"/>
                <a:cs typeface="+mn-cs"/>
              </a:rPr>
              <a:t>BiotaDatebase</a:t>
            </a:r>
            <a:r>
              <a:rPr kumimoji="0" lang="en-GB" sz="28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 </a:t>
            </a:r>
            <a:r>
              <a:rPr lang="en-GB" dirty="0"/>
              <a:t>and</a:t>
            </a:r>
            <a:r>
              <a:rPr kumimoji="0" lang="en-GB" sz="28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 </a:t>
            </a:r>
            <a:r>
              <a:rPr kumimoji="0" lang="en-GB" sz="2400" b="0" i="0" u="none" strike="noStrike" kern="1200" cap="none" spc="0" normalizeH="0" baseline="0" noProof="0" dirty="0" err="1">
                <a:ln>
                  <a:noFill/>
                </a:ln>
                <a:solidFill>
                  <a:srgbClr val="569CD6"/>
                </a:solidFill>
                <a:effectLst/>
                <a:uLnTx/>
                <a:uFillTx/>
                <a:latin typeface="Consolas" panose="020B0609020204030204" pitchFamily="49" charset="0"/>
                <a:ea typeface="+mn-ea"/>
                <a:cs typeface="+mn-cs"/>
              </a:rPr>
              <a:t>BiotaWebRoot</a:t>
            </a:r>
            <a:r>
              <a:rPr lang="en-GB" sz="2400" dirty="0">
                <a:solidFill>
                  <a:srgbClr val="569CD6"/>
                </a:solidFill>
                <a:latin typeface="Consolas" panose="020B0609020204030204" pitchFamily="49" charset="0"/>
              </a:rPr>
              <a:t> </a:t>
            </a:r>
            <a:r>
              <a:rPr lang="en-GB" dirty="0"/>
              <a:t>are given.</a:t>
            </a:r>
          </a:p>
          <a:p>
            <a:pPr marL="0" indent="0">
              <a:buNone/>
            </a:pPr>
            <a:r>
              <a:rPr lang="nl-NL" dirty="0" err="1"/>
              <a:t>When</a:t>
            </a:r>
            <a:r>
              <a:rPr lang="nl-NL" dirty="0"/>
              <a:t> a </a:t>
            </a:r>
            <a:r>
              <a:rPr lang="en-GB" sz="2400" dirty="0" err="1">
                <a:solidFill>
                  <a:srgbClr val="569CD6"/>
                </a:solidFill>
                <a:latin typeface="Consolas" panose="020B0609020204030204" pitchFamily="49" charset="0"/>
              </a:rPr>
              <a:t>BiotaMasterDatabase</a:t>
            </a:r>
            <a:r>
              <a:rPr lang="en-GB" sz="2400" dirty="0">
                <a:solidFill>
                  <a:srgbClr val="569CD6"/>
                </a:solidFill>
                <a:latin typeface="Consolas" panose="020B0609020204030204" pitchFamily="49" charset="0"/>
              </a:rPr>
              <a:t> </a:t>
            </a:r>
            <a:r>
              <a:rPr lang="nl-NL" dirty="0"/>
              <a:t>is </a:t>
            </a:r>
            <a:r>
              <a:rPr lang="nl-NL" dirty="0" err="1"/>
              <a:t>specified</a:t>
            </a:r>
            <a:r>
              <a:rPr lang="nl-NL" dirty="0"/>
              <a:t>, </a:t>
            </a:r>
            <a:r>
              <a:rPr lang="nl-NL" dirty="0" err="1"/>
              <a:t>the</a:t>
            </a:r>
            <a:r>
              <a:rPr lang="nl-NL" dirty="0"/>
              <a:t> </a:t>
            </a:r>
            <a:r>
              <a:rPr lang="nl-NL" dirty="0" err="1"/>
              <a:t>following</a:t>
            </a:r>
            <a:r>
              <a:rPr lang="nl-NL" dirty="0"/>
              <a:t> </a:t>
            </a:r>
            <a:r>
              <a:rPr lang="nl-NL" dirty="0" err="1"/>
              <a:t>can</a:t>
            </a:r>
            <a:r>
              <a:rPr lang="nl-NL" dirty="0"/>
              <a:t> </a:t>
            </a:r>
            <a:r>
              <a:rPr lang="nl-NL" dirty="0" err="1"/>
              <a:t>be</a:t>
            </a:r>
            <a:r>
              <a:rPr lang="nl-NL" dirty="0"/>
              <a:t> </a:t>
            </a:r>
            <a:r>
              <a:rPr lang="nl-NL" dirty="0" err="1"/>
              <a:t>obtained</a:t>
            </a:r>
            <a:r>
              <a:rPr lang="nl-NL" dirty="0"/>
              <a:t>:</a:t>
            </a:r>
          </a:p>
          <a:p>
            <a:pPr marL="0" indent="0">
              <a:buNone/>
            </a:pPr>
            <a:r>
              <a:rPr lang="nl-NL" sz="2400" b="0" dirty="0" err="1">
                <a:solidFill>
                  <a:srgbClr val="569CD6"/>
                </a:solidFill>
                <a:effectLst/>
                <a:latin typeface="Consolas" panose="020B0609020204030204" pitchFamily="49" charset="0"/>
              </a:rPr>
              <a:t>ReferenceSpecies</a:t>
            </a:r>
            <a:r>
              <a:rPr lang="nl-NL" sz="2400" b="0" dirty="0">
                <a:solidFill>
                  <a:srgbClr val="569CD6"/>
                </a:solidFill>
                <a:effectLst/>
                <a:latin typeface="Consolas" panose="020B0609020204030204" pitchFamily="49" charset="0"/>
              </a:rPr>
              <a:t> </a:t>
            </a:r>
            <a:r>
              <a:rPr lang="nl-NL" sz="2400" b="0" dirty="0">
                <a:solidFill>
                  <a:srgbClr val="CCCCCC"/>
                </a:solidFill>
                <a:effectLst/>
                <a:latin typeface="Consolas" panose="020B0609020204030204" pitchFamily="49" charset="0"/>
              </a:rPr>
              <a:t>= </a:t>
            </a:r>
            <a:r>
              <a:rPr lang="nl-NL" sz="2400" b="0" dirty="0" err="1">
                <a:solidFill>
                  <a:srgbClr val="CCCCCC"/>
                </a:solidFill>
                <a:effectLst/>
                <a:latin typeface="Consolas" panose="020B0609020204030204" pitchFamily="49" charset="0"/>
              </a:rPr>
              <a:t>join</a:t>
            </a:r>
            <a:r>
              <a:rPr lang="nl-NL" sz="2400" b="0" dirty="0">
                <a:solidFill>
                  <a:srgbClr val="CCCCCC"/>
                </a:solidFill>
                <a:effectLst/>
                <a:latin typeface="Consolas" panose="020B0609020204030204" pitchFamily="49" charset="0"/>
              </a:rPr>
              <a:t>(</a:t>
            </a:r>
            <a:r>
              <a:rPr lang="en-GB" sz="2400" dirty="0" err="1">
                <a:solidFill>
                  <a:srgbClr val="569CD6"/>
                </a:solidFill>
                <a:latin typeface="Consolas" panose="020B0609020204030204" pitchFamily="49" charset="0"/>
              </a:rPr>
              <a:t>BiotaMasterDatabase</a:t>
            </a:r>
            <a:r>
              <a:rPr lang="en-GB" sz="2400" dirty="0">
                <a:solidFill>
                  <a:srgbClr val="569CD6"/>
                </a:solidFill>
                <a:latin typeface="Consolas" panose="020B0609020204030204" pitchFamily="49" charset="0"/>
              </a:rPr>
              <a:t>, </a:t>
            </a:r>
          </a:p>
          <a:p>
            <a:pPr marL="0" indent="0">
              <a:buNone/>
            </a:pPr>
            <a:r>
              <a:rPr lang="en-GB" sz="2400" dirty="0">
                <a:solidFill>
                  <a:srgbClr val="569CD6"/>
                </a:solidFill>
                <a:latin typeface="Consolas" panose="020B0609020204030204" pitchFamily="49" charset="0"/>
              </a:rPr>
              <a:t>                       </a:t>
            </a:r>
            <a:r>
              <a:rPr lang="pt-BR" sz="2400" dirty="0">
                <a:solidFill>
                  <a:srgbClr val="569CD6"/>
                </a:solidFill>
                <a:latin typeface="Consolas" panose="020B0609020204030204" pitchFamily="49" charset="0"/>
              </a:rPr>
              <a:t>metadata\active\species.csv</a:t>
            </a:r>
            <a:r>
              <a:rPr lang="pt-BR" sz="2400" dirty="0">
                <a:solidFill>
                  <a:srgbClr val="CCCCCC"/>
                </a:solidFill>
                <a:latin typeface="Consolas" panose="020B0609020204030204" pitchFamily="49" charset="0"/>
              </a:rPr>
              <a:t>)</a:t>
            </a:r>
          </a:p>
          <a:p>
            <a:pPr marL="0" indent="0">
              <a:buNone/>
            </a:pPr>
            <a:r>
              <a:rPr lang="pt-BR" sz="2400" dirty="0">
                <a:solidFill>
                  <a:srgbClr val="CCCCCC"/>
                </a:solidFill>
                <a:latin typeface="Consolas" panose="020B0609020204030204" pitchFamily="49" charset="0"/>
              </a:rPr>
              <a:t>     .. Or explicit in svconfig.ini</a:t>
            </a:r>
          </a:p>
          <a:p>
            <a:pPr marL="0" indent="0">
              <a:buNone/>
            </a:pPr>
            <a:r>
              <a:rPr lang="nl-NL" sz="2400" dirty="0" err="1">
                <a:solidFill>
                  <a:srgbClr val="569CD6"/>
                </a:solidFill>
                <a:latin typeface="Consolas" panose="020B0609020204030204" pitchFamily="49" charset="0"/>
              </a:rPr>
              <a:t>RepositoryBanner</a:t>
            </a:r>
            <a:r>
              <a:rPr lang="nl-NL" sz="2400" dirty="0">
                <a:solidFill>
                  <a:srgbClr val="569CD6"/>
                </a:solidFill>
                <a:latin typeface="Consolas" panose="020B0609020204030204" pitchFamily="49" charset="0"/>
              </a:rPr>
              <a:t> = </a:t>
            </a:r>
            <a:r>
              <a:rPr lang="nl-NL" sz="2400" dirty="0" err="1">
                <a:solidFill>
                  <a:srgbClr val="569CD6"/>
                </a:solidFill>
                <a:latin typeface="Consolas" panose="020B0609020204030204" pitchFamily="49" charset="0"/>
              </a:rPr>
              <a:t>trip.ini:trip_banner</a:t>
            </a:r>
            <a:endParaRPr lang="nl-NL" sz="2400" dirty="0">
              <a:solidFill>
                <a:srgbClr val="569CD6"/>
              </a:solidFill>
              <a:latin typeface="Consolas" panose="020B0609020204030204" pitchFamily="49" charset="0"/>
            </a:endParaRPr>
          </a:p>
          <a:p>
            <a:pPr marL="0" indent="0">
              <a:buNone/>
            </a:pPr>
            <a:r>
              <a:rPr lang="pt-BR" sz="2400" dirty="0">
                <a:solidFill>
                  <a:srgbClr val="CCCCCC"/>
                </a:solidFill>
                <a:latin typeface="Consolas" panose="020B0609020204030204" pitchFamily="49" charset="0"/>
              </a:rPr>
              <a:t>      .. Or “hardcoded” in installation section</a:t>
            </a:r>
          </a:p>
          <a:p>
            <a:pPr marL="0" indent="0">
              <a:buNone/>
            </a:pPr>
            <a:r>
              <a:rPr lang="nl-NL" sz="2400" dirty="0" err="1">
                <a:solidFill>
                  <a:srgbClr val="569CD6"/>
                </a:solidFill>
                <a:latin typeface="Consolas" panose="020B0609020204030204" pitchFamily="49" charset="0"/>
              </a:rPr>
              <a:t>RepositoryPicture</a:t>
            </a:r>
            <a:r>
              <a:rPr lang="nl-NL" sz="2400" dirty="0">
                <a:solidFill>
                  <a:srgbClr val="569CD6"/>
                </a:solidFill>
                <a:latin typeface="Consolas" panose="020B0609020204030204" pitchFamily="49" charset="0"/>
              </a:rPr>
              <a:t> = </a:t>
            </a:r>
            <a:r>
              <a:rPr lang="nl-NL" sz="2400" dirty="0" err="1">
                <a:solidFill>
                  <a:srgbClr val="569CD6"/>
                </a:solidFill>
                <a:latin typeface="Consolas" panose="020B0609020204030204" pitchFamily="49" charset="0"/>
              </a:rPr>
              <a:t>trip.ini:trip_picture</a:t>
            </a:r>
            <a:r>
              <a:rPr lang="nl-NL" sz="2400" dirty="0">
                <a:solidFill>
                  <a:srgbClr val="569CD6"/>
                </a:solidFill>
                <a:latin typeface="Consolas" panose="020B0609020204030204" pitchFamily="49" charset="0"/>
              </a:rPr>
              <a:t> </a:t>
            </a:r>
            <a:br>
              <a:rPr lang="nl-NL" sz="2400" dirty="0">
                <a:solidFill>
                  <a:srgbClr val="569CD6"/>
                </a:solidFill>
                <a:latin typeface="Consolas" panose="020B0609020204030204" pitchFamily="49" charset="0"/>
              </a:rPr>
            </a:br>
            <a:r>
              <a:rPr lang="nl-NL" sz="2400" dirty="0">
                <a:solidFill>
                  <a:srgbClr val="569CD6"/>
                </a:solidFill>
                <a:latin typeface="Consolas" panose="020B0609020204030204" pitchFamily="49" charset="0"/>
              </a:rPr>
              <a:t>                    (</a:t>
            </a:r>
            <a:r>
              <a:rPr lang="nl-NL" sz="2400" dirty="0" err="1">
                <a:solidFill>
                  <a:srgbClr val="569CD6"/>
                </a:solidFill>
                <a:latin typeface="Consolas" panose="020B0609020204030204" pitchFamily="49" charset="0"/>
              </a:rPr>
              <a:t>path</a:t>
            </a:r>
            <a:r>
              <a:rPr lang="nl-NL" sz="2400" dirty="0">
                <a:solidFill>
                  <a:srgbClr val="569CD6"/>
                </a:solidFill>
                <a:latin typeface="Consolas" panose="020B0609020204030204" pitchFamily="49" charset="0"/>
              </a:rPr>
              <a:t> </a:t>
            </a:r>
            <a:r>
              <a:rPr lang="nl-NL" sz="2400" dirty="0" err="1">
                <a:solidFill>
                  <a:srgbClr val="569CD6"/>
                </a:solidFill>
                <a:latin typeface="Consolas" panose="020B0609020204030204" pitchFamily="49" charset="0"/>
              </a:rPr>
              <a:t>relative</a:t>
            </a:r>
            <a:r>
              <a:rPr lang="nl-NL" sz="2400" dirty="0">
                <a:solidFill>
                  <a:srgbClr val="569CD6"/>
                </a:solidFill>
                <a:latin typeface="Consolas" panose="020B0609020204030204" pitchFamily="49" charset="0"/>
              </a:rPr>
              <a:t> </a:t>
            </a:r>
            <a:r>
              <a:rPr lang="nl-NL" sz="2400" dirty="0" err="1">
                <a:solidFill>
                  <a:srgbClr val="569CD6"/>
                </a:solidFill>
                <a:latin typeface="Consolas" panose="020B0609020204030204" pitchFamily="49" charset="0"/>
              </a:rPr>
              <a:t>to</a:t>
            </a:r>
            <a:r>
              <a:rPr lang="nl-NL" sz="2400" dirty="0">
                <a:solidFill>
                  <a:srgbClr val="569CD6"/>
                </a:solidFill>
                <a:latin typeface="Consolas" panose="020B0609020204030204" pitchFamily="49" charset="0"/>
              </a:rPr>
              <a:t> web/)</a:t>
            </a:r>
          </a:p>
          <a:p>
            <a:pPr marL="0" indent="0">
              <a:buNone/>
            </a:pPr>
            <a:endParaRPr lang="nl-NL" sz="2400" dirty="0">
              <a:solidFill>
                <a:srgbClr val="569CD6"/>
              </a:solidFill>
              <a:latin typeface="Consolas" panose="020B0609020204030204" pitchFamily="49" charset="0"/>
            </a:endParaRPr>
          </a:p>
          <a:p>
            <a:pPr marL="0" indent="0">
              <a:buNone/>
            </a:pPr>
            <a:endParaRPr lang="nl-NL" sz="2400" dirty="0">
              <a:solidFill>
                <a:srgbClr val="CCCCCC"/>
              </a:solidFill>
              <a:latin typeface="Consolas" panose="020B0609020204030204" pitchFamily="49" charset="0"/>
            </a:endParaRPr>
          </a:p>
          <a:p>
            <a:pPr marL="0" indent="0">
              <a:buNone/>
            </a:pPr>
            <a:endParaRPr lang="en-GB" dirty="0"/>
          </a:p>
          <a:p>
            <a:pPr marL="0" indent="0">
              <a:buNone/>
            </a:pPr>
            <a:endParaRPr lang="en-GB" dirty="0"/>
          </a:p>
        </p:txBody>
      </p:sp>
    </p:spTree>
    <p:extLst>
      <p:ext uri="{BB962C8B-B14F-4D97-AF65-F5344CB8AC3E}">
        <p14:creationId xmlns:p14="http://schemas.microsoft.com/office/powerpoint/2010/main" val="37119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6DE58-BFB7-6B9C-6640-8EF1CEC4419C}"/>
              </a:ext>
            </a:extLst>
          </p:cNvPr>
          <p:cNvSpPr>
            <a:spLocks noGrp="1"/>
          </p:cNvSpPr>
          <p:nvPr>
            <p:ph type="title"/>
          </p:nvPr>
        </p:nvSpPr>
        <p:spPr/>
        <p:txBody>
          <a:bodyPr/>
          <a:lstStyle/>
          <a:p>
            <a:r>
              <a:rPr lang="en-GB" dirty="0"/>
              <a:t>sv1MakeRepository</a:t>
            </a:r>
            <a:endParaRPr lang="nl-NL" dirty="0"/>
          </a:p>
        </p:txBody>
      </p:sp>
      <p:sp>
        <p:nvSpPr>
          <p:cNvPr id="3" name="Content Placeholder 2">
            <a:extLst>
              <a:ext uri="{FF2B5EF4-FFF2-40B4-BE49-F238E27FC236}">
                <a16:creationId xmlns:a16="http://schemas.microsoft.com/office/drawing/2014/main" id="{B0567915-AB88-259F-6AB9-32F3C3DAD948}"/>
              </a:ext>
            </a:extLst>
          </p:cNvPr>
          <p:cNvSpPr>
            <a:spLocks noGrp="1"/>
          </p:cNvSpPr>
          <p:nvPr>
            <p:ph idx="1"/>
          </p:nvPr>
        </p:nvSpPr>
        <p:spPr/>
        <p:txBody>
          <a:bodyPr>
            <a:normAutofit/>
          </a:bodyPr>
          <a:lstStyle/>
          <a:p>
            <a:pPr marL="0" indent="0">
              <a:buNone/>
            </a:pPr>
            <a:r>
              <a:rPr lang="en-GB" dirty="0"/>
              <a:t>Create a new repository with standard directory and FTP structures</a:t>
            </a:r>
          </a:p>
          <a:p>
            <a:pPr marL="0" indent="0">
              <a:buNone/>
            </a:pPr>
            <a:r>
              <a:rPr lang="en-GB" dirty="0"/>
              <a:t>Pre-</a:t>
            </a:r>
            <a:r>
              <a:rPr lang="en-GB" dirty="0" err="1"/>
              <a:t>reqs</a:t>
            </a:r>
            <a:r>
              <a:rPr lang="en-GB" dirty="0"/>
              <a:t>:</a:t>
            </a:r>
          </a:p>
          <a:p>
            <a:r>
              <a:rPr lang="en-GB" dirty="0"/>
              <a:t>svconfig.ini required</a:t>
            </a:r>
          </a:p>
          <a:p>
            <a:r>
              <a:rPr lang="en-GB" dirty="0"/>
              <a:t>Directory best made with trip.ini file in the root</a:t>
            </a:r>
          </a:p>
          <a:p>
            <a:endParaRPr lang="en-GB" dirty="0"/>
          </a:p>
          <a:p>
            <a:pPr marL="0" indent="0">
              <a:buNone/>
            </a:pPr>
            <a:endParaRPr lang="en-GB" dirty="0"/>
          </a:p>
          <a:p>
            <a:endParaRPr lang="en-GB" dirty="0"/>
          </a:p>
          <a:p>
            <a:endParaRPr lang="nl-NL" dirty="0"/>
          </a:p>
        </p:txBody>
      </p:sp>
    </p:spTree>
    <p:extLst>
      <p:ext uri="{BB962C8B-B14F-4D97-AF65-F5344CB8AC3E}">
        <p14:creationId xmlns:p14="http://schemas.microsoft.com/office/powerpoint/2010/main" val="14438939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22A6D-9B2A-672E-5C83-C59FBC580E6A}"/>
              </a:ext>
            </a:extLst>
          </p:cNvPr>
          <p:cNvSpPr>
            <a:spLocks noGrp="1"/>
          </p:cNvSpPr>
          <p:nvPr>
            <p:ph type="title"/>
          </p:nvPr>
        </p:nvSpPr>
        <p:spPr/>
        <p:txBody>
          <a:bodyPr/>
          <a:lstStyle/>
          <a:p>
            <a:r>
              <a:rPr lang="en-GB" dirty="0"/>
              <a:t>Process steps: the Camera</a:t>
            </a:r>
            <a:endParaRPr lang="nl-NL" dirty="0"/>
          </a:p>
        </p:txBody>
      </p:sp>
      <p:sp>
        <p:nvSpPr>
          <p:cNvPr id="3" name="Content Placeholder 2">
            <a:extLst>
              <a:ext uri="{FF2B5EF4-FFF2-40B4-BE49-F238E27FC236}">
                <a16:creationId xmlns:a16="http://schemas.microsoft.com/office/drawing/2014/main" id="{2A305FA8-BA23-B776-7837-68A4F0AF702E}"/>
              </a:ext>
            </a:extLst>
          </p:cNvPr>
          <p:cNvSpPr>
            <a:spLocks noGrp="1"/>
          </p:cNvSpPr>
          <p:nvPr>
            <p:ph idx="1"/>
          </p:nvPr>
        </p:nvSpPr>
        <p:spPr/>
        <p:txBody>
          <a:bodyPr>
            <a:normAutofit/>
          </a:bodyPr>
          <a:lstStyle/>
          <a:p>
            <a:pPr marL="0" indent="0">
              <a:buNone/>
            </a:pPr>
            <a:r>
              <a:rPr lang="en-GB" sz="2400" dirty="0"/>
              <a:t>Starting with right settings is key:</a:t>
            </a:r>
          </a:p>
          <a:p>
            <a:r>
              <a:rPr lang="en-GB" sz="2400" dirty="0"/>
              <a:t>Make sure GPS is enabled on your camera and as applicable on your phone.</a:t>
            </a:r>
          </a:p>
          <a:p>
            <a:r>
              <a:rPr lang="en-GB" sz="2400" dirty="0"/>
              <a:t>Use Raw if all possible</a:t>
            </a:r>
            <a:endParaRPr lang="nl-NL" sz="2000" dirty="0"/>
          </a:p>
        </p:txBody>
      </p:sp>
    </p:spTree>
    <p:extLst>
      <p:ext uri="{BB962C8B-B14F-4D97-AF65-F5344CB8AC3E}">
        <p14:creationId xmlns:p14="http://schemas.microsoft.com/office/powerpoint/2010/main" val="2223326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D88A5-DE2C-E250-54CD-29B5ECEA0F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1BCFD7-E296-B23D-B42E-19665E3C8ED8}"/>
              </a:ext>
            </a:extLst>
          </p:cNvPr>
          <p:cNvSpPr>
            <a:spLocks noGrp="1"/>
          </p:cNvSpPr>
          <p:nvPr>
            <p:ph type="title"/>
          </p:nvPr>
        </p:nvSpPr>
        <p:spPr/>
        <p:txBody>
          <a:bodyPr/>
          <a:lstStyle/>
          <a:p>
            <a:r>
              <a:rPr lang="en-GB" dirty="0"/>
              <a:t>Process steps: </a:t>
            </a:r>
            <a:r>
              <a:rPr lang="en-GB" dirty="0" err="1"/>
              <a:t>PhotoMechanic</a:t>
            </a:r>
            <a:endParaRPr lang="nl-NL" dirty="0"/>
          </a:p>
        </p:txBody>
      </p:sp>
      <p:sp>
        <p:nvSpPr>
          <p:cNvPr id="3" name="Content Placeholder 2">
            <a:extLst>
              <a:ext uri="{FF2B5EF4-FFF2-40B4-BE49-F238E27FC236}">
                <a16:creationId xmlns:a16="http://schemas.microsoft.com/office/drawing/2014/main" id="{6342C96C-CF3C-7FB5-BC9E-141E0AE3C94B}"/>
              </a:ext>
            </a:extLst>
          </p:cNvPr>
          <p:cNvSpPr>
            <a:spLocks noGrp="1"/>
          </p:cNvSpPr>
          <p:nvPr>
            <p:ph idx="1"/>
          </p:nvPr>
        </p:nvSpPr>
        <p:spPr/>
        <p:txBody>
          <a:bodyPr>
            <a:normAutofit lnSpcReduction="10000"/>
          </a:bodyPr>
          <a:lstStyle/>
          <a:p>
            <a:pPr marL="0" indent="0">
              <a:buNone/>
            </a:pPr>
            <a:r>
              <a:rPr lang="en-GB" sz="2400" dirty="0"/>
              <a:t>The </a:t>
            </a:r>
            <a:r>
              <a:rPr lang="en-GB" sz="2400" dirty="0" err="1"/>
              <a:t>PhotoMechanic</a:t>
            </a:r>
            <a:r>
              <a:rPr lang="en-GB" sz="2400" dirty="0"/>
              <a:t> steps are much faster than Lightroom on my Very Fast Windows computer, justifying a preprocessing step.  On the road, this may all I do.</a:t>
            </a:r>
          </a:p>
          <a:p>
            <a:pPr marL="514350" indent="-514350">
              <a:buFont typeface="+mj-lt"/>
              <a:buAutoNum type="arabicPeriod"/>
            </a:pPr>
            <a:r>
              <a:rPr lang="en-GB" sz="2400" dirty="0"/>
              <a:t>Get the files from the memory card with </a:t>
            </a:r>
            <a:r>
              <a:rPr lang="en-GB" sz="2400" b="1" dirty="0"/>
              <a:t>Photo Mechanic</a:t>
            </a:r>
            <a:r>
              <a:rPr lang="en-GB" sz="2400" dirty="0"/>
              <a:t> using </a:t>
            </a:r>
            <a:r>
              <a:rPr lang="en-GB" sz="2400" b="1" dirty="0"/>
              <a:t>Ingest</a:t>
            </a:r>
          </a:p>
          <a:p>
            <a:pPr marL="457200" lvl="1" indent="0">
              <a:buNone/>
            </a:pPr>
            <a:r>
              <a:rPr lang="en-GB" sz="1600" dirty="0"/>
              <a:t>This will copy all new files from an SD card. A directory is automatically created based on the data you run </a:t>
            </a:r>
            <a:r>
              <a:rPr lang="en-GB" sz="1600" dirty="0" err="1"/>
              <a:t>PhotoMechanic</a:t>
            </a:r>
            <a:r>
              <a:rPr lang="en-GB" sz="1600" dirty="0"/>
              <a:t>, not the date the file is created.</a:t>
            </a:r>
          </a:p>
          <a:p>
            <a:pPr marL="457200" indent="-457200">
              <a:buFont typeface="+mj-lt"/>
              <a:buAutoNum type="arabicPeriod"/>
            </a:pPr>
            <a:r>
              <a:rPr lang="en-GB" sz="2000" dirty="0" err="1"/>
              <a:t>Color</a:t>
            </a:r>
            <a:r>
              <a:rPr lang="en-GB" sz="2000" dirty="0"/>
              <a:t> code all pictures</a:t>
            </a:r>
          </a:p>
          <a:p>
            <a:pPr marL="457200" lvl="1" indent="0">
              <a:buNone/>
            </a:pPr>
            <a:r>
              <a:rPr lang="en-GB" sz="1600" dirty="0"/>
              <a:t>red=exceptional, yellow=very good, green=ok, blue=not good/too many, purple=bad</a:t>
            </a:r>
            <a:endParaRPr lang="nl-NL" sz="2000" dirty="0"/>
          </a:p>
          <a:p>
            <a:pPr marL="457200" indent="-457200">
              <a:buFont typeface="+mj-lt"/>
              <a:buAutoNum type="arabicPeriod"/>
            </a:pPr>
            <a:r>
              <a:rPr lang="nl-NL" sz="2000" dirty="0"/>
              <a:t>Put </a:t>
            </a:r>
            <a:r>
              <a:rPr lang="nl-NL" sz="2000" dirty="0" err="1"/>
              <a:t>the</a:t>
            </a:r>
            <a:r>
              <a:rPr lang="nl-NL" sz="2000" dirty="0"/>
              <a:t> species name </a:t>
            </a:r>
            <a:r>
              <a:rPr lang="nl-NL" sz="2000" dirty="0" err="1"/>
              <a:t>whenever</a:t>
            </a:r>
            <a:r>
              <a:rPr lang="nl-NL" sz="2000" dirty="0"/>
              <a:t> </a:t>
            </a:r>
            <a:r>
              <a:rPr lang="nl-NL" sz="2000" dirty="0" err="1"/>
              <a:t>possible</a:t>
            </a:r>
            <a:r>
              <a:rPr lang="nl-NL" sz="2000" dirty="0"/>
              <a:t>.  The </a:t>
            </a:r>
            <a:r>
              <a:rPr lang="nl-NL" sz="2000" dirty="0" err="1"/>
              <a:t>sooner</a:t>
            </a:r>
            <a:r>
              <a:rPr lang="nl-NL" sz="2000" dirty="0"/>
              <a:t> in </a:t>
            </a:r>
            <a:r>
              <a:rPr lang="nl-NL" sz="2000" dirty="0" err="1"/>
              <a:t>the</a:t>
            </a:r>
            <a:r>
              <a:rPr lang="nl-NL" sz="2000" dirty="0"/>
              <a:t> </a:t>
            </a:r>
            <a:r>
              <a:rPr lang="nl-NL" sz="2000" dirty="0" err="1"/>
              <a:t>process</a:t>
            </a:r>
            <a:r>
              <a:rPr lang="nl-NL" sz="2000" dirty="0"/>
              <a:t>, </a:t>
            </a:r>
            <a:r>
              <a:rPr lang="nl-NL" sz="2000" dirty="0" err="1"/>
              <a:t>the</a:t>
            </a:r>
            <a:r>
              <a:rPr lang="nl-NL" sz="2000" dirty="0"/>
              <a:t> more </a:t>
            </a:r>
            <a:r>
              <a:rPr lang="nl-NL" sz="2000" dirty="0" err="1"/>
              <a:t>efficient</a:t>
            </a:r>
            <a:r>
              <a:rPr lang="nl-NL" sz="2000" dirty="0"/>
              <a:t>.</a:t>
            </a:r>
          </a:p>
          <a:p>
            <a:pPr marL="457200" indent="-457200">
              <a:buFont typeface="+mj-lt"/>
              <a:buAutoNum type="arabicPeriod"/>
            </a:pPr>
            <a:r>
              <a:rPr lang="nl-NL" sz="2000" dirty="0"/>
              <a:t>Start </a:t>
            </a:r>
            <a:r>
              <a:rPr lang="nl-NL" sz="2000" dirty="0" err="1"/>
              <a:t>Lightroom</a:t>
            </a:r>
            <a:r>
              <a:rPr lang="nl-NL" sz="2000" dirty="0"/>
              <a:t>, </a:t>
            </a:r>
            <a:r>
              <a:rPr lang="nl-NL" sz="2000" dirty="0" err="1"/>
              <a:t>not</a:t>
            </a:r>
            <a:r>
              <a:rPr lang="nl-NL" sz="2000" dirty="0"/>
              <a:t> full-screen</a:t>
            </a:r>
          </a:p>
          <a:p>
            <a:pPr marL="457200" indent="-457200">
              <a:buFont typeface="+mj-lt"/>
              <a:buAutoNum type="arabicPeriod"/>
            </a:pPr>
            <a:r>
              <a:rPr lang="nl-NL" sz="2000" dirty="0"/>
              <a:t>Select </a:t>
            </a:r>
            <a:r>
              <a:rPr lang="nl-NL" sz="2000" dirty="0" err="1"/>
              <a:t>all</a:t>
            </a:r>
            <a:r>
              <a:rPr lang="nl-NL" sz="2000" dirty="0"/>
              <a:t> (red, </a:t>
            </a:r>
            <a:r>
              <a:rPr lang="nl-NL" sz="2000" dirty="0" err="1"/>
              <a:t>yellow</a:t>
            </a:r>
            <a:r>
              <a:rPr lang="nl-NL" sz="2000" dirty="0"/>
              <a:t> </a:t>
            </a:r>
            <a:r>
              <a:rPr lang="nl-NL" sz="2000" dirty="0" err="1"/>
              <a:t>and</a:t>
            </a:r>
            <a:r>
              <a:rPr lang="nl-NL" sz="2000" dirty="0"/>
              <a:t> green) pictures in </a:t>
            </a:r>
            <a:r>
              <a:rPr lang="nl-NL" sz="2000" dirty="0" err="1"/>
              <a:t>PhotoMechanic</a:t>
            </a:r>
            <a:r>
              <a:rPr lang="nl-NL" sz="2000" dirty="0"/>
              <a:t>, </a:t>
            </a:r>
            <a:r>
              <a:rPr lang="nl-NL" sz="2000" dirty="0" err="1"/>
              <a:t>and</a:t>
            </a:r>
            <a:r>
              <a:rPr lang="nl-NL" sz="2000" dirty="0"/>
              <a:t> drag </a:t>
            </a:r>
            <a:r>
              <a:rPr lang="nl-NL" sz="2000" dirty="0" err="1"/>
              <a:t>it</a:t>
            </a:r>
            <a:r>
              <a:rPr lang="nl-NL" sz="2000" dirty="0"/>
              <a:t> on </a:t>
            </a:r>
            <a:r>
              <a:rPr lang="nl-NL" sz="2000" dirty="0" err="1"/>
              <a:t>the</a:t>
            </a:r>
            <a:r>
              <a:rPr lang="nl-NL" sz="2000" dirty="0"/>
              <a:t> </a:t>
            </a:r>
            <a:r>
              <a:rPr lang="nl-NL" sz="2000" dirty="0" err="1"/>
              <a:t>main</a:t>
            </a:r>
            <a:r>
              <a:rPr lang="nl-NL" sz="2000" dirty="0"/>
              <a:t> </a:t>
            </a:r>
            <a:r>
              <a:rPr lang="nl-NL" sz="2000" dirty="0" err="1"/>
              <a:t>Lightroom</a:t>
            </a:r>
            <a:r>
              <a:rPr lang="nl-NL" sz="2000" dirty="0"/>
              <a:t> </a:t>
            </a:r>
            <a:r>
              <a:rPr lang="nl-NL" sz="2000" dirty="0" err="1"/>
              <a:t>window</a:t>
            </a:r>
            <a:r>
              <a:rPr lang="nl-NL" sz="2000" dirty="0"/>
              <a:t>.  Import </a:t>
            </a:r>
            <a:r>
              <a:rPr lang="nl-NL" sz="2000" dirty="0" err="1"/>
              <a:t>all</a:t>
            </a:r>
            <a:r>
              <a:rPr lang="nl-NL" sz="2000" dirty="0"/>
              <a:t> </a:t>
            </a:r>
            <a:r>
              <a:rPr lang="nl-NL" sz="2000" dirty="0" err="1"/>
              <a:t>good</a:t>
            </a:r>
            <a:r>
              <a:rPr lang="nl-NL" sz="2000" dirty="0"/>
              <a:t> pictures in </a:t>
            </a:r>
            <a:r>
              <a:rPr lang="nl-NL" sz="2000" dirty="0" err="1"/>
              <a:t>Lightroom</a:t>
            </a:r>
            <a:r>
              <a:rPr lang="nl-NL" sz="2000" dirty="0"/>
              <a:t>, delete blue &amp; </a:t>
            </a:r>
            <a:r>
              <a:rPr lang="nl-NL" sz="2000" dirty="0" err="1"/>
              <a:t>purple</a:t>
            </a:r>
            <a:endParaRPr lang="nl-NL" sz="2000" dirty="0"/>
          </a:p>
          <a:p>
            <a:pPr marL="457200" indent="-457200">
              <a:buFont typeface="+mj-lt"/>
              <a:buAutoNum type="arabicPeriod"/>
            </a:pPr>
            <a:r>
              <a:rPr lang="nl-NL" sz="2000" dirty="0"/>
              <a:t>Make a </a:t>
            </a:r>
            <a:r>
              <a:rPr lang="nl-NL" sz="2000" dirty="0" err="1"/>
              <a:t>backup</a:t>
            </a:r>
            <a:r>
              <a:rPr lang="nl-NL" sz="2000" dirty="0"/>
              <a:t> of </a:t>
            </a:r>
            <a:r>
              <a:rPr lang="nl-NL" sz="2000" dirty="0" err="1"/>
              <a:t>the</a:t>
            </a:r>
            <a:r>
              <a:rPr lang="nl-NL" sz="2000" dirty="0"/>
              <a:t> </a:t>
            </a:r>
            <a:r>
              <a:rPr lang="nl-NL" sz="2000" dirty="0" err="1"/>
              <a:t>PhotoMechanic</a:t>
            </a:r>
            <a:r>
              <a:rPr lang="nl-NL" sz="2000" dirty="0"/>
              <a:t> on a </a:t>
            </a:r>
            <a:r>
              <a:rPr lang="nl-NL" sz="2000" dirty="0" err="1"/>
              <a:t>seperate</a:t>
            </a:r>
            <a:r>
              <a:rPr lang="nl-NL" sz="2000" dirty="0"/>
              <a:t> drive or computer </a:t>
            </a:r>
            <a:r>
              <a:rPr lang="nl-NL" sz="2000" dirty="0" err="1"/>
              <a:t>just</a:t>
            </a:r>
            <a:r>
              <a:rPr lang="nl-NL" sz="2000" dirty="0"/>
              <a:t> case.</a:t>
            </a:r>
          </a:p>
        </p:txBody>
      </p:sp>
    </p:spTree>
    <p:extLst>
      <p:ext uri="{BB962C8B-B14F-4D97-AF65-F5344CB8AC3E}">
        <p14:creationId xmlns:p14="http://schemas.microsoft.com/office/powerpoint/2010/main" val="12146959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DECAD-2006-5D29-D447-5431E316CB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141592-EFB4-4F5E-16A8-46209E9C8E76}"/>
              </a:ext>
            </a:extLst>
          </p:cNvPr>
          <p:cNvSpPr>
            <a:spLocks noGrp="1"/>
          </p:cNvSpPr>
          <p:nvPr>
            <p:ph type="title"/>
          </p:nvPr>
        </p:nvSpPr>
        <p:spPr>
          <a:xfrm>
            <a:off x="526211" y="365125"/>
            <a:ext cx="11205714" cy="1325563"/>
          </a:xfrm>
        </p:spPr>
        <p:txBody>
          <a:bodyPr/>
          <a:lstStyle/>
          <a:p>
            <a:r>
              <a:rPr lang="en-GB" dirty="0"/>
              <a:t>Process steps: Lightroom (1)</a:t>
            </a:r>
            <a:endParaRPr lang="nl-NL" dirty="0"/>
          </a:p>
        </p:txBody>
      </p:sp>
      <p:sp>
        <p:nvSpPr>
          <p:cNvPr id="3" name="Content Placeholder 2">
            <a:extLst>
              <a:ext uri="{FF2B5EF4-FFF2-40B4-BE49-F238E27FC236}">
                <a16:creationId xmlns:a16="http://schemas.microsoft.com/office/drawing/2014/main" id="{9AD8FE44-DC25-3E4E-635F-7F993EE08E4A}"/>
              </a:ext>
            </a:extLst>
          </p:cNvPr>
          <p:cNvSpPr>
            <a:spLocks noGrp="1"/>
          </p:cNvSpPr>
          <p:nvPr>
            <p:ph idx="1"/>
          </p:nvPr>
        </p:nvSpPr>
        <p:spPr/>
        <p:txBody>
          <a:bodyPr>
            <a:normAutofit/>
          </a:bodyPr>
          <a:lstStyle/>
          <a:p>
            <a:pPr marL="0" indent="0">
              <a:buNone/>
            </a:pPr>
            <a:r>
              <a:rPr lang="en-GB" sz="2400" dirty="0"/>
              <a:t>Lightroom steps:</a:t>
            </a:r>
          </a:p>
          <a:p>
            <a:pPr marL="457200" indent="-457200">
              <a:buFont typeface="+mj-lt"/>
              <a:buAutoNum type="arabicPeriod"/>
            </a:pPr>
            <a:r>
              <a:rPr lang="nl-NL" sz="2000" dirty="0" err="1"/>
              <a:t>Create</a:t>
            </a:r>
            <a:r>
              <a:rPr lang="nl-NL" sz="2000" dirty="0"/>
              <a:t> a directory </a:t>
            </a:r>
            <a:r>
              <a:rPr lang="nl-NL" sz="2000" dirty="0" err="1"/>
              <a:t>for</a:t>
            </a:r>
            <a:r>
              <a:rPr lang="nl-NL" sz="2000" dirty="0"/>
              <a:t> </a:t>
            </a:r>
            <a:r>
              <a:rPr lang="nl-NL" sz="2000" dirty="0" err="1"/>
              <a:t>every</a:t>
            </a:r>
            <a:r>
              <a:rPr lang="nl-NL" sz="2000" dirty="0"/>
              <a:t> </a:t>
            </a:r>
            <a:br>
              <a:rPr lang="nl-NL" sz="2000" dirty="0"/>
            </a:br>
            <a:r>
              <a:rPr lang="nl-NL" sz="2000" dirty="0" err="1"/>
              <a:t>day</a:t>
            </a:r>
            <a:r>
              <a:rPr lang="nl-NL" sz="2000" dirty="0"/>
              <a:t> </a:t>
            </a:r>
            <a:r>
              <a:rPr lang="nl-NL" sz="2000" dirty="0" err="1"/>
              <a:t>while</a:t>
            </a:r>
            <a:r>
              <a:rPr lang="nl-NL" sz="2000" dirty="0"/>
              <a:t> running input </a:t>
            </a:r>
          </a:p>
          <a:p>
            <a:pPr marL="457200" indent="-457200">
              <a:buFont typeface="+mj-lt"/>
              <a:buAutoNum type="arabicPeriod"/>
            </a:pPr>
            <a:r>
              <a:rPr lang="nl-NL" sz="2000" dirty="0"/>
              <a:t>Make </a:t>
            </a:r>
            <a:r>
              <a:rPr lang="nl-NL" sz="2000" dirty="0" err="1"/>
              <a:t>unique</a:t>
            </a:r>
            <a:r>
              <a:rPr lang="nl-NL" sz="2000" dirty="0"/>
              <a:t> </a:t>
            </a:r>
            <a:r>
              <a:rPr lang="nl-NL" sz="2000" dirty="0" err="1"/>
              <a:t>names</a:t>
            </a:r>
            <a:r>
              <a:rPr lang="nl-NL" sz="2000" dirty="0"/>
              <a:t> </a:t>
            </a:r>
            <a:r>
              <a:rPr lang="nl-NL" sz="2000" dirty="0" err="1"/>
              <a:t>with</a:t>
            </a:r>
            <a:r>
              <a:rPr lang="nl-NL" sz="2000" dirty="0"/>
              <a:t> </a:t>
            </a:r>
            <a:br>
              <a:rPr lang="nl-NL" sz="2000" dirty="0"/>
            </a:br>
            <a:r>
              <a:rPr lang="nl-NL" sz="2000" dirty="0" err="1"/>
              <a:t>year</a:t>
            </a:r>
            <a:r>
              <a:rPr lang="nl-NL" sz="2000" dirty="0"/>
              <a:t> </a:t>
            </a:r>
            <a:r>
              <a:rPr lang="nl-NL" sz="2000" dirty="0" err="1"/>
              <a:t>and</a:t>
            </a:r>
            <a:r>
              <a:rPr lang="nl-NL" sz="2000" dirty="0"/>
              <a:t> </a:t>
            </a:r>
            <a:r>
              <a:rPr lang="nl-NL" sz="2000" dirty="0" err="1"/>
              <a:t>month</a:t>
            </a:r>
            <a:r>
              <a:rPr lang="nl-NL" sz="2000" dirty="0"/>
              <a:t> or topic</a:t>
            </a:r>
          </a:p>
          <a:p>
            <a:pPr marL="457200" indent="-457200">
              <a:buFont typeface="+mj-lt"/>
              <a:buAutoNum type="arabicPeriod"/>
            </a:pPr>
            <a:r>
              <a:rPr lang="nl-NL" sz="2000" dirty="0"/>
              <a:t>We </a:t>
            </a:r>
            <a:r>
              <a:rPr lang="nl-NL" sz="2000" dirty="0" err="1"/>
              <a:t>already</a:t>
            </a:r>
            <a:r>
              <a:rPr lang="nl-NL" sz="2000" dirty="0"/>
              <a:t> have a </a:t>
            </a:r>
            <a:br>
              <a:rPr lang="nl-NL" sz="2000" dirty="0"/>
            </a:br>
            <a:r>
              <a:rPr lang="nl-NL" sz="2000" dirty="0" err="1"/>
              <a:t>PhotoMechanic</a:t>
            </a:r>
            <a:r>
              <a:rPr lang="nl-NL" sz="2000" dirty="0"/>
              <a:t> copy (3).</a:t>
            </a:r>
          </a:p>
          <a:p>
            <a:pPr marL="0" indent="0">
              <a:buNone/>
            </a:pPr>
            <a:endParaRPr lang="en-GB" sz="2000" dirty="0"/>
          </a:p>
        </p:txBody>
      </p:sp>
      <p:pic>
        <p:nvPicPr>
          <p:cNvPr id="11" name="Picture 10">
            <a:extLst>
              <a:ext uri="{FF2B5EF4-FFF2-40B4-BE49-F238E27FC236}">
                <a16:creationId xmlns:a16="http://schemas.microsoft.com/office/drawing/2014/main" id="{9F246CBC-DAAF-3110-80C4-8476EBD2C0E2}"/>
              </a:ext>
            </a:extLst>
          </p:cNvPr>
          <p:cNvPicPr>
            <a:picLocks noChangeAspect="1"/>
          </p:cNvPicPr>
          <p:nvPr/>
        </p:nvPicPr>
        <p:blipFill>
          <a:blip r:embed="rId2"/>
          <a:stretch>
            <a:fillRect/>
          </a:stretch>
        </p:blipFill>
        <p:spPr>
          <a:xfrm>
            <a:off x="4660738" y="1825625"/>
            <a:ext cx="7426044" cy="4264624"/>
          </a:xfrm>
          <a:prstGeom prst="rect">
            <a:avLst/>
          </a:prstGeom>
        </p:spPr>
      </p:pic>
    </p:spTree>
    <p:extLst>
      <p:ext uri="{BB962C8B-B14F-4D97-AF65-F5344CB8AC3E}">
        <p14:creationId xmlns:p14="http://schemas.microsoft.com/office/powerpoint/2010/main" val="7812376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EAB89-D02E-2E47-5685-33BAF3A207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A29824-89AC-2184-83AA-77162AE6576D}"/>
              </a:ext>
            </a:extLst>
          </p:cNvPr>
          <p:cNvSpPr>
            <a:spLocks noGrp="1"/>
          </p:cNvSpPr>
          <p:nvPr>
            <p:ph type="title"/>
          </p:nvPr>
        </p:nvSpPr>
        <p:spPr>
          <a:xfrm>
            <a:off x="526211" y="365125"/>
            <a:ext cx="11205714" cy="1325563"/>
          </a:xfrm>
        </p:spPr>
        <p:txBody>
          <a:bodyPr/>
          <a:lstStyle/>
          <a:p>
            <a:r>
              <a:rPr lang="en-GB" dirty="0"/>
              <a:t>Process steps: Lightroom (2)</a:t>
            </a:r>
            <a:endParaRPr lang="nl-NL" dirty="0"/>
          </a:p>
        </p:txBody>
      </p:sp>
      <p:sp>
        <p:nvSpPr>
          <p:cNvPr id="3" name="Content Placeholder 2">
            <a:extLst>
              <a:ext uri="{FF2B5EF4-FFF2-40B4-BE49-F238E27FC236}">
                <a16:creationId xmlns:a16="http://schemas.microsoft.com/office/drawing/2014/main" id="{209C6F0B-B850-9F4A-D2C1-C4A808E724D9}"/>
              </a:ext>
            </a:extLst>
          </p:cNvPr>
          <p:cNvSpPr>
            <a:spLocks noGrp="1"/>
          </p:cNvSpPr>
          <p:nvPr>
            <p:ph idx="1"/>
          </p:nvPr>
        </p:nvSpPr>
        <p:spPr/>
        <p:txBody>
          <a:bodyPr>
            <a:normAutofit/>
          </a:bodyPr>
          <a:lstStyle/>
          <a:p>
            <a:pPr marL="0" indent="0">
              <a:buNone/>
            </a:pPr>
            <a:r>
              <a:rPr lang="en-GB" sz="2400" dirty="0"/>
              <a:t>Lightroom steps</a:t>
            </a:r>
          </a:p>
          <a:p>
            <a:pPr marL="457200" indent="-457200">
              <a:buFont typeface="+mj-lt"/>
              <a:buAutoNum type="arabicPeriod"/>
            </a:pPr>
            <a:r>
              <a:rPr lang="nl-NL" sz="2000" dirty="0"/>
              <a:t>Make </a:t>
            </a:r>
            <a:r>
              <a:rPr lang="nl-NL" sz="2000" dirty="0" err="1"/>
              <a:t>sure</a:t>
            </a:r>
            <a:r>
              <a:rPr lang="nl-NL" sz="2000" dirty="0"/>
              <a:t> </a:t>
            </a:r>
            <a:r>
              <a:rPr lang="nl-NL" sz="2000" dirty="0" err="1"/>
              <a:t>all</a:t>
            </a:r>
            <a:r>
              <a:rPr lang="nl-NL" sz="2000" dirty="0"/>
              <a:t> time-zone </a:t>
            </a:r>
            <a:r>
              <a:rPr lang="nl-NL" sz="2000" dirty="0" err="1"/>
              <a:t>settings</a:t>
            </a:r>
            <a:r>
              <a:rPr lang="nl-NL" sz="2000" dirty="0"/>
              <a:t> are </a:t>
            </a:r>
            <a:br>
              <a:rPr lang="nl-NL" sz="2000" dirty="0"/>
            </a:br>
            <a:r>
              <a:rPr lang="nl-NL" sz="2000" dirty="0" err="1"/>
              <a:t>good</a:t>
            </a:r>
            <a:r>
              <a:rPr lang="nl-NL" sz="2000" dirty="0"/>
              <a:t>, </a:t>
            </a:r>
            <a:r>
              <a:rPr lang="nl-NL" sz="2000" dirty="0" err="1"/>
              <a:t>if</a:t>
            </a:r>
            <a:r>
              <a:rPr lang="nl-NL" sz="2000" dirty="0"/>
              <a:t> </a:t>
            </a:r>
            <a:r>
              <a:rPr lang="nl-NL" sz="2000" dirty="0" err="1"/>
              <a:t>not</a:t>
            </a:r>
            <a:r>
              <a:rPr lang="nl-NL" sz="2000" dirty="0"/>
              <a:t> </a:t>
            </a:r>
            <a:r>
              <a:rPr lang="nl-NL" sz="2000" dirty="0" err="1"/>
              <a:t>adjust</a:t>
            </a:r>
            <a:r>
              <a:rPr lang="nl-NL" sz="2000" dirty="0"/>
              <a:t> </a:t>
            </a:r>
            <a:r>
              <a:rPr lang="nl-NL" sz="2000" dirty="0" err="1"/>
              <a:t>them</a:t>
            </a:r>
            <a:r>
              <a:rPr lang="nl-NL" sz="2000" dirty="0"/>
              <a:t> (top right).</a:t>
            </a:r>
          </a:p>
          <a:p>
            <a:pPr marL="457200" indent="-457200">
              <a:buFont typeface="+mj-lt"/>
              <a:buAutoNum type="arabicPeriod"/>
            </a:pPr>
            <a:r>
              <a:rPr lang="nl-NL" sz="2000" dirty="0"/>
              <a:t>Make </a:t>
            </a:r>
            <a:r>
              <a:rPr lang="nl-NL" sz="2000" dirty="0" err="1"/>
              <a:t>sure</a:t>
            </a:r>
            <a:r>
              <a:rPr lang="nl-NL" sz="2000" dirty="0"/>
              <a:t> </a:t>
            </a:r>
            <a:r>
              <a:rPr lang="nl-NL" sz="2000" dirty="0" err="1"/>
              <a:t>the</a:t>
            </a:r>
            <a:r>
              <a:rPr lang="nl-NL" sz="2000" dirty="0"/>
              <a:t> appropriatie pictures </a:t>
            </a:r>
            <a:br>
              <a:rPr lang="nl-NL" sz="2000" dirty="0"/>
            </a:br>
            <a:r>
              <a:rPr lang="nl-NL" sz="2000" dirty="0"/>
              <a:t>get a species name (</a:t>
            </a:r>
            <a:r>
              <a:rPr lang="nl-NL" sz="2000" dirty="0" err="1"/>
              <a:t>bottom</a:t>
            </a:r>
            <a:r>
              <a:rPr lang="nl-NL" sz="2000" dirty="0"/>
              <a:t> right)</a:t>
            </a:r>
          </a:p>
          <a:p>
            <a:pPr marL="457200" indent="-457200">
              <a:buFont typeface="+mj-lt"/>
              <a:buAutoNum type="arabicPeriod"/>
            </a:pPr>
            <a:r>
              <a:rPr lang="nl-NL" sz="2000" dirty="0" err="1"/>
              <a:t>Use</a:t>
            </a:r>
            <a:r>
              <a:rPr lang="nl-NL" sz="2000" dirty="0"/>
              <a:t> stars </a:t>
            </a:r>
            <a:r>
              <a:rPr lang="nl-NL" sz="2000" dirty="0" err="1"/>
              <a:t>to</a:t>
            </a:r>
            <a:r>
              <a:rPr lang="nl-NL" sz="2000" dirty="0"/>
              <a:t> mark </a:t>
            </a:r>
            <a:r>
              <a:rPr lang="nl-NL" sz="2000" dirty="0" err="1"/>
              <a:t>the</a:t>
            </a:r>
            <a:r>
              <a:rPr lang="nl-NL" sz="2000" dirty="0"/>
              <a:t> best pictures, </a:t>
            </a:r>
            <a:br>
              <a:rPr lang="nl-NL" sz="2000" dirty="0"/>
            </a:br>
            <a:r>
              <a:rPr lang="nl-NL" sz="2000" dirty="0"/>
              <a:t>eg show </a:t>
            </a:r>
            <a:r>
              <a:rPr lang="nl-NL" sz="2000" dirty="0" err="1"/>
              <a:t>them</a:t>
            </a:r>
            <a:r>
              <a:rPr lang="nl-NL" sz="2000" dirty="0"/>
              <a:t> on </a:t>
            </a:r>
            <a:r>
              <a:rPr lang="nl-NL" sz="2000" dirty="0" err="1"/>
              <a:t>the</a:t>
            </a:r>
            <a:r>
              <a:rPr lang="nl-NL" sz="2000" dirty="0"/>
              <a:t> web site</a:t>
            </a:r>
          </a:p>
          <a:p>
            <a:pPr marL="457200" indent="-457200">
              <a:buFont typeface="+mj-lt"/>
              <a:buAutoNum type="arabicPeriod"/>
            </a:pPr>
            <a:r>
              <a:rPr lang="nl-NL" sz="2000" dirty="0"/>
              <a:t>Update </a:t>
            </a:r>
            <a:r>
              <a:rPr lang="nl-NL" sz="2000" dirty="0" err="1"/>
              <a:t>the</a:t>
            </a:r>
            <a:r>
              <a:rPr lang="nl-NL" sz="2000" dirty="0"/>
              <a:t> </a:t>
            </a:r>
            <a:r>
              <a:rPr lang="nl-NL" sz="2000" dirty="0" err="1"/>
              <a:t>color</a:t>
            </a:r>
            <a:r>
              <a:rPr lang="nl-NL" sz="2000" dirty="0"/>
              <a:t> as </a:t>
            </a:r>
            <a:r>
              <a:rPr lang="nl-NL" sz="2000" dirty="0" err="1"/>
              <a:t>needed</a:t>
            </a:r>
            <a:r>
              <a:rPr lang="nl-NL" sz="2000" dirty="0"/>
              <a:t>, eg </a:t>
            </a:r>
            <a:br>
              <a:rPr lang="nl-NL" sz="2000" dirty="0"/>
            </a:br>
            <a:r>
              <a:rPr lang="nl-NL" sz="2000" dirty="0" err="1"/>
              <a:t>to</a:t>
            </a:r>
            <a:r>
              <a:rPr lang="nl-NL" sz="2000" dirty="0"/>
              <a:t> </a:t>
            </a:r>
            <a:r>
              <a:rPr lang="nl-NL" sz="2000" dirty="0" err="1"/>
              <a:t>find</a:t>
            </a:r>
            <a:r>
              <a:rPr lang="nl-NL" sz="2000" dirty="0"/>
              <a:t> </a:t>
            </a:r>
            <a:r>
              <a:rPr lang="nl-NL" sz="2000" dirty="0" err="1"/>
              <a:t>the</a:t>
            </a:r>
            <a:r>
              <a:rPr lang="nl-NL" sz="2000" dirty="0"/>
              <a:t> best pictures </a:t>
            </a:r>
            <a:r>
              <a:rPr lang="nl-NL" sz="2000" dirty="0" err="1"/>
              <a:t>for</a:t>
            </a:r>
            <a:r>
              <a:rPr lang="nl-NL" sz="2000" dirty="0"/>
              <a:t> a species</a:t>
            </a:r>
          </a:p>
          <a:p>
            <a:pPr marL="457200" indent="-457200">
              <a:buFont typeface="+mj-lt"/>
              <a:buAutoNum type="arabicPeriod"/>
            </a:pPr>
            <a:endParaRPr lang="nl-NL" sz="2000" dirty="0"/>
          </a:p>
          <a:p>
            <a:pPr marL="0" indent="0">
              <a:buNone/>
            </a:pPr>
            <a:endParaRPr lang="en-GB" sz="2000" dirty="0"/>
          </a:p>
        </p:txBody>
      </p:sp>
      <p:pic>
        <p:nvPicPr>
          <p:cNvPr id="7" name="Picture 6">
            <a:extLst>
              <a:ext uri="{FF2B5EF4-FFF2-40B4-BE49-F238E27FC236}">
                <a16:creationId xmlns:a16="http://schemas.microsoft.com/office/drawing/2014/main" id="{AEEA3D84-D584-524E-DB68-49200F866463}"/>
              </a:ext>
            </a:extLst>
          </p:cNvPr>
          <p:cNvPicPr>
            <a:picLocks noChangeAspect="1"/>
          </p:cNvPicPr>
          <p:nvPr/>
        </p:nvPicPr>
        <p:blipFill>
          <a:blip r:embed="rId2"/>
          <a:stretch>
            <a:fillRect/>
          </a:stretch>
        </p:blipFill>
        <p:spPr>
          <a:xfrm>
            <a:off x="5482147" y="1406015"/>
            <a:ext cx="6431915" cy="2726037"/>
          </a:xfrm>
          <a:prstGeom prst="rect">
            <a:avLst/>
          </a:prstGeom>
        </p:spPr>
      </p:pic>
      <p:pic>
        <p:nvPicPr>
          <p:cNvPr id="5" name="Picture 4">
            <a:extLst>
              <a:ext uri="{FF2B5EF4-FFF2-40B4-BE49-F238E27FC236}">
                <a16:creationId xmlns:a16="http://schemas.microsoft.com/office/drawing/2014/main" id="{F94402EB-F819-0F6E-9C79-BCF7D170BA6B}"/>
              </a:ext>
            </a:extLst>
          </p:cNvPr>
          <p:cNvPicPr>
            <a:picLocks noChangeAspect="1"/>
          </p:cNvPicPr>
          <p:nvPr/>
        </p:nvPicPr>
        <p:blipFill>
          <a:blip r:embed="rId3"/>
          <a:stretch>
            <a:fillRect/>
          </a:stretch>
        </p:blipFill>
        <p:spPr>
          <a:xfrm>
            <a:off x="5522203" y="4001294"/>
            <a:ext cx="6195872" cy="6754483"/>
          </a:xfrm>
          <a:prstGeom prst="rect">
            <a:avLst/>
          </a:prstGeom>
        </p:spPr>
      </p:pic>
    </p:spTree>
    <p:extLst>
      <p:ext uri="{BB962C8B-B14F-4D97-AF65-F5344CB8AC3E}">
        <p14:creationId xmlns:p14="http://schemas.microsoft.com/office/powerpoint/2010/main" val="34122267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45E54-8F27-B4D4-5AFA-0F846DD51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EC1A49-EF08-0B3F-846F-EF590D17F625}"/>
              </a:ext>
            </a:extLst>
          </p:cNvPr>
          <p:cNvSpPr>
            <a:spLocks noGrp="1"/>
          </p:cNvSpPr>
          <p:nvPr>
            <p:ph type="title"/>
          </p:nvPr>
        </p:nvSpPr>
        <p:spPr>
          <a:xfrm>
            <a:off x="526211" y="365125"/>
            <a:ext cx="11205714" cy="1325563"/>
          </a:xfrm>
        </p:spPr>
        <p:txBody>
          <a:bodyPr/>
          <a:lstStyle/>
          <a:p>
            <a:r>
              <a:rPr lang="en-GB" dirty="0"/>
              <a:t>Process steps: DxO </a:t>
            </a:r>
            <a:r>
              <a:rPr lang="en-GB" dirty="0" err="1"/>
              <a:t>PhotoLab</a:t>
            </a:r>
            <a:endParaRPr lang="nl-NL" dirty="0"/>
          </a:p>
        </p:txBody>
      </p:sp>
      <p:sp>
        <p:nvSpPr>
          <p:cNvPr id="3" name="Content Placeholder 2">
            <a:extLst>
              <a:ext uri="{FF2B5EF4-FFF2-40B4-BE49-F238E27FC236}">
                <a16:creationId xmlns:a16="http://schemas.microsoft.com/office/drawing/2014/main" id="{F996226A-2CD0-D5D3-F5CF-06BAC293379A}"/>
              </a:ext>
            </a:extLst>
          </p:cNvPr>
          <p:cNvSpPr>
            <a:spLocks noGrp="1"/>
          </p:cNvSpPr>
          <p:nvPr>
            <p:ph idx="1"/>
          </p:nvPr>
        </p:nvSpPr>
        <p:spPr/>
        <p:txBody>
          <a:bodyPr>
            <a:normAutofit/>
          </a:bodyPr>
          <a:lstStyle/>
          <a:p>
            <a:pPr marL="0" indent="0">
              <a:buNone/>
            </a:pPr>
            <a:r>
              <a:rPr lang="en-GB" sz="2400" dirty="0"/>
              <a:t>DxO </a:t>
            </a:r>
            <a:r>
              <a:rPr lang="en-GB" sz="2400" dirty="0" err="1"/>
              <a:t>PhotoLab</a:t>
            </a:r>
            <a:r>
              <a:rPr lang="en-GB" sz="2400" dirty="0"/>
              <a:t> does do miracles to (high ISO) pictures, worth a separate step. </a:t>
            </a:r>
          </a:p>
          <a:p>
            <a:pPr marL="457200" indent="-457200">
              <a:buFont typeface="+mj-lt"/>
              <a:buAutoNum type="arabicPeriod"/>
            </a:pPr>
            <a:r>
              <a:rPr lang="en-GB" sz="2400" dirty="0"/>
              <a:t>C</a:t>
            </a:r>
            <a:r>
              <a:rPr lang="nl-NL" sz="2000" dirty="0"/>
              <a:t>rop </a:t>
            </a:r>
            <a:r>
              <a:rPr lang="nl-NL" sz="2000" dirty="0" err="1"/>
              <a:t>and</a:t>
            </a:r>
            <a:r>
              <a:rPr lang="nl-NL" sz="2000" dirty="0"/>
              <a:t> </a:t>
            </a:r>
            <a:r>
              <a:rPr lang="nl-NL" sz="2000" dirty="0" err="1"/>
              <a:t>sharpen</a:t>
            </a:r>
            <a:r>
              <a:rPr lang="nl-NL" sz="2000" dirty="0"/>
              <a:t> </a:t>
            </a:r>
            <a:r>
              <a:rPr lang="nl-NL" sz="2000" dirty="0" err="1"/>
              <a:t>the</a:t>
            </a:r>
            <a:r>
              <a:rPr lang="nl-NL" sz="2000" dirty="0"/>
              <a:t> best pictures </a:t>
            </a:r>
            <a:r>
              <a:rPr lang="nl-NL" sz="2000" dirty="0" err="1"/>
              <a:t>with</a:t>
            </a:r>
            <a:r>
              <a:rPr lang="nl-NL" sz="2000" dirty="0"/>
              <a:t> DxO </a:t>
            </a:r>
            <a:r>
              <a:rPr lang="nl-NL" sz="2000" dirty="0" err="1"/>
              <a:t>PhotoLab</a:t>
            </a:r>
            <a:endParaRPr lang="nl-NL" sz="2000" dirty="0"/>
          </a:p>
          <a:p>
            <a:pPr lvl="1"/>
            <a:r>
              <a:rPr lang="nl-NL" sz="1600" dirty="0" err="1"/>
              <a:t>PhotoLab</a:t>
            </a:r>
            <a:r>
              <a:rPr lang="nl-NL" sz="1600" dirty="0"/>
              <a:t> </a:t>
            </a:r>
            <a:r>
              <a:rPr lang="nl-NL" sz="1600" dirty="0" err="1"/>
              <a:t>advanced</a:t>
            </a:r>
            <a:r>
              <a:rPr lang="nl-NL" sz="1600" dirty="0"/>
              <a:t> </a:t>
            </a:r>
            <a:r>
              <a:rPr lang="nl-NL" sz="1600" dirty="0" err="1"/>
              <a:t>sharpening</a:t>
            </a:r>
            <a:r>
              <a:rPr lang="nl-NL" sz="1600" dirty="0"/>
              <a:t> </a:t>
            </a:r>
            <a:r>
              <a:rPr lang="nl-NL" sz="1600" dirty="0" err="1"/>
              <a:t>can</a:t>
            </a:r>
            <a:r>
              <a:rPr lang="nl-NL" sz="1600" dirty="0"/>
              <a:t> </a:t>
            </a:r>
            <a:r>
              <a:rPr lang="nl-NL" sz="1600" dirty="0" err="1"/>
              <a:t>be</a:t>
            </a:r>
            <a:r>
              <a:rPr lang="nl-NL" sz="1600" dirty="0"/>
              <a:t> </a:t>
            </a:r>
            <a:r>
              <a:rPr lang="nl-NL" sz="1600" dirty="0" err="1"/>
              <a:t>too</a:t>
            </a:r>
            <a:r>
              <a:rPr lang="nl-NL" sz="1600" dirty="0"/>
              <a:t> slow on a </a:t>
            </a:r>
            <a:r>
              <a:rPr lang="nl-NL" sz="1600" dirty="0" err="1"/>
              <a:t>travel</a:t>
            </a:r>
            <a:r>
              <a:rPr lang="nl-NL" sz="1600" dirty="0"/>
              <a:t> (Windows) laptop.</a:t>
            </a:r>
          </a:p>
          <a:p>
            <a:pPr marL="457200" indent="-457200">
              <a:buFont typeface="+mj-lt"/>
              <a:buAutoNum type="arabicPeriod"/>
            </a:pPr>
            <a:r>
              <a:rPr lang="nl-NL" sz="2000" dirty="0" err="1"/>
              <a:t>Many</a:t>
            </a:r>
            <a:r>
              <a:rPr lang="nl-NL" sz="2000" dirty="0"/>
              <a:t> options </a:t>
            </a:r>
            <a:r>
              <a:rPr lang="nl-NL" sz="2000" dirty="0" err="1"/>
              <a:t>similar</a:t>
            </a:r>
            <a:r>
              <a:rPr lang="nl-NL" sz="2000" dirty="0"/>
              <a:t> </a:t>
            </a:r>
            <a:r>
              <a:rPr lang="nl-NL" sz="2000" dirty="0" err="1"/>
              <a:t>to</a:t>
            </a:r>
            <a:r>
              <a:rPr lang="nl-NL" sz="2000" dirty="0"/>
              <a:t> </a:t>
            </a:r>
            <a:r>
              <a:rPr lang="nl-NL" sz="2000" dirty="0" err="1"/>
              <a:t>what</a:t>
            </a:r>
            <a:r>
              <a:rPr lang="nl-NL" sz="2000" dirty="0"/>
              <a:t> </a:t>
            </a:r>
            <a:r>
              <a:rPr lang="nl-NL" sz="2000" dirty="0" err="1"/>
              <a:t>Lightroom</a:t>
            </a:r>
            <a:r>
              <a:rPr lang="nl-NL" sz="2000" dirty="0"/>
              <a:t> has, but </a:t>
            </a:r>
            <a:r>
              <a:rPr lang="nl-NL" sz="2000" dirty="0" err="1"/>
              <a:t>the</a:t>
            </a:r>
            <a:r>
              <a:rPr lang="nl-NL" sz="2000" dirty="0"/>
              <a:t> </a:t>
            </a:r>
            <a:r>
              <a:rPr lang="nl-NL" sz="2000" dirty="0" err="1"/>
              <a:t>sharpening</a:t>
            </a:r>
            <a:r>
              <a:rPr lang="nl-NL" sz="2000" dirty="0"/>
              <a:t> is superior</a:t>
            </a:r>
          </a:p>
          <a:p>
            <a:pPr lvl="1"/>
            <a:r>
              <a:rPr lang="nl-NL" sz="1600" dirty="0"/>
              <a:t>WARNING: </a:t>
            </a:r>
            <a:r>
              <a:rPr lang="nl-NL" sz="1600" dirty="0" err="1"/>
              <a:t>the</a:t>
            </a:r>
            <a:r>
              <a:rPr lang="nl-NL" sz="1600" dirty="0"/>
              <a:t> </a:t>
            </a:r>
            <a:r>
              <a:rPr lang="nl-NL" sz="1600" dirty="0" err="1"/>
              <a:t>cropping</a:t>
            </a:r>
            <a:r>
              <a:rPr lang="nl-NL" sz="1600" dirty="0"/>
              <a:t> in </a:t>
            </a:r>
            <a:r>
              <a:rPr lang="nl-NL" sz="1600" dirty="0" err="1"/>
              <a:t>Lightroom</a:t>
            </a:r>
            <a:r>
              <a:rPr lang="nl-NL" sz="1600" dirty="0"/>
              <a:t> is </a:t>
            </a:r>
            <a:r>
              <a:rPr lang="nl-NL" sz="1600" dirty="0" err="1"/>
              <a:t>not</a:t>
            </a:r>
            <a:r>
              <a:rPr lang="nl-NL" sz="1600" dirty="0"/>
              <a:t> </a:t>
            </a:r>
            <a:r>
              <a:rPr lang="nl-NL" sz="1600" dirty="0" err="1"/>
              <a:t>visible</a:t>
            </a:r>
            <a:r>
              <a:rPr lang="nl-NL" sz="1600" dirty="0"/>
              <a:t> in DxO </a:t>
            </a:r>
            <a:r>
              <a:rPr lang="nl-NL" sz="1600" dirty="0" err="1"/>
              <a:t>and</a:t>
            </a:r>
            <a:r>
              <a:rPr lang="nl-NL" sz="1600" dirty="0"/>
              <a:t> </a:t>
            </a:r>
            <a:r>
              <a:rPr lang="nl-NL" sz="1600" dirty="0" err="1"/>
              <a:t>vice</a:t>
            </a:r>
            <a:r>
              <a:rPr lang="nl-NL" sz="1600" dirty="0"/>
              <a:t> versa</a:t>
            </a:r>
          </a:p>
          <a:p>
            <a:pPr marL="457200" indent="-457200">
              <a:buFont typeface="+mj-lt"/>
              <a:buAutoNum type="arabicPeriod"/>
            </a:pPr>
            <a:r>
              <a:rPr lang="nl-NL" sz="2000" dirty="0"/>
              <a:t>Save a JPG</a:t>
            </a:r>
          </a:p>
          <a:p>
            <a:pPr lvl="1"/>
            <a:r>
              <a:rPr lang="nl-NL" sz="1600" dirty="0"/>
              <a:t>I </a:t>
            </a:r>
            <a:r>
              <a:rPr lang="nl-NL" sz="1600" dirty="0" err="1"/>
              <a:t>recommend</a:t>
            </a:r>
            <a:r>
              <a:rPr lang="nl-NL" sz="1600" dirty="0"/>
              <a:t> 2000x1500 </a:t>
            </a:r>
            <a:r>
              <a:rPr lang="nl-NL" sz="1600" dirty="0" err="1"/>
              <a:t>for</a:t>
            </a:r>
            <a:r>
              <a:rPr lang="nl-NL" sz="1600" dirty="0"/>
              <a:t> 4:3 pictures on </a:t>
            </a:r>
            <a:r>
              <a:rPr lang="nl-NL" sz="1600" dirty="0" err="1"/>
              <a:t>the</a:t>
            </a:r>
            <a:r>
              <a:rPr lang="nl-NL" sz="1600" dirty="0"/>
              <a:t> Web (</a:t>
            </a:r>
            <a:r>
              <a:rPr lang="nl-NL" sz="1600" dirty="0" err="1"/>
              <a:t>and</a:t>
            </a:r>
            <a:r>
              <a:rPr lang="nl-NL" sz="1600" dirty="0"/>
              <a:t> 2000x1333 </a:t>
            </a:r>
            <a:r>
              <a:rPr lang="nl-NL" sz="1600" dirty="0" err="1"/>
              <a:t>for</a:t>
            </a:r>
            <a:r>
              <a:rPr lang="nl-NL" sz="1600" dirty="0"/>
              <a:t> DX </a:t>
            </a:r>
            <a:r>
              <a:rPr lang="nl-NL" sz="1600" dirty="0" err="1"/>
              <a:t>and</a:t>
            </a:r>
            <a:r>
              <a:rPr lang="nl-NL" sz="1600" dirty="0"/>
              <a:t> FF)</a:t>
            </a:r>
          </a:p>
          <a:p>
            <a:pPr marL="457200" indent="-457200">
              <a:buFont typeface="+mj-lt"/>
              <a:buAutoNum type="arabicPeriod"/>
            </a:pPr>
            <a:r>
              <a:rPr lang="nl-NL" sz="2000" dirty="0" err="1"/>
              <a:t>Publish</a:t>
            </a:r>
            <a:r>
              <a:rPr lang="nl-NL" sz="2000" dirty="0"/>
              <a:t> </a:t>
            </a:r>
            <a:r>
              <a:rPr lang="nl-NL" sz="2000" dirty="0" err="1"/>
              <a:t>them</a:t>
            </a:r>
            <a:r>
              <a:rPr lang="nl-NL" sz="2000" dirty="0"/>
              <a:t> or </a:t>
            </a:r>
            <a:r>
              <a:rPr lang="nl-NL" sz="2000" dirty="0" err="1"/>
              <a:t>use</a:t>
            </a:r>
            <a:r>
              <a:rPr lang="nl-NL" sz="2000" dirty="0"/>
              <a:t> SpeciesViewer </a:t>
            </a:r>
            <a:r>
              <a:rPr lang="nl-NL" sz="2000" dirty="0" err="1"/>
              <a:t>to</a:t>
            </a:r>
            <a:r>
              <a:rPr lang="nl-NL" sz="2000" dirty="0"/>
              <a:t> </a:t>
            </a:r>
            <a:r>
              <a:rPr lang="nl-NL" sz="2000" dirty="0" err="1"/>
              <a:t>build</a:t>
            </a:r>
            <a:r>
              <a:rPr lang="nl-NL" sz="2000" dirty="0"/>
              <a:t> a species website.</a:t>
            </a:r>
            <a:br>
              <a:rPr lang="nl-NL" sz="2000" dirty="0"/>
            </a:br>
            <a:endParaRPr lang="nl-NL" sz="2000" dirty="0"/>
          </a:p>
          <a:p>
            <a:pPr marL="0" indent="0">
              <a:buNone/>
            </a:pPr>
            <a:r>
              <a:rPr lang="en-GB" sz="2000" dirty="0"/>
              <a:t>DXO </a:t>
            </a:r>
            <a:r>
              <a:rPr lang="en-GB" sz="2000" dirty="0" err="1"/>
              <a:t>PureRaw</a:t>
            </a:r>
            <a:r>
              <a:rPr lang="en-GB" sz="2000" dirty="0"/>
              <a:t> is marginally better to reduce noise, but I find </a:t>
            </a:r>
            <a:r>
              <a:rPr lang="en-GB" sz="2000" dirty="0" err="1"/>
              <a:t>PhotoLab</a:t>
            </a:r>
            <a:r>
              <a:rPr lang="en-GB" sz="2000" dirty="0"/>
              <a:t> a much more versatile product.</a:t>
            </a:r>
          </a:p>
        </p:txBody>
      </p:sp>
    </p:spTree>
    <p:extLst>
      <p:ext uri="{BB962C8B-B14F-4D97-AF65-F5344CB8AC3E}">
        <p14:creationId xmlns:p14="http://schemas.microsoft.com/office/powerpoint/2010/main" val="33773675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1D579-B0F2-8D05-D218-582482FA46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6675BD-9F49-7EBE-B1F2-3B1163ECD83C}"/>
              </a:ext>
            </a:extLst>
          </p:cNvPr>
          <p:cNvSpPr>
            <a:spLocks noGrp="1"/>
          </p:cNvSpPr>
          <p:nvPr>
            <p:ph type="title"/>
          </p:nvPr>
        </p:nvSpPr>
        <p:spPr>
          <a:xfrm>
            <a:off x="526211" y="365125"/>
            <a:ext cx="11205714" cy="1325563"/>
          </a:xfrm>
        </p:spPr>
        <p:txBody>
          <a:bodyPr/>
          <a:lstStyle/>
          <a:p>
            <a:r>
              <a:rPr lang="en-GB" dirty="0"/>
              <a:t>Process steps: SpeciesViewer</a:t>
            </a:r>
            <a:endParaRPr lang="nl-NL" dirty="0"/>
          </a:p>
        </p:txBody>
      </p:sp>
      <p:sp>
        <p:nvSpPr>
          <p:cNvPr id="3" name="Content Placeholder 2">
            <a:extLst>
              <a:ext uri="{FF2B5EF4-FFF2-40B4-BE49-F238E27FC236}">
                <a16:creationId xmlns:a16="http://schemas.microsoft.com/office/drawing/2014/main" id="{1B8E735F-BA89-45D2-74E8-CD4853065393}"/>
              </a:ext>
            </a:extLst>
          </p:cNvPr>
          <p:cNvSpPr>
            <a:spLocks noGrp="1"/>
          </p:cNvSpPr>
          <p:nvPr>
            <p:ph idx="1"/>
          </p:nvPr>
        </p:nvSpPr>
        <p:spPr/>
        <p:txBody>
          <a:bodyPr>
            <a:normAutofit/>
          </a:bodyPr>
          <a:lstStyle/>
          <a:p>
            <a:pPr marL="0" indent="0">
              <a:buNone/>
            </a:pPr>
            <a:r>
              <a:rPr lang="en-GB" sz="2400" dirty="0"/>
              <a:t>SpeciesViewer is a Python application that </a:t>
            </a:r>
          </a:p>
          <a:p>
            <a:pPr marL="457200" indent="-457200">
              <a:buAutoNum type="arabicParenBoth"/>
            </a:pPr>
            <a:r>
              <a:rPr lang="en-GB" sz="2400" dirty="0"/>
              <a:t>That organizes pictures that show “life” by species, families etc</a:t>
            </a:r>
          </a:p>
          <a:p>
            <a:pPr marL="457200" lvl="1" indent="0">
              <a:buNone/>
            </a:pPr>
            <a:r>
              <a:rPr lang="en-GB" sz="2000" dirty="0"/>
              <a:t>The user is expected to specify the </a:t>
            </a:r>
            <a:r>
              <a:rPr lang="en-GB" sz="2000" b="1" dirty="0"/>
              <a:t>species name </a:t>
            </a:r>
            <a:r>
              <a:rPr lang="en-GB" sz="2000" dirty="0"/>
              <a:t>in a keyword meta file to enables this.</a:t>
            </a:r>
            <a:endParaRPr lang="en-GB" sz="2400" dirty="0"/>
          </a:p>
          <a:p>
            <a:pPr marL="457200" indent="-457200">
              <a:buAutoNum type="arabicParenBoth"/>
            </a:pPr>
            <a:r>
              <a:rPr lang="en-GB" sz="2400" dirty="0"/>
              <a:t>That creates and maintains a website</a:t>
            </a:r>
          </a:p>
          <a:p>
            <a:pPr lvl="1"/>
            <a:r>
              <a:rPr lang="en-GB" sz="2000" dirty="0"/>
              <a:t>The website is organized by </a:t>
            </a:r>
            <a:r>
              <a:rPr lang="en-GB" sz="2000" b="1" dirty="0"/>
              <a:t>species hierarchy.  </a:t>
            </a:r>
            <a:r>
              <a:rPr lang="en-GB" sz="2000" dirty="0"/>
              <a:t>That means similar species such as different gulls are grouped, birds are part of animals etc.</a:t>
            </a:r>
          </a:p>
          <a:p>
            <a:pPr lvl="1"/>
            <a:r>
              <a:rPr lang="en-GB" sz="2000" dirty="0"/>
              <a:t>The website is designed to add species based on </a:t>
            </a:r>
            <a:r>
              <a:rPr lang="en-GB" sz="2000" b="1" dirty="0"/>
              <a:t>trips</a:t>
            </a:r>
            <a:r>
              <a:rPr lang="en-GB" sz="2000" dirty="0"/>
              <a:t>, and creates a daily picture-blog within a trip.</a:t>
            </a:r>
          </a:p>
          <a:p>
            <a:pPr marL="0" indent="0">
              <a:buNone/>
            </a:pPr>
            <a:r>
              <a:rPr lang="en-GB" sz="2400" dirty="0"/>
              <a:t>The SpeciesViewer is actively being developed, to fix bugs and make the website easier to use.</a:t>
            </a:r>
            <a:endParaRPr lang="en-GB" sz="2400" b="1" dirty="0"/>
          </a:p>
          <a:p>
            <a:pPr marL="0" indent="0">
              <a:buNone/>
            </a:pPr>
            <a:r>
              <a:rPr lang="en-GB" sz="2400" dirty="0"/>
              <a:t>The remainder of this PPT describes how to use it.  It is not user friendly.</a:t>
            </a:r>
          </a:p>
          <a:p>
            <a:pPr marL="457200" indent="-457200">
              <a:buAutoNum type="arabicParenBoth"/>
            </a:pPr>
            <a:endParaRPr lang="en-GB" sz="2400" dirty="0"/>
          </a:p>
          <a:p>
            <a:pPr marL="0" indent="0">
              <a:buNone/>
            </a:pPr>
            <a:endParaRPr lang="en-GB" sz="2400" dirty="0"/>
          </a:p>
        </p:txBody>
      </p:sp>
    </p:spTree>
    <p:extLst>
      <p:ext uri="{BB962C8B-B14F-4D97-AF65-F5344CB8AC3E}">
        <p14:creationId xmlns:p14="http://schemas.microsoft.com/office/powerpoint/2010/main" val="2097216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626E0-8EFF-8B31-239B-34F76FE4A0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80F314-681B-6428-05B3-0BCBA4964A2F}"/>
              </a:ext>
            </a:extLst>
          </p:cNvPr>
          <p:cNvSpPr>
            <a:spLocks noGrp="1"/>
          </p:cNvSpPr>
          <p:nvPr>
            <p:ph type="title"/>
          </p:nvPr>
        </p:nvSpPr>
        <p:spPr>
          <a:xfrm>
            <a:off x="526211" y="365125"/>
            <a:ext cx="11205714" cy="1325563"/>
          </a:xfrm>
        </p:spPr>
        <p:txBody>
          <a:bodyPr/>
          <a:lstStyle/>
          <a:p>
            <a:r>
              <a:rPr lang="en-GB" dirty="0"/>
              <a:t>SpeciesViewer terms and background</a:t>
            </a:r>
            <a:endParaRPr lang="nl-NL" dirty="0"/>
          </a:p>
        </p:txBody>
      </p:sp>
      <p:sp>
        <p:nvSpPr>
          <p:cNvPr id="3" name="Content Placeholder 2">
            <a:extLst>
              <a:ext uri="{FF2B5EF4-FFF2-40B4-BE49-F238E27FC236}">
                <a16:creationId xmlns:a16="http://schemas.microsoft.com/office/drawing/2014/main" id="{5D8E2594-A8D4-CFBC-0FF3-8CADA9A011E9}"/>
              </a:ext>
            </a:extLst>
          </p:cNvPr>
          <p:cNvSpPr>
            <a:spLocks noGrp="1"/>
          </p:cNvSpPr>
          <p:nvPr>
            <p:ph idx="1"/>
          </p:nvPr>
        </p:nvSpPr>
        <p:spPr/>
        <p:txBody>
          <a:bodyPr>
            <a:normAutofit/>
          </a:bodyPr>
          <a:lstStyle/>
          <a:p>
            <a:pPr marL="0" indent="0">
              <a:buNone/>
            </a:pPr>
            <a:r>
              <a:rPr lang="en-GB" sz="2400" dirty="0"/>
              <a:t>Life means any plant, animal, fungi or other life that is categorized </a:t>
            </a:r>
            <a:br>
              <a:rPr lang="en-GB" sz="2400" dirty="0"/>
            </a:br>
            <a:r>
              <a:rPr lang="en-GB" sz="2400" dirty="0"/>
              <a:t>in the </a:t>
            </a:r>
            <a:r>
              <a:rPr lang="en-GB" sz="2400" b="1" dirty="0"/>
              <a:t>biota</a:t>
            </a:r>
            <a:r>
              <a:rPr lang="en-GB" sz="2400" dirty="0"/>
              <a:t> biological hierarchy.</a:t>
            </a:r>
          </a:p>
          <a:p>
            <a:pPr marL="0" indent="0">
              <a:buNone/>
            </a:pPr>
            <a:r>
              <a:rPr lang="en-GB" sz="2400" dirty="0"/>
              <a:t>The software will use the public domain GBIF to find the species name, and from there the family, order, class, phylum and kingdom.  A Python library handles the GBIF interface that SpeciesViewer uses.</a:t>
            </a:r>
          </a:p>
          <a:p>
            <a:pPr marL="0" indent="0">
              <a:buNone/>
            </a:pPr>
            <a:r>
              <a:rPr lang="en-GB" sz="2400" dirty="0"/>
              <a:t>GBIF—the Global Biodiversity Information Facility—is an international network and data infrastructure funded by the world's governments and aimed at providing anyone, anywhere, open access to data about all types of life on Earth.</a:t>
            </a:r>
          </a:p>
          <a:p>
            <a:pPr marL="0" indent="0">
              <a:buNone/>
            </a:pPr>
            <a:r>
              <a:rPr lang="en-GB" sz="2400" dirty="0"/>
              <a:t>Typical scenarios</a:t>
            </a:r>
          </a:p>
        </p:txBody>
      </p:sp>
    </p:spTree>
    <p:extLst>
      <p:ext uri="{BB962C8B-B14F-4D97-AF65-F5344CB8AC3E}">
        <p14:creationId xmlns:p14="http://schemas.microsoft.com/office/powerpoint/2010/main" val="22471040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8A65D-CB8C-21F9-1CA2-CC9594C9FC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107A9A-411E-BFD1-8B8D-63C11CFB3F02}"/>
              </a:ext>
            </a:extLst>
          </p:cNvPr>
          <p:cNvSpPr>
            <a:spLocks noGrp="1"/>
          </p:cNvSpPr>
          <p:nvPr>
            <p:ph type="title"/>
          </p:nvPr>
        </p:nvSpPr>
        <p:spPr>
          <a:xfrm>
            <a:off x="526211" y="365125"/>
            <a:ext cx="11205714" cy="1325563"/>
          </a:xfrm>
        </p:spPr>
        <p:txBody>
          <a:bodyPr/>
          <a:lstStyle/>
          <a:p>
            <a:r>
              <a:rPr lang="en-GB" dirty="0"/>
              <a:t>Typical scenarios - </a:t>
            </a:r>
            <a:endParaRPr lang="nl-NL" dirty="0"/>
          </a:p>
        </p:txBody>
      </p:sp>
      <p:sp>
        <p:nvSpPr>
          <p:cNvPr id="3" name="Content Placeholder 2">
            <a:extLst>
              <a:ext uri="{FF2B5EF4-FFF2-40B4-BE49-F238E27FC236}">
                <a16:creationId xmlns:a16="http://schemas.microsoft.com/office/drawing/2014/main" id="{F318CE16-B5CC-8D74-F0DD-8A3909FC56F8}"/>
              </a:ext>
            </a:extLst>
          </p:cNvPr>
          <p:cNvSpPr>
            <a:spLocks noGrp="1"/>
          </p:cNvSpPr>
          <p:nvPr>
            <p:ph idx="1"/>
          </p:nvPr>
        </p:nvSpPr>
        <p:spPr/>
        <p:txBody>
          <a:bodyPr>
            <a:normAutofit lnSpcReduction="10000"/>
          </a:bodyPr>
          <a:lstStyle/>
          <a:p>
            <a:pPr marL="0" indent="0">
              <a:buNone/>
            </a:pPr>
            <a:r>
              <a:rPr lang="en-GB" sz="2400" dirty="0"/>
              <a:t>All work is done around </a:t>
            </a:r>
            <a:r>
              <a:rPr lang="en-GB" sz="2400" b="1" dirty="0"/>
              <a:t>trips</a:t>
            </a:r>
          </a:p>
          <a:p>
            <a:pPr marL="457200" indent="-457200">
              <a:buFont typeface="+mj-lt"/>
              <a:buAutoNum type="arabicPeriod"/>
            </a:pPr>
            <a:r>
              <a:rPr lang="en-GB" sz="2400" dirty="0"/>
              <a:t>First create a trip (sv1MakeReports)</a:t>
            </a:r>
          </a:p>
          <a:p>
            <a:pPr marL="457200" indent="-457200">
              <a:buFont typeface="+mj-lt"/>
              <a:buAutoNum type="arabicPeriod"/>
            </a:pPr>
            <a:r>
              <a:rPr lang="en-GB" sz="2400" dirty="0"/>
              <a:t>Read the files in a day directory (sv2ReadDirExif), and create a file </a:t>
            </a:r>
          </a:p>
          <a:p>
            <a:pPr marL="457200" indent="-457200">
              <a:buFont typeface="+mj-lt"/>
              <a:buAutoNum type="arabicPeriod"/>
            </a:pPr>
            <a:r>
              <a:rPr lang="en-GB" sz="2400" dirty="0"/>
              <a:t>Verify the species information (sv3WritePictures), and create picture metafiles</a:t>
            </a:r>
          </a:p>
          <a:p>
            <a:pPr marL="457200" indent="-457200">
              <a:buFont typeface="+mj-lt"/>
              <a:buAutoNum type="arabicPeriod"/>
            </a:pPr>
            <a:r>
              <a:rPr lang="en-GB" sz="2400" dirty="0"/>
              <a:t>Repeat steps and 3 until there are no errors left</a:t>
            </a:r>
          </a:p>
          <a:p>
            <a:pPr marL="457200" indent="-457200">
              <a:buFont typeface="+mj-lt"/>
              <a:buAutoNum type="arabicPeriod"/>
            </a:pPr>
            <a:r>
              <a:rPr lang="en-GB" sz="2400" dirty="0"/>
              <a:t>Create a blog (sv4WriteBlog), with the best pictures for each species</a:t>
            </a:r>
          </a:p>
          <a:p>
            <a:pPr marL="0" indent="0">
              <a:buNone/>
            </a:pPr>
            <a:r>
              <a:rPr lang="en-GB" sz="2400" dirty="0"/>
              <a:t>Do steps 2-5 for each day in the trip.</a:t>
            </a:r>
          </a:p>
          <a:p>
            <a:pPr marL="457200" indent="-457200">
              <a:buFont typeface="+mj-lt"/>
              <a:buAutoNum type="arabicPeriod" startAt="6"/>
            </a:pPr>
            <a:r>
              <a:rPr lang="en-GB" sz="2400" dirty="0"/>
              <a:t>Add a pictures for each species in the trip (sv5, sv6 and sv7)</a:t>
            </a:r>
          </a:p>
          <a:p>
            <a:pPr marL="457200" indent="-457200">
              <a:buFont typeface="+mj-lt"/>
              <a:buAutoNum type="arabicPeriod" startAt="6"/>
            </a:pPr>
            <a:r>
              <a:rPr lang="en-GB" sz="2400" dirty="0"/>
              <a:t>Note once steps sv5-sv7 are done, no more changes are possible</a:t>
            </a:r>
          </a:p>
          <a:p>
            <a:pPr marL="457200" indent="-457200">
              <a:buFont typeface="+mj-lt"/>
              <a:buAutoNum type="arabicPeriod" startAt="6"/>
            </a:pPr>
            <a:endParaRPr lang="en-GB" sz="2000" dirty="0"/>
          </a:p>
        </p:txBody>
      </p:sp>
    </p:spTree>
    <p:extLst>
      <p:ext uri="{BB962C8B-B14F-4D97-AF65-F5344CB8AC3E}">
        <p14:creationId xmlns:p14="http://schemas.microsoft.com/office/powerpoint/2010/main" val="8226238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C0E71C7F-F767-0336-6436-4FECD5351309}"/>
              </a:ext>
            </a:extLst>
          </p:cNvPr>
          <p:cNvGraphicFramePr>
            <a:graphicFrameLocks noGrp="1"/>
          </p:cNvGraphicFramePr>
          <p:nvPr>
            <p:ph idx="1"/>
            <p:extLst>
              <p:ext uri="{D42A27DB-BD31-4B8C-83A1-F6EECF244321}">
                <p14:modId xmlns:p14="http://schemas.microsoft.com/office/powerpoint/2010/main" val="849821777"/>
              </p:ext>
            </p:extLst>
          </p:nvPr>
        </p:nvGraphicFramePr>
        <p:xfrm>
          <a:off x="342900" y="868680"/>
          <a:ext cx="11064240" cy="5227320"/>
        </p:xfrm>
        <a:graphic>
          <a:graphicData uri="http://schemas.openxmlformats.org/drawingml/2006/table">
            <a:tbl>
              <a:tblPr firstRow="1" bandRow="1">
                <a:tableStyleId>{5C22544A-7EE6-4342-B048-85BDC9FD1C3A}</a:tableStyleId>
              </a:tblPr>
              <a:tblGrid>
                <a:gridCol w="2899131">
                  <a:extLst>
                    <a:ext uri="{9D8B030D-6E8A-4147-A177-3AD203B41FA5}">
                      <a16:colId xmlns:a16="http://schemas.microsoft.com/office/drawing/2014/main" val="2840247616"/>
                    </a:ext>
                  </a:extLst>
                </a:gridCol>
                <a:gridCol w="1276629">
                  <a:extLst>
                    <a:ext uri="{9D8B030D-6E8A-4147-A177-3AD203B41FA5}">
                      <a16:colId xmlns:a16="http://schemas.microsoft.com/office/drawing/2014/main" val="3158828686"/>
                    </a:ext>
                  </a:extLst>
                </a:gridCol>
                <a:gridCol w="1036320">
                  <a:extLst>
                    <a:ext uri="{9D8B030D-6E8A-4147-A177-3AD203B41FA5}">
                      <a16:colId xmlns:a16="http://schemas.microsoft.com/office/drawing/2014/main" val="3723561695"/>
                    </a:ext>
                  </a:extLst>
                </a:gridCol>
                <a:gridCol w="5852160">
                  <a:extLst>
                    <a:ext uri="{9D8B030D-6E8A-4147-A177-3AD203B41FA5}">
                      <a16:colId xmlns:a16="http://schemas.microsoft.com/office/drawing/2014/main" val="3936547858"/>
                    </a:ext>
                  </a:extLst>
                </a:gridCol>
              </a:tblGrid>
              <a:tr h="370840">
                <a:tc>
                  <a:txBody>
                    <a:bodyPr/>
                    <a:lstStyle/>
                    <a:p>
                      <a:r>
                        <a:rPr lang="en-GB" dirty="0"/>
                        <a:t>Utility</a:t>
                      </a:r>
                      <a:endParaRPr lang="nl-NL" dirty="0"/>
                    </a:p>
                  </a:txBody>
                  <a:tcPr/>
                </a:tc>
                <a:tc>
                  <a:txBody>
                    <a:bodyPr/>
                    <a:lstStyle/>
                    <a:p>
                      <a:r>
                        <a:rPr lang="en-GB" dirty="0"/>
                        <a:t>Works on </a:t>
                      </a:r>
                      <a:r>
                        <a:rPr lang="en-GB" dirty="0" err="1"/>
                        <a:t>ini</a:t>
                      </a:r>
                      <a:endParaRPr lang="nl-NL" dirty="0"/>
                    </a:p>
                  </a:txBody>
                  <a:tcPr/>
                </a:tc>
                <a:tc>
                  <a:txBody>
                    <a:bodyPr/>
                    <a:lstStyle/>
                    <a:p>
                      <a:r>
                        <a:rPr lang="en-GB" dirty="0"/>
                        <a:t>Needs edits?*</a:t>
                      </a:r>
                      <a:endParaRPr lang="nl-NL" dirty="0"/>
                    </a:p>
                  </a:txBody>
                  <a:tcPr/>
                </a:tc>
                <a:tc>
                  <a:txBody>
                    <a:bodyPr/>
                    <a:lstStyle/>
                    <a:p>
                      <a:r>
                        <a:rPr lang="en-GB" dirty="0"/>
                        <a:t>Purpose</a:t>
                      </a:r>
                      <a:endParaRPr lang="nl-NL" dirty="0"/>
                    </a:p>
                  </a:txBody>
                  <a:tcPr/>
                </a:tc>
                <a:extLst>
                  <a:ext uri="{0D108BD9-81ED-4DB2-BD59-A6C34878D82A}">
                    <a16:rowId xmlns:a16="http://schemas.microsoft.com/office/drawing/2014/main" val="2249949909"/>
                  </a:ext>
                </a:extLst>
              </a:tr>
              <a:tr h="370840">
                <a:tc>
                  <a:txBody>
                    <a:bodyPr/>
                    <a:lstStyle/>
                    <a:p>
                      <a:r>
                        <a:rPr lang="en-GB" dirty="0"/>
                        <a:t>svr1AddSpecies</a:t>
                      </a:r>
                      <a:endParaRPr lang="nl-NL" dirty="0"/>
                    </a:p>
                  </a:txBody>
                  <a:tcPr/>
                </a:tc>
                <a:tc>
                  <a:txBody>
                    <a:bodyPr/>
                    <a:lstStyle/>
                    <a:p>
                      <a:r>
                        <a:rPr lang="en-GB" dirty="0"/>
                        <a:t>Both</a:t>
                      </a:r>
                      <a:endParaRPr lang="nl-NL" dirty="0"/>
                    </a:p>
                  </a:txBody>
                  <a:tcPr/>
                </a:tc>
                <a:tc>
                  <a:txBody>
                    <a:bodyPr/>
                    <a:lstStyle/>
                    <a:p>
                      <a:r>
                        <a:rPr lang="en-GB" dirty="0"/>
                        <a:t>No</a:t>
                      </a:r>
                      <a:endParaRPr lang="nl-NL"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Helper.  Add species to </a:t>
                      </a:r>
                      <a:r>
                        <a:rPr lang="nl-NL" sz="1800" b="0" kern="1200" dirty="0">
                          <a:solidFill>
                            <a:schemeClr val="dk1"/>
                          </a:solidFill>
                          <a:effectLst/>
                          <a:latin typeface="+mn-lt"/>
                          <a:ea typeface="+mn-ea"/>
                          <a:cs typeface="+mn-cs"/>
                        </a:rPr>
                        <a:t>speciescollection.csv </a:t>
                      </a:r>
                      <a:r>
                        <a:rPr lang="nl-NL" sz="1800" b="0" kern="1200" dirty="0" err="1">
                          <a:solidFill>
                            <a:schemeClr val="dk1"/>
                          </a:solidFill>
                          <a:effectLst/>
                          <a:latin typeface="+mn-lt"/>
                          <a:ea typeface="+mn-ea"/>
                          <a:cs typeface="+mn-cs"/>
                        </a:rPr>
                        <a:t>based</a:t>
                      </a:r>
                      <a:r>
                        <a:rPr lang="nl-NL" sz="1800" b="0" kern="1200" dirty="0">
                          <a:solidFill>
                            <a:schemeClr val="dk1"/>
                          </a:solidFill>
                          <a:effectLst/>
                          <a:latin typeface="+mn-lt"/>
                          <a:ea typeface="+mn-ea"/>
                          <a:cs typeface="+mn-cs"/>
                        </a:rPr>
                        <a:t> on list in </a:t>
                      </a:r>
                      <a:r>
                        <a:rPr lang="nl-NL" sz="1800" b="0" kern="1200" dirty="0" err="1">
                          <a:solidFill>
                            <a:schemeClr val="dk1"/>
                          </a:solidFill>
                          <a:effectLst/>
                          <a:latin typeface="+mn-lt"/>
                          <a:ea typeface="+mn-ea"/>
                          <a:cs typeface="+mn-cs"/>
                        </a:rPr>
                        <a:t>admin</a:t>
                      </a:r>
                      <a:r>
                        <a:rPr lang="nl-NL" sz="1800" b="0" kern="1200" dirty="0">
                          <a:solidFill>
                            <a:schemeClr val="dk1"/>
                          </a:solidFill>
                          <a:effectLst/>
                          <a:latin typeface="+mn-lt"/>
                          <a:ea typeface="+mn-ea"/>
                          <a:cs typeface="+mn-cs"/>
                        </a:rPr>
                        <a:t>/speclist.csv</a:t>
                      </a:r>
                    </a:p>
                  </a:txBody>
                  <a:tcPr/>
                </a:tc>
                <a:extLst>
                  <a:ext uri="{0D108BD9-81ED-4DB2-BD59-A6C34878D82A}">
                    <a16:rowId xmlns:a16="http://schemas.microsoft.com/office/drawing/2014/main" val="1354462080"/>
                  </a:ext>
                </a:extLst>
              </a:tr>
              <a:tr h="370840">
                <a:tc>
                  <a:txBody>
                    <a:bodyPr/>
                    <a:lstStyle/>
                    <a:p>
                      <a:r>
                        <a:rPr lang="en-GB" dirty="0"/>
                        <a:t>svr2CountSpecies</a:t>
                      </a:r>
                      <a:endParaRPr lang="nl-NL" dirty="0"/>
                    </a:p>
                  </a:txBody>
                  <a:tcPr/>
                </a:tc>
                <a:tc>
                  <a:txBody>
                    <a:bodyPr/>
                    <a:lstStyle/>
                    <a:p>
                      <a:r>
                        <a:rPr lang="en-GB" dirty="0"/>
                        <a:t>Trip</a:t>
                      </a:r>
                      <a:endParaRPr lang="nl-NL" dirty="0"/>
                    </a:p>
                  </a:txBody>
                  <a:tcPr/>
                </a:tc>
                <a:tc>
                  <a:txBody>
                    <a:bodyPr/>
                    <a:lstStyle/>
                    <a:p>
                      <a:r>
                        <a:rPr lang="en-GB" dirty="0"/>
                        <a:t>No</a:t>
                      </a:r>
                      <a:endParaRPr lang="nl-NL" dirty="0"/>
                    </a:p>
                  </a:txBody>
                  <a:tcPr/>
                </a:tc>
                <a:tc>
                  <a:txBody>
                    <a:bodyPr/>
                    <a:lstStyle/>
                    <a:p>
                      <a:r>
                        <a:rPr lang="en-GB" dirty="0"/>
                        <a:t>Stats. Count the number of new species</a:t>
                      </a:r>
                      <a:endParaRPr lang="nl-NL" dirty="0"/>
                    </a:p>
                  </a:txBody>
                  <a:tcPr/>
                </a:tc>
                <a:extLst>
                  <a:ext uri="{0D108BD9-81ED-4DB2-BD59-A6C34878D82A}">
                    <a16:rowId xmlns:a16="http://schemas.microsoft.com/office/drawing/2014/main" val="2019498000"/>
                  </a:ext>
                </a:extLst>
              </a:tr>
              <a:tr h="370840">
                <a:tc>
                  <a:txBody>
                    <a:bodyPr/>
                    <a:lstStyle/>
                    <a:p>
                      <a:r>
                        <a:rPr lang="en-GB" dirty="0"/>
                        <a:t>svr3StatusProjects</a:t>
                      </a:r>
                      <a:endParaRPr lang="nl-NL" dirty="0"/>
                    </a:p>
                  </a:txBody>
                  <a:tcPr/>
                </a:tc>
                <a:tc>
                  <a:txBody>
                    <a:bodyPr/>
                    <a:lstStyle/>
                    <a:p>
                      <a:r>
                        <a:rPr lang="en-GB" dirty="0"/>
                        <a:t>Trip</a:t>
                      </a:r>
                      <a:endParaRPr lang="nl-NL" dirty="0"/>
                    </a:p>
                  </a:txBody>
                  <a:tcPr/>
                </a:tc>
                <a:tc>
                  <a:txBody>
                    <a:bodyPr/>
                    <a:lstStyle/>
                    <a:p>
                      <a:r>
                        <a:rPr lang="en-GB" dirty="0"/>
                        <a:t>No</a:t>
                      </a:r>
                      <a:endParaRPr lang="nl-NL" dirty="0"/>
                    </a:p>
                  </a:txBody>
                  <a:tcPr/>
                </a:tc>
                <a:tc>
                  <a:txBody>
                    <a:bodyPr/>
                    <a:lstStyle/>
                    <a:p>
                      <a:r>
                        <a:rPr lang="en-GB" dirty="0"/>
                        <a:t>Stats. Report project steps that are run for trip</a:t>
                      </a:r>
                      <a:endParaRPr lang="nl-NL" dirty="0"/>
                    </a:p>
                  </a:txBody>
                  <a:tcPr/>
                </a:tc>
                <a:extLst>
                  <a:ext uri="{0D108BD9-81ED-4DB2-BD59-A6C34878D82A}">
                    <a16:rowId xmlns:a16="http://schemas.microsoft.com/office/drawing/2014/main" val="253633987"/>
                  </a:ext>
                </a:extLst>
              </a:tr>
              <a:tr h="370840">
                <a:tc>
                  <a:txBody>
                    <a:bodyPr/>
                    <a:lstStyle/>
                    <a:p>
                      <a:r>
                        <a:rPr lang="en-GB" dirty="0"/>
                        <a:t>svr4UpdateTrips</a:t>
                      </a:r>
                      <a:endParaRPr lang="nl-NL" dirty="0"/>
                    </a:p>
                  </a:txBody>
                  <a:tcPr/>
                </a:tc>
                <a:tc>
                  <a:txBody>
                    <a:bodyPr/>
                    <a:lstStyle/>
                    <a:p>
                      <a:r>
                        <a:rPr lang="en-GB" dirty="0"/>
                        <a:t>Trip</a:t>
                      </a:r>
                      <a:endParaRPr lang="nl-NL" dirty="0"/>
                    </a:p>
                  </a:txBody>
                  <a:tcPr/>
                </a:tc>
                <a:tc>
                  <a:txBody>
                    <a:bodyPr/>
                    <a:lstStyle/>
                    <a:p>
                      <a:r>
                        <a:rPr lang="en-GB" dirty="0"/>
                        <a:t>trip.ini</a:t>
                      </a:r>
                      <a:endParaRPr lang="nl-NL" dirty="0"/>
                    </a:p>
                  </a:txBody>
                  <a:tcPr/>
                </a:tc>
                <a:tc>
                  <a:txBody>
                    <a:bodyPr/>
                    <a:lstStyle/>
                    <a:p>
                      <a:r>
                        <a:rPr lang="en-GB" dirty="0"/>
                        <a:t>Needed for each trip. Update the metadata for trip and update website.  </a:t>
                      </a:r>
                      <a:endParaRPr lang="nl-NL" dirty="0"/>
                    </a:p>
                  </a:txBody>
                  <a:tcPr/>
                </a:tc>
                <a:extLst>
                  <a:ext uri="{0D108BD9-81ED-4DB2-BD59-A6C34878D82A}">
                    <a16:rowId xmlns:a16="http://schemas.microsoft.com/office/drawing/2014/main" val="775449291"/>
                  </a:ext>
                </a:extLst>
              </a:tr>
              <a:tr h="370840">
                <a:tc>
                  <a:txBody>
                    <a:bodyPr/>
                    <a:lstStyle/>
                    <a:p>
                      <a:r>
                        <a:rPr lang="en-GB" dirty="0"/>
                        <a:t>svr41AddTrip</a:t>
                      </a:r>
                      <a:endParaRPr lang="nl-NL" dirty="0"/>
                    </a:p>
                  </a:txBody>
                  <a:tcPr/>
                </a:tc>
                <a:tc>
                  <a:txBody>
                    <a:bodyPr/>
                    <a:lstStyle/>
                    <a:p>
                      <a:r>
                        <a:rPr lang="en-GB" dirty="0"/>
                        <a:t>Trip</a:t>
                      </a:r>
                      <a:endParaRPr lang="nl-NL" dirty="0"/>
                    </a:p>
                  </a:txBody>
                  <a:tcPr/>
                </a:tc>
                <a:tc>
                  <a:txBody>
                    <a:bodyPr/>
                    <a:lstStyle/>
                    <a:p>
                      <a:endParaRPr lang="nl-NL" dirty="0"/>
                    </a:p>
                  </a:txBody>
                  <a:tcPr/>
                </a:tc>
                <a:tc>
                  <a:txBody>
                    <a:bodyPr/>
                    <a:lstStyle/>
                    <a:p>
                      <a:r>
                        <a:rPr lang="en-GB" dirty="0"/>
                        <a:t>Will add a trip to the master</a:t>
                      </a:r>
                      <a:endParaRPr lang="nl-NL" dirty="0"/>
                    </a:p>
                  </a:txBody>
                  <a:tcPr/>
                </a:tc>
                <a:extLst>
                  <a:ext uri="{0D108BD9-81ED-4DB2-BD59-A6C34878D82A}">
                    <a16:rowId xmlns:a16="http://schemas.microsoft.com/office/drawing/2014/main" val="518195207"/>
                  </a:ext>
                </a:extLst>
              </a:tr>
              <a:tr h="370840">
                <a:tc>
                  <a:txBody>
                    <a:bodyPr/>
                    <a:lstStyle/>
                    <a:p>
                      <a:r>
                        <a:rPr lang="nl-NL" dirty="0"/>
                        <a:t>svr5MergeSpecies</a:t>
                      </a:r>
                      <a:br>
                        <a:rPr lang="nl-NL" dirty="0"/>
                      </a:br>
                      <a:r>
                        <a:rPr lang="nl-NL" dirty="0" err="1"/>
                        <a:t>Collections</a:t>
                      </a:r>
                      <a:endParaRPr lang="nl-NL" dirty="0"/>
                    </a:p>
                  </a:txBody>
                  <a:tcPr/>
                </a:tc>
                <a:tc>
                  <a:txBody>
                    <a:bodyPr/>
                    <a:lstStyle/>
                    <a:p>
                      <a:r>
                        <a:rPr lang="en-GB" dirty="0"/>
                        <a:t>Trip</a:t>
                      </a:r>
                      <a:endParaRPr lang="nl-NL" dirty="0"/>
                    </a:p>
                  </a:txBody>
                  <a:tcPr/>
                </a:tc>
                <a:tc>
                  <a:txBody>
                    <a:bodyPr/>
                    <a:lstStyle/>
                    <a:p>
                      <a:r>
                        <a:rPr lang="en-GB" dirty="0"/>
                        <a:t>No</a:t>
                      </a:r>
                      <a:endParaRPr lang="nl-NL" dirty="0"/>
                    </a:p>
                  </a:txBody>
                  <a:tcPr/>
                </a:tc>
                <a:tc>
                  <a:txBody>
                    <a:bodyPr/>
                    <a:lstStyle/>
                    <a:p>
                      <a:r>
                        <a:rPr lang="en-GB" dirty="0"/>
                        <a:t>Needed for </a:t>
                      </a:r>
                      <a:r>
                        <a:rPr lang="en-GB"/>
                        <a:t>new English/</a:t>
                      </a:r>
                      <a:r>
                        <a:rPr lang="en-GB" dirty="0"/>
                        <a:t>Dutch names.  Merge the species from 2 lists, </a:t>
                      </a:r>
                      <a:r>
                        <a:rPr lang="en-GB" dirty="0" err="1"/>
                        <a:t>eg</a:t>
                      </a:r>
                      <a:r>
                        <a:rPr lang="en-GB" dirty="0"/>
                        <a:t> master and trip</a:t>
                      </a:r>
                      <a:endParaRPr lang="nl-NL" dirty="0"/>
                    </a:p>
                  </a:txBody>
                  <a:tcPr/>
                </a:tc>
                <a:extLst>
                  <a:ext uri="{0D108BD9-81ED-4DB2-BD59-A6C34878D82A}">
                    <a16:rowId xmlns:a16="http://schemas.microsoft.com/office/drawing/2014/main" val="466339600"/>
                  </a:ext>
                </a:extLst>
              </a:tr>
              <a:tr h="370840">
                <a:tc>
                  <a:txBody>
                    <a:bodyPr/>
                    <a:lstStyle/>
                    <a:p>
                      <a:r>
                        <a:rPr lang="nl-NL" dirty="0"/>
                        <a:t>svr6MergeBlogsForMaster</a:t>
                      </a:r>
                    </a:p>
                  </a:txBody>
                  <a:tcPr/>
                </a:tc>
                <a:tc>
                  <a:txBody>
                    <a:bodyPr/>
                    <a:lstStyle/>
                    <a:p>
                      <a:r>
                        <a:rPr lang="en-GB" dirty="0"/>
                        <a:t>Master</a:t>
                      </a:r>
                      <a:endParaRPr lang="nl-NL" dirty="0"/>
                    </a:p>
                  </a:txBody>
                  <a:tcPr/>
                </a:tc>
                <a:tc>
                  <a:txBody>
                    <a:bodyPr/>
                    <a:lstStyle/>
                    <a:p>
                      <a:r>
                        <a:rPr lang="en-GB" dirty="0"/>
                        <a:t>No</a:t>
                      </a:r>
                      <a:endParaRPr lang="nl-NL" dirty="0"/>
                    </a:p>
                  </a:txBody>
                  <a:tcPr/>
                </a:tc>
                <a:tc>
                  <a:txBody>
                    <a:bodyPr/>
                    <a:lstStyle/>
                    <a:p>
                      <a:r>
                        <a:rPr lang="en-GB" dirty="0"/>
                        <a:t>Needs at least once for each trip, blog count update not automatic.  Create a different blog report for master, blogs per trips rather than all blogs</a:t>
                      </a:r>
                      <a:endParaRPr lang="nl-NL" dirty="0"/>
                    </a:p>
                  </a:txBody>
                  <a:tcPr/>
                </a:tc>
                <a:extLst>
                  <a:ext uri="{0D108BD9-81ED-4DB2-BD59-A6C34878D82A}">
                    <a16:rowId xmlns:a16="http://schemas.microsoft.com/office/drawing/2014/main" val="1830438468"/>
                  </a:ext>
                </a:extLst>
              </a:tr>
              <a:tr h="370840">
                <a:tc>
                  <a:txBody>
                    <a:bodyPr/>
                    <a:lstStyle/>
                    <a:p>
                      <a:r>
                        <a:rPr lang="en-GB" dirty="0"/>
                        <a:t>svr7DeleteFiles</a:t>
                      </a:r>
                      <a:endParaRPr lang="nl-NL" dirty="0"/>
                    </a:p>
                  </a:txBody>
                  <a:tcPr/>
                </a:tc>
                <a:tc>
                  <a:txBody>
                    <a:bodyPr/>
                    <a:lstStyle/>
                    <a:p>
                      <a:r>
                        <a:rPr lang="en-GB" dirty="0"/>
                        <a:t>Both</a:t>
                      </a:r>
                      <a:endParaRPr lang="nl-NL" dirty="0"/>
                    </a:p>
                  </a:txBody>
                  <a:tcPr/>
                </a:tc>
                <a:tc>
                  <a:txBody>
                    <a:bodyPr/>
                    <a:lstStyle/>
                    <a:p>
                      <a:endParaRPr lang="nl-NL"/>
                    </a:p>
                  </a:txBody>
                  <a:tcPr/>
                </a:tc>
                <a:tc>
                  <a:txBody>
                    <a:bodyPr/>
                    <a:lstStyle/>
                    <a:p>
                      <a:r>
                        <a:rPr lang="en-GB" dirty="0"/>
                        <a:t>Clean duplicate files. (does not yet exist) Delete files that have been copied to master</a:t>
                      </a:r>
                      <a:endParaRPr lang="nl-NL" dirty="0"/>
                    </a:p>
                  </a:txBody>
                  <a:tcPr/>
                </a:tc>
                <a:extLst>
                  <a:ext uri="{0D108BD9-81ED-4DB2-BD59-A6C34878D82A}">
                    <a16:rowId xmlns:a16="http://schemas.microsoft.com/office/drawing/2014/main" val="1080765452"/>
                  </a:ext>
                </a:extLst>
              </a:tr>
            </a:tbl>
          </a:graphicData>
        </a:graphic>
      </p:graphicFrame>
      <p:sp>
        <p:nvSpPr>
          <p:cNvPr id="5" name="TextBox 4">
            <a:extLst>
              <a:ext uri="{FF2B5EF4-FFF2-40B4-BE49-F238E27FC236}">
                <a16:creationId xmlns:a16="http://schemas.microsoft.com/office/drawing/2014/main" id="{ABBCF386-00BA-C3FC-2471-8972B85A1A8E}"/>
              </a:ext>
            </a:extLst>
          </p:cNvPr>
          <p:cNvSpPr txBox="1"/>
          <p:nvPr/>
        </p:nvSpPr>
        <p:spPr>
          <a:xfrm>
            <a:off x="342900" y="6112718"/>
            <a:ext cx="11064240" cy="369332"/>
          </a:xfrm>
          <a:prstGeom prst="rect">
            <a:avLst/>
          </a:prstGeom>
          <a:noFill/>
        </p:spPr>
        <p:txBody>
          <a:bodyPr wrap="square" rtlCol="0">
            <a:spAutoFit/>
          </a:bodyPr>
          <a:lstStyle/>
          <a:p>
            <a:r>
              <a:rPr lang="en-GB" dirty="0"/>
              <a:t>* /trips/ is fixed and assumed to the high level directory for trips, that are second level directories</a:t>
            </a:r>
            <a:endParaRPr lang="nl-NL" dirty="0"/>
          </a:p>
        </p:txBody>
      </p:sp>
      <p:sp>
        <p:nvSpPr>
          <p:cNvPr id="7" name="Title 6">
            <a:extLst>
              <a:ext uri="{FF2B5EF4-FFF2-40B4-BE49-F238E27FC236}">
                <a16:creationId xmlns:a16="http://schemas.microsoft.com/office/drawing/2014/main" id="{5C2D0917-B20E-3BD3-E915-1DB1A543ECBD}"/>
              </a:ext>
            </a:extLst>
          </p:cNvPr>
          <p:cNvSpPr>
            <a:spLocks noGrp="1"/>
          </p:cNvSpPr>
          <p:nvPr>
            <p:ph type="title"/>
          </p:nvPr>
        </p:nvSpPr>
        <p:spPr>
          <a:xfrm>
            <a:off x="617220" y="182245"/>
            <a:ext cx="10515600" cy="686435"/>
          </a:xfrm>
        </p:spPr>
        <p:txBody>
          <a:bodyPr>
            <a:normAutofit fontScale="90000"/>
          </a:bodyPr>
          <a:lstStyle/>
          <a:p>
            <a:r>
              <a:rPr lang="en-GB" dirty="0"/>
              <a:t>Utilities</a:t>
            </a:r>
            <a:endParaRPr lang="nl-NL" dirty="0"/>
          </a:p>
        </p:txBody>
      </p:sp>
    </p:spTree>
    <p:extLst>
      <p:ext uri="{BB962C8B-B14F-4D97-AF65-F5344CB8AC3E}">
        <p14:creationId xmlns:p14="http://schemas.microsoft.com/office/powerpoint/2010/main" val="1628823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20A9A-D37A-76F4-B33E-22DBD8F228AC}"/>
            </a:ext>
          </a:extLst>
        </p:cNvPr>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EE121EF3-4FC2-BD98-94B5-24F3A01444C6}"/>
              </a:ext>
            </a:extLst>
          </p:cNvPr>
          <p:cNvGraphicFramePr>
            <a:graphicFrameLocks noGrp="1"/>
          </p:cNvGraphicFramePr>
          <p:nvPr>
            <p:ph idx="1"/>
            <p:extLst>
              <p:ext uri="{D42A27DB-BD31-4B8C-83A1-F6EECF244321}">
                <p14:modId xmlns:p14="http://schemas.microsoft.com/office/powerpoint/2010/main" val="17791855"/>
              </p:ext>
            </p:extLst>
          </p:nvPr>
        </p:nvGraphicFramePr>
        <p:xfrm>
          <a:off x="617220" y="992108"/>
          <a:ext cx="11090935" cy="2931160"/>
        </p:xfrm>
        <a:graphic>
          <a:graphicData uri="http://schemas.openxmlformats.org/drawingml/2006/table">
            <a:tbl>
              <a:tblPr firstRow="1" bandRow="1">
                <a:tableStyleId>{5C22544A-7EE6-4342-B048-85BDC9FD1C3A}</a:tableStyleId>
              </a:tblPr>
              <a:tblGrid>
                <a:gridCol w="2925826">
                  <a:extLst>
                    <a:ext uri="{9D8B030D-6E8A-4147-A177-3AD203B41FA5}">
                      <a16:colId xmlns:a16="http://schemas.microsoft.com/office/drawing/2014/main" val="2840247616"/>
                    </a:ext>
                  </a:extLst>
                </a:gridCol>
                <a:gridCol w="1276629">
                  <a:extLst>
                    <a:ext uri="{9D8B030D-6E8A-4147-A177-3AD203B41FA5}">
                      <a16:colId xmlns:a16="http://schemas.microsoft.com/office/drawing/2014/main" val="3158828686"/>
                    </a:ext>
                  </a:extLst>
                </a:gridCol>
                <a:gridCol w="1036320">
                  <a:extLst>
                    <a:ext uri="{9D8B030D-6E8A-4147-A177-3AD203B41FA5}">
                      <a16:colId xmlns:a16="http://schemas.microsoft.com/office/drawing/2014/main" val="3723561695"/>
                    </a:ext>
                  </a:extLst>
                </a:gridCol>
                <a:gridCol w="5852160">
                  <a:extLst>
                    <a:ext uri="{9D8B030D-6E8A-4147-A177-3AD203B41FA5}">
                      <a16:colId xmlns:a16="http://schemas.microsoft.com/office/drawing/2014/main" val="3936547858"/>
                    </a:ext>
                  </a:extLst>
                </a:gridCol>
              </a:tblGrid>
              <a:tr h="370840">
                <a:tc>
                  <a:txBody>
                    <a:bodyPr/>
                    <a:lstStyle/>
                    <a:p>
                      <a:r>
                        <a:rPr lang="en-GB" dirty="0"/>
                        <a:t>Utility</a:t>
                      </a:r>
                      <a:endParaRPr lang="nl-NL" dirty="0"/>
                    </a:p>
                  </a:txBody>
                  <a:tcPr/>
                </a:tc>
                <a:tc>
                  <a:txBody>
                    <a:bodyPr/>
                    <a:lstStyle/>
                    <a:p>
                      <a:r>
                        <a:rPr lang="en-GB" dirty="0"/>
                        <a:t>Works on </a:t>
                      </a:r>
                      <a:r>
                        <a:rPr lang="en-GB" dirty="0" err="1"/>
                        <a:t>ini</a:t>
                      </a:r>
                      <a:endParaRPr lang="nl-NL" dirty="0"/>
                    </a:p>
                  </a:txBody>
                  <a:tcPr/>
                </a:tc>
                <a:tc>
                  <a:txBody>
                    <a:bodyPr/>
                    <a:lstStyle/>
                    <a:p>
                      <a:r>
                        <a:rPr lang="en-GB" dirty="0"/>
                        <a:t>Needs edits?*</a:t>
                      </a:r>
                      <a:endParaRPr lang="nl-NL" dirty="0"/>
                    </a:p>
                  </a:txBody>
                  <a:tcPr/>
                </a:tc>
                <a:tc>
                  <a:txBody>
                    <a:bodyPr/>
                    <a:lstStyle/>
                    <a:p>
                      <a:r>
                        <a:rPr lang="en-GB" dirty="0"/>
                        <a:t>Purpose</a:t>
                      </a:r>
                      <a:endParaRPr lang="nl-NL" dirty="0"/>
                    </a:p>
                  </a:txBody>
                  <a:tcPr/>
                </a:tc>
                <a:extLst>
                  <a:ext uri="{0D108BD9-81ED-4DB2-BD59-A6C34878D82A}">
                    <a16:rowId xmlns:a16="http://schemas.microsoft.com/office/drawing/2014/main" val="2249949909"/>
                  </a:ext>
                </a:extLst>
              </a:tr>
              <a:tr h="370840">
                <a:tc>
                  <a:txBody>
                    <a:bodyPr/>
                    <a:lstStyle/>
                    <a:p>
                      <a:r>
                        <a:rPr lang="en-GB" dirty="0"/>
                        <a:t>svr8RecreateTripRepository</a:t>
                      </a:r>
                      <a:endParaRPr lang="nl-NL" dirty="0"/>
                    </a:p>
                  </a:txBody>
                  <a:tcPr/>
                </a:tc>
                <a:tc>
                  <a:txBody>
                    <a:bodyPr/>
                    <a:lstStyle/>
                    <a:p>
                      <a:r>
                        <a:rPr lang="en-GB" dirty="0"/>
                        <a:t>Trip</a:t>
                      </a:r>
                      <a:endParaRPr lang="nl-NL" dirty="0"/>
                    </a:p>
                  </a:txBody>
                  <a:tcPr/>
                </a:tc>
                <a:tc>
                  <a:txBody>
                    <a:bodyPr/>
                    <a:lstStyle/>
                    <a:p>
                      <a:r>
                        <a:rPr lang="en-GB" dirty="0"/>
                        <a:t>No</a:t>
                      </a:r>
                      <a:endParaRPr lang="nl-NL" dirty="0"/>
                    </a:p>
                  </a:txBody>
                  <a:tcPr/>
                </a:tc>
                <a:tc>
                  <a:txBody>
                    <a:bodyPr/>
                    <a:lstStyle/>
                    <a:p>
                      <a:r>
                        <a:rPr lang="en-GB" dirty="0"/>
                        <a:t>Recreate all blogs and biota tree.  This will delete all trip data and recreate it from the raw data. </a:t>
                      </a:r>
                      <a:endParaRPr lang="nl-NL" dirty="0"/>
                    </a:p>
                  </a:txBody>
                  <a:tcPr/>
                </a:tc>
                <a:extLst>
                  <a:ext uri="{0D108BD9-81ED-4DB2-BD59-A6C34878D82A}">
                    <a16:rowId xmlns:a16="http://schemas.microsoft.com/office/drawing/2014/main" val="3096990806"/>
                  </a:ext>
                </a:extLst>
              </a:tr>
              <a:tr h="370840">
                <a:tc>
                  <a:txBody>
                    <a:bodyPr/>
                    <a:lstStyle/>
                    <a:p>
                      <a:r>
                        <a:rPr lang="en-GB" dirty="0"/>
                        <a:t>svr9RedoBlog</a:t>
                      </a:r>
                      <a:endParaRPr lang="nl-NL" dirty="0"/>
                    </a:p>
                  </a:txBody>
                  <a:tcPr/>
                </a:tc>
                <a:tc>
                  <a:txBody>
                    <a:bodyPr/>
                    <a:lstStyle/>
                    <a:p>
                      <a:r>
                        <a:rPr lang="en-GB" dirty="0"/>
                        <a:t>Trip</a:t>
                      </a:r>
                      <a:endParaRPr lang="nl-NL" dirty="0"/>
                    </a:p>
                  </a:txBody>
                  <a:tcPr/>
                </a:tc>
                <a:tc>
                  <a:txBody>
                    <a:bodyPr/>
                    <a:lstStyle/>
                    <a:p>
                      <a:endParaRPr lang="nl-NL" dirty="0"/>
                    </a:p>
                  </a:txBody>
                  <a:tcPr/>
                </a:tc>
                <a:tc>
                  <a:txBody>
                    <a:bodyPr/>
                    <a:lstStyle/>
                    <a:p>
                      <a:r>
                        <a:rPr lang="en-GB" dirty="0"/>
                        <a:t>Update blog using new code.</a:t>
                      </a:r>
                      <a:endParaRPr lang="nl-NL" dirty="0"/>
                    </a:p>
                  </a:txBody>
                  <a:tcPr/>
                </a:tc>
                <a:extLst>
                  <a:ext uri="{0D108BD9-81ED-4DB2-BD59-A6C34878D82A}">
                    <a16:rowId xmlns:a16="http://schemas.microsoft.com/office/drawing/2014/main" val="4178548953"/>
                  </a:ext>
                </a:extLst>
              </a:tr>
              <a:tr h="370840">
                <a:tc>
                  <a:txBody>
                    <a:bodyPr/>
                    <a:lstStyle/>
                    <a:p>
                      <a:r>
                        <a:rPr lang="en-GB" dirty="0"/>
                        <a:t>svu1BirdingBreaks</a:t>
                      </a:r>
                      <a:endParaRPr lang="nl-NL" dirty="0"/>
                    </a:p>
                  </a:txBody>
                  <a:tcPr/>
                </a:tc>
                <a:tc>
                  <a:txBody>
                    <a:bodyPr/>
                    <a:lstStyle/>
                    <a:p>
                      <a:r>
                        <a:rPr lang="en-GB" dirty="0"/>
                        <a:t>n/a</a:t>
                      </a:r>
                      <a:endParaRPr lang="nl-NL" dirty="0"/>
                    </a:p>
                  </a:txBody>
                  <a:tcPr/>
                </a:tc>
                <a:tc>
                  <a:txBody>
                    <a:bodyPr/>
                    <a:lstStyle/>
                    <a:p>
                      <a:r>
                        <a:rPr lang="en-GB" dirty="0"/>
                        <a:t>Yes</a:t>
                      </a:r>
                      <a:endParaRPr lang="nl-NL" dirty="0"/>
                    </a:p>
                  </a:txBody>
                  <a:tcPr/>
                </a:tc>
                <a:tc>
                  <a:txBody>
                    <a:bodyPr/>
                    <a:lstStyle/>
                    <a:p>
                      <a:r>
                        <a:rPr lang="en-GB" dirty="0"/>
                        <a:t>Ad-hoc code to create a summary Excel for trip based on the </a:t>
                      </a:r>
                      <a:r>
                        <a:rPr lang="en-GB" dirty="0" err="1"/>
                        <a:t>BirdingBreak</a:t>
                      </a:r>
                      <a:r>
                        <a:rPr lang="en-GB" dirty="0"/>
                        <a:t> </a:t>
                      </a:r>
                      <a:r>
                        <a:rPr lang="en-GB" dirty="0" err="1"/>
                        <a:t>specieslist</a:t>
                      </a:r>
                      <a:r>
                        <a:rPr lang="en-GB" dirty="0"/>
                        <a:t>.</a:t>
                      </a:r>
                      <a:endParaRPr lang="nl-NL" dirty="0"/>
                    </a:p>
                  </a:txBody>
                  <a:tcPr/>
                </a:tc>
                <a:extLst>
                  <a:ext uri="{0D108BD9-81ED-4DB2-BD59-A6C34878D82A}">
                    <a16:rowId xmlns:a16="http://schemas.microsoft.com/office/drawing/2014/main" val="2540119397"/>
                  </a:ext>
                </a:extLst>
              </a:tr>
              <a:tr h="370840">
                <a:tc>
                  <a:txBody>
                    <a:bodyPr/>
                    <a:lstStyle/>
                    <a:p>
                      <a:r>
                        <a:rPr lang="en-GB" dirty="0"/>
                        <a:t>Svu2avibase</a:t>
                      </a:r>
                      <a:endParaRPr lang="nl-NL" dirty="0"/>
                    </a:p>
                  </a:txBody>
                  <a:tcPr/>
                </a:tc>
                <a:tc>
                  <a:txBody>
                    <a:bodyPr/>
                    <a:lstStyle/>
                    <a:p>
                      <a:r>
                        <a:rPr lang="en-GB" dirty="0"/>
                        <a:t>n/a</a:t>
                      </a:r>
                      <a:endParaRPr lang="nl-NL" dirty="0"/>
                    </a:p>
                  </a:txBody>
                  <a:tcPr/>
                </a:tc>
                <a:tc>
                  <a:txBody>
                    <a:bodyPr/>
                    <a:lstStyle/>
                    <a:p>
                      <a:r>
                        <a:rPr lang="en-GB" dirty="0"/>
                        <a:t>Yes</a:t>
                      </a:r>
                      <a:endParaRPr lang="nl-NL" dirty="0"/>
                    </a:p>
                  </a:txBody>
                  <a:tcPr/>
                </a:tc>
                <a:tc>
                  <a:txBody>
                    <a:bodyPr/>
                    <a:lstStyle/>
                    <a:p>
                      <a:r>
                        <a:rPr lang="en-GB" dirty="0"/>
                        <a:t>Object is to use an </a:t>
                      </a:r>
                      <a:r>
                        <a:rPr lang="en-GB" dirty="0" err="1"/>
                        <a:t>avibase</a:t>
                      </a:r>
                      <a:r>
                        <a:rPr lang="en-GB" dirty="0"/>
                        <a:t> CSV to create a checklist, marking whether not a species is new for me.</a:t>
                      </a:r>
                      <a:endParaRPr lang="nl-NL" dirty="0"/>
                    </a:p>
                  </a:txBody>
                  <a:tcPr/>
                </a:tc>
                <a:extLst>
                  <a:ext uri="{0D108BD9-81ED-4DB2-BD59-A6C34878D82A}">
                    <a16:rowId xmlns:a16="http://schemas.microsoft.com/office/drawing/2014/main" val="3735507902"/>
                  </a:ext>
                </a:extLst>
              </a:tr>
            </a:tbl>
          </a:graphicData>
        </a:graphic>
      </p:graphicFrame>
      <p:sp>
        <p:nvSpPr>
          <p:cNvPr id="7" name="Title 6">
            <a:extLst>
              <a:ext uri="{FF2B5EF4-FFF2-40B4-BE49-F238E27FC236}">
                <a16:creationId xmlns:a16="http://schemas.microsoft.com/office/drawing/2014/main" id="{06F67CCF-F899-7CD7-9ADA-5EC81AD0241B}"/>
              </a:ext>
            </a:extLst>
          </p:cNvPr>
          <p:cNvSpPr>
            <a:spLocks noGrp="1"/>
          </p:cNvSpPr>
          <p:nvPr>
            <p:ph type="title"/>
          </p:nvPr>
        </p:nvSpPr>
        <p:spPr>
          <a:xfrm>
            <a:off x="617220" y="182245"/>
            <a:ext cx="10515600" cy="686435"/>
          </a:xfrm>
        </p:spPr>
        <p:txBody>
          <a:bodyPr>
            <a:normAutofit fontScale="90000"/>
          </a:bodyPr>
          <a:lstStyle/>
          <a:p>
            <a:r>
              <a:rPr lang="en-GB" dirty="0"/>
              <a:t>Utilities</a:t>
            </a:r>
            <a:endParaRPr lang="nl-NL" dirty="0"/>
          </a:p>
        </p:txBody>
      </p:sp>
    </p:spTree>
    <p:extLst>
      <p:ext uri="{BB962C8B-B14F-4D97-AF65-F5344CB8AC3E}">
        <p14:creationId xmlns:p14="http://schemas.microsoft.com/office/powerpoint/2010/main" val="22616233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871F0-D734-DC34-4306-8F9ECF76B0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8A16E7-24C7-BC78-C30C-C38DB7ED1EAB}"/>
              </a:ext>
            </a:extLst>
          </p:cNvPr>
          <p:cNvSpPr>
            <a:spLocks noGrp="1"/>
          </p:cNvSpPr>
          <p:nvPr>
            <p:ph type="title"/>
          </p:nvPr>
        </p:nvSpPr>
        <p:spPr>
          <a:xfrm>
            <a:off x="526211" y="365125"/>
            <a:ext cx="11205714" cy="1325563"/>
          </a:xfrm>
        </p:spPr>
        <p:txBody>
          <a:bodyPr/>
          <a:lstStyle/>
          <a:p>
            <a:r>
              <a:rPr lang="en-GB" dirty="0"/>
              <a:t>Create a new trip</a:t>
            </a:r>
            <a:endParaRPr lang="nl-NL" dirty="0"/>
          </a:p>
        </p:txBody>
      </p:sp>
      <p:sp>
        <p:nvSpPr>
          <p:cNvPr id="3" name="Content Placeholder 2">
            <a:extLst>
              <a:ext uri="{FF2B5EF4-FFF2-40B4-BE49-F238E27FC236}">
                <a16:creationId xmlns:a16="http://schemas.microsoft.com/office/drawing/2014/main" id="{1F2EB85F-F13F-F115-1806-69D3F4DA0B61}"/>
              </a:ext>
            </a:extLst>
          </p:cNvPr>
          <p:cNvSpPr>
            <a:spLocks noGrp="1"/>
          </p:cNvSpPr>
          <p:nvPr>
            <p:ph idx="1"/>
          </p:nvPr>
        </p:nvSpPr>
        <p:spPr/>
        <p:txBody>
          <a:bodyPr>
            <a:normAutofit/>
          </a:bodyPr>
          <a:lstStyle/>
          <a:p>
            <a:pPr marL="0" indent="0">
              <a:buNone/>
            </a:pPr>
            <a:r>
              <a:rPr lang="en-GB" sz="2400" dirty="0"/>
              <a:t>Once the overall setup is done with a master database (see above) a </a:t>
            </a:r>
            <a:r>
              <a:rPr lang="en-GB" sz="2400" b="1" dirty="0"/>
              <a:t>Trip</a:t>
            </a:r>
            <a:r>
              <a:rPr lang="en-GB" sz="2400" dirty="0"/>
              <a:t> must defined. This is essentially a subtree in the </a:t>
            </a:r>
            <a:r>
              <a:rPr lang="en-GB" sz="2400" b="1" dirty="0"/>
              <a:t>Trips</a:t>
            </a:r>
            <a:r>
              <a:rPr lang="en-GB" sz="2400" dirty="0"/>
              <a:t> directory.</a:t>
            </a:r>
          </a:p>
          <a:p>
            <a:pPr marL="0" indent="0">
              <a:buNone/>
            </a:pPr>
            <a:r>
              <a:rPr lang="en-GB" sz="2400" dirty="0"/>
              <a:t>Creating a new Trip requires:</a:t>
            </a:r>
          </a:p>
          <a:p>
            <a:r>
              <a:rPr lang="en-GB" sz="2400" dirty="0"/>
              <a:t>To manually create a new trip directory: &lt;</a:t>
            </a:r>
            <a:r>
              <a:rPr lang="en-GB" sz="2400" dirty="0" err="1"/>
              <a:t>tripname</a:t>
            </a:r>
            <a:r>
              <a:rPr lang="en-GB" sz="2400" dirty="0"/>
              <a:t>&gt;</a:t>
            </a:r>
            <a:r>
              <a:rPr lang="en-GB" sz="2400" dirty="0" err="1"/>
              <a:t>db</a:t>
            </a:r>
            <a:r>
              <a:rPr lang="en-GB" sz="2400" dirty="0"/>
              <a:t>, </a:t>
            </a:r>
            <a:r>
              <a:rPr lang="en-GB" sz="2400" dirty="0" err="1"/>
              <a:t>eg</a:t>
            </a:r>
            <a:r>
              <a:rPr lang="en-GB" sz="2400" dirty="0"/>
              <a:t> </a:t>
            </a:r>
            <a:r>
              <a:rPr lang="en-GB" sz="2400" b="1" dirty="0" err="1"/>
              <a:t>gambiadb</a:t>
            </a:r>
            <a:r>
              <a:rPr lang="en-GB" sz="2400" b="1" dirty="0"/>
              <a:t>, </a:t>
            </a:r>
            <a:r>
              <a:rPr lang="en-GB" sz="2400" dirty="0"/>
              <a:t>with in this directory three files:</a:t>
            </a:r>
            <a:endParaRPr lang="en-GB" sz="2400" b="1" dirty="0"/>
          </a:p>
          <a:p>
            <a:pPr lvl="1"/>
            <a:r>
              <a:rPr lang="en-GB" sz="2000" dirty="0"/>
              <a:t>Create a </a:t>
            </a:r>
            <a:r>
              <a:rPr lang="en-GB" sz="2000" b="1" dirty="0"/>
              <a:t>banner</a:t>
            </a:r>
            <a:r>
              <a:rPr lang="en-GB" sz="2000" dirty="0"/>
              <a:t> for each webpage about the trip, 2000x270 pixels.  Text must be readable when overlayed with info like a species name</a:t>
            </a:r>
          </a:p>
          <a:p>
            <a:pPr lvl="1"/>
            <a:r>
              <a:rPr lang="en-GB" sz="2000" dirty="0"/>
              <a:t>Create a small </a:t>
            </a:r>
            <a:r>
              <a:rPr lang="en-GB" sz="2000" b="1" dirty="0"/>
              <a:t>picture</a:t>
            </a:r>
            <a:r>
              <a:rPr lang="en-GB" sz="2000" dirty="0"/>
              <a:t> 600x450 pixels for visual lists</a:t>
            </a:r>
          </a:p>
          <a:p>
            <a:pPr lvl="1"/>
            <a:r>
              <a:rPr lang="en-GB" sz="2000" dirty="0"/>
              <a:t>A </a:t>
            </a:r>
            <a:r>
              <a:rPr lang="en-GB" sz="2000" b="1" dirty="0"/>
              <a:t>trip.ini </a:t>
            </a:r>
            <a:r>
              <a:rPr lang="en-GB" sz="2000" dirty="0"/>
              <a:t>file that describes the trip (example on next slide)</a:t>
            </a:r>
          </a:p>
          <a:p>
            <a:r>
              <a:rPr lang="en-GB" sz="2400" dirty="0"/>
              <a:t>To run the Python program sv1MakeRepository</a:t>
            </a:r>
          </a:p>
          <a:p>
            <a:pPr lvl="1"/>
            <a:r>
              <a:rPr lang="en-GB" sz="2000" dirty="0"/>
              <a:t>with another </a:t>
            </a:r>
            <a:r>
              <a:rPr lang="en-GB" sz="2000" dirty="0" err="1"/>
              <a:t>ini</a:t>
            </a:r>
            <a:r>
              <a:rPr lang="en-GB" sz="2000" dirty="0"/>
              <a:t> file passed to it, </a:t>
            </a:r>
            <a:r>
              <a:rPr lang="en-GB" sz="2000" dirty="0" err="1"/>
              <a:t>eg</a:t>
            </a:r>
            <a:r>
              <a:rPr lang="en-GB" sz="2000" dirty="0"/>
              <a:t> svconfig.ini (example below)</a:t>
            </a:r>
          </a:p>
        </p:txBody>
      </p:sp>
    </p:spTree>
    <p:extLst>
      <p:ext uri="{BB962C8B-B14F-4D97-AF65-F5344CB8AC3E}">
        <p14:creationId xmlns:p14="http://schemas.microsoft.com/office/powerpoint/2010/main" val="41426736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7A45C8-9266-0196-C399-61E15707A5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5F6CD-18DD-07DB-EC43-891E1527B897}"/>
              </a:ext>
            </a:extLst>
          </p:cNvPr>
          <p:cNvSpPr>
            <a:spLocks noGrp="1"/>
          </p:cNvSpPr>
          <p:nvPr>
            <p:ph type="title"/>
          </p:nvPr>
        </p:nvSpPr>
        <p:spPr>
          <a:xfrm>
            <a:off x="526211" y="365125"/>
            <a:ext cx="11205714" cy="1325563"/>
          </a:xfrm>
        </p:spPr>
        <p:txBody>
          <a:bodyPr/>
          <a:lstStyle/>
          <a:p>
            <a:r>
              <a:rPr lang="en-GB" dirty="0"/>
              <a:t>Sample trip.ini file (page 1)</a:t>
            </a:r>
            <a:endParaRPr lang="nl-NL" dirty="0"/>
          </a:p>
        </p:txBody>
      </p:sp>
      <p:sp>
        <p:nvSpPr>
          <p:cNvPr id="3" name="Content Placeholder 2">
            <a:extLst>
              <a:ext uri="{FF2B5EF4-FFF2-40B4-BE49-F238E27FC236}">
                <a16:creationId xmlns:a16="http://schemas.microsoft.com/office/drawing/2014/main" id="{D09412B8-8DD1-4D18-2C04-21D8F0EF5A1E}"/>
              </a:ext>
            </a:extLst>
          </p:cNvPr>
          <p:cNvSpPr>
            <a:spLocks noGrp="1"/>
          </p:cNvSpPr>
          <p:nvPr>
            <p:ph idx="1"/>
          </p:nvPr>
        </p:nvSpPr>
        <p:spPr/>
        <p:txBody>
          <a:bodyPr>
            <a:normAutofit/>
          </a:bodyPr>
          <a:lstStyle/>
          <a:p>
            <a:pPr marL="0" indent="0">
              <a:buNone/>
            </a:pPr>
            <a:r>
              <a:rPr lang="en-GB" sz="2000" dirty="0"/>
              <a:t>[</a:t>
            </a:r>
            <a:r>
              <a:rPr lang="en-GB" sz="2000" dirty="0" err="1"/>
              <a:t>trip_config</a:t>
            </a:r>
            <a:r>
              <a:rPr lang="en-GB" sz="2000" dirty="0"/>
              <a:t>]					# group</a:t>
            </a:r>
          </a:p>
          <a:p>
            <a:pPr marL="0" indent="0">
              <a:buNone/>
            </a:pPr>
            <a:r>
              <a:rPr lang="en-GB" sz="2000" dirty="0" err="1"/>
              <a:t>master_repository_web</a:t>
            </a:r>
            <a:r>
              <a:rPr lang="en-GB" sz="2000" dirty="0"/>
              <a:t> = /nature/		# web address for master</a:t>
            </a:r>
          </a:p>
          <a:p>
            <a:pPr marL="0" indent="0">
              <a:buNone/>
            </a:pPr>
            <a:r>
              <a:rPr lang="en-GB" sz="2000" dirty="0" err="1"/>
              <a:t>master_repository_disk</a:t>
            </a:r>
            <a:r>
              <a:rPr lang="en-GB" sz="2000" dirty="0"/>
              <a:t> = E:\Dropbox\naturedb	# location on Windows or Linux</a:t>
            </a:r>
          </a:p>
          <a:p>
            <a:pPr marL="0" indent="0">
              <a:buNone/>
            </a:pPr>
            <a:r>
              <a:rPr lang="en-GB" sz="2000" dirty="0" err="1"/>
              <a:t>trip_banner</a:t>
            </a:r>
            <a:r>
              <a:rPr lang="en-GB" sz="2000" dirty="0"/>
              <a:t> = bannergambia.jpg			# banner just created</a:t>
            </a:r>
          </a:p>
          <a:p>
            <a:pPr marL="0" indent="0">
              <a:buNone/>
            </a:pPr>
            <a:r>
              <a:rPr lang="en-GB" sz="2000" dirty="0" err="1"/>
              <a:t>trip_picture</a:t>
            </a:r>
            <a:r>
              <a:rPr lang="en-GB" sz="2000" dirty="0"/>
              <a:t> = gambiatrip.jpg			# picture for visual trip list</a:t>
            </a:r>
          </a:p>
          <a:p>
            <a:pPr marL="0" indent="0">
              <a:buNone/>
            </a:pPr>
            <a:r>
              <a:rPr lang="en-GB" sz="2000" dirty="0"/>
              <a:t>created = 2025-07-13 12:28			# last time file is updated</a:t>
            </a:r>
          </a:p>
          <a:p>
            <a:pPr marL="0" indent="0">
              <a:buNone/>
            </a:pPr>
            <a:r>
              <a:rPr lang="en-GB" sz="2000" dirty="0" err="1"/>
              <a:t>trip_name</a:t>
            </a:r>
            <a:r>
              <a:rPr lang="en-GB" sz="2000" dirty="0"/>
              <a:t> = </a:t>
            </a:r>
            <a:r>
              <a:rPr lang="en-GB" sz="2000" dirty="0" err="1"/>
              <a:t>gambia</a:t>
            </a:r>
            <a:r>
              <a:rPr lang="en-GB" sz="2000" dirty="0"/>
              <a:t>				# the (web) address for the trip</a:t>
            </a:r>
          </a:p>
          <a:p>
            <a:pPr marL="0" indent="0">
              <a:buNone/>
            </a:pPr>
            <a:r>
              <a:rPr lang="en-GB" sz="2000" dirty="0" err="1"/>
              <a:t>fromdate</a:t>
            </a:r>
            <a:r>
              <a:rPr lang="en-GB" sz="2000" dirty="0"/>
              <a:t> = 2025-02-17				# consider only pictures from</a:t>
            </a:r>
          </a:p>
          <a:p>
            <a:pPr marL="0" indent="0">
              <a:buNone/>
            </a:pPr>
            <a:r>
              <a:rPr lang="en-GB" sz="2000" dirty="0" err="1"/>
              <a:t>todate</a:t>
            </a:r>
            <a:r>
              <a:rPr lang="en-GB" sz="2000" dirty="0"/>
              <a:t> = 2025-03-17				#     this date range</a:t>
            </a:r>
          </a:p>
          <a:p>
            <a:pPr marL="0" indent="0">
              <a:buNone/>
            </a:pPr>
            <a:r>
              <a:rPr lang="en-GB" sz="2000" dirty="0" err="1"/>
              <a:t>oneblog</a:t>
            </a:r>
            <a:r>
              <a:rPr lang="en-GB" sz="2000" dirty="0"/>
              <a:t> = day					# the blog entry is about day or month</a:t>
            </a:r>
          </a:p>
        </p:txBody>
      </p:sp>
    </p:spTree>
    <p:extLst>
      <p:ext uri="{BB962C8B-B14F-4D97-AF65-F5344CB8AC3E}">
        <p14:creationId xmlns:p14="http://schemas.microsoft.com/office/powerpoint/2010/main" val="41469494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B95EE-A8DD-4E40-5432-6DFD6E7A09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6EB14F-A830-D83C-BC4F-45F7E663A57A}"/>
              </a:ext>
            </a:extLst>
          </p:cNvPr>
          <p:cNvSpPr>
            <a:spLocks noGrp="1"/>
          </p:cNvSpPr>
          <p:nvPr>
            <p:ph type="title"/>
          </p:nvPr>
        </p:nvSpPr>
        <p:spPr>
          <a:xfrm>
            <a:off x="526211" y="365125"/>
            <a:ext cx="11205714" cy="1325563"/>
          </a:xfrm>
        </p:spPr>
        <p:txBody>
          <a:bodyPr/>
          <a:lstStyle/>
          <a:p>
            <a:r>
              <a:rPr lang="en-GB" dirty="0"/>
              <a:t>Sample trip.ini file (page 2) – </a:t>
            </a:r>
            <a:br>
              <a:rPr lang="en-GB" dirty="0"/>
            </a:br>
            <a:r>
              <a:rPr lang="en-GB" dirty="0"/>
              <a:t>Text for Dutch and English version</a:t>
            </a:r>
            <a:endParaRPr lang="nl-NL" dirty="0"/>
          </a:p>
        </p:txBody>
      </p:sp>
      <p:sp>
        <p:nvSpPr>
          <p:cNvPr id="3" name="Content Placeholder 2">
            <a:extLst>
              <a:ext uri="{FF2B5EF4-FFF2-40B4-BE49-F238E27FC236}">
                <a16:creationId xmlns:a16="http://schemas.microsoft.com/office/drawing/2014/main" id="{37EDA81C-AB9C-DE8D-7A7B-009D9DE150C7}"/>
              </a:ext>
            </a:extLst>
          </p:cNvPr>
          <p:cNvSpPr>
            <a:spLocks noGrp="1"/>
          </p:cNvSpPr>
          <p:nvPr>
            <p:ph idx="1"/>
          </p:nvPr>
        </p:nvSpPr>
        <p:spPr/>
        <p:txBody>
          <a:bodyPr>
            <a:normAutofit fontScale="77500" lnSpcReduction="20000"/>
          </a:bodyPr>
          <a:lstStyle/>
          <a:p>
            <a:pPr marL="0" indent="0">
              <a:buNone/>
            </a:pPr>
            <a:r>
              <a:rPr lang="en-GB" sz="2000" dirty="0"/>
              <a:t>[</a:t>
            </a:r>
            <a:r>
              <a:rPr lang="en-GB" sz="2000" dirty="0" err="1"/>
              <a:t>trip_text</a:t>
            </a:r>
            <a:r>
              <a:rPr lang="en-GB" sz="2000" dirty="0"/>
              <a:t>]</a:t>
            </a:r>
          </a:p>
          <a:p>
            <a:pPr marL="0" indent="0">
              <a:buNone/>
            </a:pPr>
            <a:r>
              <a:rPr lang="en-GB" sz="2000" dirty="0" err="1"/>
              <a:t>title_nl</a:t>
            </a:r>
            <a:r>
              <a:rPr lang="en-GB" sz="2000" dirty="0"/>
              <a:t> = Gambia</a:t>
            </a:r>
          </a:p>
          <a:p>
            <a:pPr marL="0" indent="0">
              <a:buNone/>
            </a:pPr>
            <a:r>
              <a:rPr lang="en-GB" sz="2000" dirty="0" err="1"/>
              <a:t>message_nl</a:t>
            </a:r>
            <a:r>
              <a:rPr lang="en-GB" sz="2000" dirty="0"/>
              <a:t> = </a:t>
            </a:r>
            <a:r>
              <a:rPr lang="en-GB" sz="2000" dirty="0" err="1"/>
              <a:t>Vanaf</a:t>
            </a:r>
            <a:r>
              <a:rPr lang="en-GB" sz="2000" dirty="0"/>
              <a:t> half </a:t>
            </a:r>
            <a:r>
              <a:rPr lang="en-GB" sz="2000" dirty="0" err="1"/>
              <a:t>februari</a:t>
            </a:r>
            <a:r>
              <a:rPr lang="en-GB" sz="2000" dirty="0"/>
              <a:t> ben </a:t>
            </a:r>
            <a:r>
              <a:rPr lang="en-GB" sz="2000" dirty="0" err="1"/>
              <a:t>ik</a:t>
            </a:r>
            <a:r>
              <a:rPr lang="en-GB" sz="2000" dirty="0"/>
              <a:t> 4 </a:t>
            </a:r>
            <a:r>
              <a:rPr lang="en-GB" sz="2000" dirty="0" err="1"/>
              <a:t>weken</a:t>
            </a:r>
            <a:r>
              <a:rPr lang="en-GB" sz="2000" dirty="0"/>
              <a:t> </a:t>
            </a:r>
            <a:r>
              <a:rPr lang="en-GB" sz="2000" dirty="0" err="1"/>
              <a:t>naar</a:t>
            </a:r>
            <a:r>
              <a:rPr lang="en-GB" sz="2000" dirty="0"/>
              <a:t> de </a:t>
            </a:r>
            <a:r>
              <a:rPr lang="en-GB" sz="2000" dirty="0" err="1"/>
              <a:t>warmte</a:t>
            </a:r>
            <a:r>
              <a:rPr lang="en-GB" sz="2000" dirty="0"/>
              <a:t> van Gambia </a:t>
            </a:r>
            <a:r>
              <a:rPr lang="en-GB" sz="2000" dirty="0" err="1"/>
              <a:t>geweest</a:t>
            </a:r>
            <a:r>
              <a:rPr lang="en-GB" sz="2000" dirty="0"/>
              <a:t>.  De reis is </a:t>
            </a:r>
            <a:r>
              <a:rPr lang="en-GB" sz="2000" dirty="0" err="1"/>
              <a:t>georganiseerd</a:t>
            </a:r>
            <a:r>
              <a:rPr lang="en-GB" sz="2000" dirty="0"/>
              <a:t> door &lt;a </a:t>
            </a:r>
            <a:r>
              <a:rPr lang="en-GB" sz="2000" dirty="0" err="1"/>
              <a:t>href</a:t>
            </a:r>
            <a:r>
              <a:rPr lang="en-GB" sz="2000" dirty="0"/>
              <a:t>="https://www.senegambiabirding.com/nl/" ​​target="_blank"&gt;Senegambia Birding&lt;/a&gt;.  De </a:t>
            </a:r>
            <a:r>
              <a:rPr lang="en-GB" sz="2000" dirty="0" err="1"/>
              <a:t>organisatie</a:t>
            </a:r>
            <a:r>
              <a:rPr lang="en-GB" sz="2000" dirty="0"/>
              <a:t> is </a:t>
            </a:r>
            <a:r>
              <a:rPr lang="en-GB" sz="2000" dirty="0" err="1"/>
              <a:t>bijzonder</a:t>
            </a:r>
            <a:r>
              <a:rPr lang="en-GB" sz="2000" dirty="0"/>
              <a:t> </a:t>
            </a:r>
            <a:r>
              <a:rPr lang="en-GB" sz="2000" dirty="0" err="1"/>
              <a:t>omdat</a:t>
            </a:r>
            <a:r>
              <a:rPr lang="en-GB" sz="2000" dirty="0"/>
              <a:t> ze </a:t>
            </a:r>
            <a:r>
              <a:rPr lang="en-GB" sz="2000" dirty="0" err="1"/>
              <a:t>alleen</a:t>
            </a:r>
            <a:r>
              <a:rPr lang="en-GB" sz="2000" dirty="0"/>
              <a:t> met </a:t>
            </a:r>
            <a:r>
              <a:rPr lang="en-GB" sz="2000" dirty="0" err="1"/>
              <a:t>lokale</a:t>
            </a:r>
            <a:r>
              <a:rPr lang="en-GB" sz="2000" dirty="0"/>
              <a:t> </a:t>
            </a:r>
            <a:r>
              <a:rPr lang="en-GB" sz="2000" dirty="0" err="1"/>
              <a:t>mensen</a:t>
            </a:r>
            <a:r>
              <a:rPr lang="en-GB" sz="2000" dirty="0"/>
              <a:t> </a:t>
            </a:r>
            <a:r>
              <a:rPr lang="en-GB" sz="2000" dirty="0" err="1"/>
              <a:t>werken</a:t>
            </a:r>
            <a:r>
              <a:rPr lang="en-GB" sz="2000" dirty="0"/>
              <a:t>, </a:t>
            </a:r>
            <a:r>
              <a:rPr lang="en-GB" sz="2000" dirty="0" err="1"/>
              <a:t>onder</a:t>
            </a:r>
            <a:r>
              <a:rPr lang="en-GB" sz="2000" dirty="0"/>
              <a:t> </a:t>
            </a:r>
            <a:r>
              <a:rPr lang="en-GB" sz="2000" dirty="0" err="1"/>
              <a:t>leiding</a:t>
            </a:r>
            <a:r>
              <a:rPr lang="en-GB" sz="2000" dirty="0"/>
              <a:t> van </a:t>
            </a:r>
            <a:r>
              <a:rPr lang="en-GB" sz="2000" dirty="0" err="1"/>
              <a:t>een</a:t>
            </a:r>
            <a:r>
              <a:rPr lang="en-GB" sz="2000" dirty="0"/>
              <a:t> </a:t>
            </a:r>
            <a:r>
              <a:rPr lang="en-GB" sz="2000" dirty="0" err="1"/>
              <a:t>bevlogen</a:t>
            </a:r>
            <a:r>
              <a:rPr lang="en-GB" sz="2000" dirty="0"/>
              <a:t> Belg. Ze laten </a:t>
            </a:r>
            <a:r>
              <a:rPr lang="en-GB" sz="2000" dirty="0" err="1"/>
              <a:t>hun</a:t>
            </a:r>
            <a:r>
              <a:rPr lang="en-GB" sz="2000" dirty="0"/>
              <a:t> </a:t>
            </a:r>
            <a:r>
              <a:rPr lang="en-GB" sz="2000" dirty="0" err="1"/>
              <a:t>gasten</a:t>
            </a:r>
            <a:r>
              <a:rPr lang="en-GB" sz="2000" dirty="0"/>
              <a:t> de </a:t>
            </a:r>
            <a:r>
              <a:rPr lang="en-GB" sz="2000" dirty="0" err="1"/>
              <a:t>natuur</a:t>
            </a:r>
            <a:r>
              <a:rPr lang="en-GB" sz="2000" dirty="0"/>
              <a:t> </a:t>
            </a:r>
            <a:r>
              <a:rPr lang="en-GB" sz="2000" dirty="0" err="1"/>
              <a:t>zien</a:t>
            </a:r>
            <a:r>
              <a:rPr lang="en-GB" sz="2000" dirty="0"/>
              <a:t> en de </a:t>
            </a:r>
            <a:r>
              <a:rPr lang="en-GB" sz="2000" dirty="0" err="1"/>
              <a:t>cultuur</a:t>
            </a:r>
            <a:r>
              <a:rPr lang="en-GB" sz="2000" dirty="0"/>
              <a:t> </a:t>
            </a:r>
            <a:r>
              <a:rPr lang="en-GB" sz="2000" dirty="0" err="1"/>
              <a:t>ervaren</a:t>
            </a:r>
            <a:r>
              <a:rPr lang="en-GB" sz="2000" dirty="0"/>
              <a:t>. In Gambia </a:t>
            </a:r>
            <a:r>
              <a:rPr lang="en-GB" sz="2000" dirty="0" err="1"/>
              <a:t>worden</a:t>
            </a:r>
            <a:r>
              <a:rPr lang="en-GB" sz="2000" dirty="0"/>
              <a:t> 9 </a:t>
            </a:r>
            <a:r>
              <a:rPr lang="en-GB" sz="2000" dirty="0" err="1"/>
              <a:t>talen</a:t>
            </a:r>
            <a:r>
              <a:rPr lang="en-GB" sz="2000" dirty="0"/>
              <a:t> </a:t>
            </a:r>
            <a:r>
              <a:rPr lang="en-GB" sz="2000" dirty="0" err="1"/>
              <a:t>gesproken</a:t>
            </a:r>
            <a:r>
              <a:rPr lang="en-GB" sz="2000" dirty="0"/>
              <a:t>, en </a:t>
            </a:r>
            <a:r>
              <a:rPr lang="en-GB" sz="2000" dirty="0" err="1"/>
              <a:t>daarnaast</a:t>
            </a:r>
            <a:r>
              <a:rPr lang="en-GB" sz="2000" dirty="0"/>
              <a:t> </a:t>
            </a:r>
            <a:r>
              <a:rPr lang="en-GB" sz="2000" dirty="0" err="1"/>
              <a:t>leert</a:t>
            </a:r>
            <a:r>
              <a:rPr lang="en-GB" sz="2000" dirty="0"/>
              <a:t> de </a:t>
            </a:r>
            <a:r>
              <a:rPr lang="en-GB" sz="2000" dirty="0" err="1"/>
              <a:t>islamische</a:t>
            </a:r>
            <a:r>
              <a:rPr lang="en-GB" sz="2000" dirty="0"/>
              <a:t> </a:t>
            </a:r>
            <a:r>
              <a:rPr lang="en-GB" sz="2000" dirty="0" err="1"/>
              <a:t>bevolking</a:t>
            </a:r>
            <a:r>
              <a:rPr lang="en-GB" sz="2000" dirty="0"/>
              <a:t> </a:t>
            </a:r>
            <a:r>
              <a:rPr lang="en-GB" sz="2000" dirty="0" err="1"/>
              <a:t>veel</a:t>
            </a:r>
            <a:r>
              <a:rPr lang="en-GB" sz="2000" dirty="0"/>
              <a:t> van </a:t>
            </a:r>
            <a:r>
              <a:rPr lang="en-GB" sz="2000" dirty="0" err="1"/>
              <a:t>hun</a:t>
            </a:r>
            <a:r>
              <a:rPr lang="en-GB" sz="2000" dirty="0"/>
              <a:t> </a:t>
            </a:r>
            <a:r>
              <a:rPr lang="en-GB" sz="2000" dirty="0" err="1"/>
              <a:t>godsdienst</a:t>
            </a:r>
            <a:r>
              <a:rPr lang="en-GB" sz="2000" dirty="0"/>
              <a:t>. Dat </a:t>
            </a:r>
            <a:r>
              <a:rPr lang="en-GB" sz="2000" dirty="0" err="1"/>
              <a:t>maakt</a:t>
            </a:r>
            <a:r>
              <a:rPr lang="en-GB" sz="2000" dirty="0"/>
              <a:t> </a:t>
            </a:r>
            <a:r>
              <a:rPr lang="en-GB" sz="2000" dirty="0" err="1"/>
              <a:t>onderwijs</a:t>
            </a:r>
            <a:r>
              <a:rPr lang="en-GB" sz="2000" dirty="0"/>
              <a:t> </a:t>
            </a:r>
            <a:r>
              <a:rPr lang="en-GB" sz="2000" dirty="0" err="1"/>
              <a:t>moeilijk</a:t>
            </a:r>
            <a:r>
              <a:rPr lang="en-GB" sz="2000" dirty="0"/>
              <a:t>. Er is </a:t>
            </a:r>
            <a:r>
              <a:rPr lang="en-GB" sz="2000" dirty="0" err="1"/>
              <a:t>weinig</a:t>
            </a:r>
            <a:r>
              <a:rPr lang="en-GB" sz="2000" dirty="0"/>
              <a:t> </a:t>
            </a:r>
            <a:r>
              <a:rPr lang="en-GB" sz="2000" dirty="0" err="1"/>
              <a:t>infrastructuur</a:t>
            </a:r>
            <a:r>
              <a:rPr lang="en-GB" sz="2000" dirty="0"/>
              <a:t>: </a:t>
            </a:r>
            <a:r>
              <a:rPr lang="en-GB" sz="2000" dirty="0" err="1"/>
              <a:t>bijna</a:t>
            </a:r>
            <a:r>
              <a:rPr lang="en-GB" sz="2000" dirty="0"/>
              <a:t> alle </a:t>
            </a:r>
            <a:r>
              <a:rPr lang="en-GB" sz="2000" dirty="0" err="1"/>
              <a:t>wegen</a:t>
            </a:r>
            <a:r>
              <a:rPr lang="en-GB" sz="2000" dirty="0"/>
              <a:t> </a:t>
            </a:r>
            <a:r>
              <a:rPr lang="en-GB" sz="2000" dirty="0" err="1"/>
              <a:t>zijn</a:t>
            </a:r>
            <a:r>
              <a:rPr lang="en-GB" sz="2000" dirty="0"/>
              <a:t> </a:t>
            </a:r>
            <a:r>
              <a:rPr lang="en-GB" sz="2000" dirty="0" err="1"/>
              <a:t>zandwegen</a:t>
            </a:r>
            <a:r>
              <a:rPr lang="en-GB" sz="2000" dirty="0"/>
              <a:t>, er is </a:t>
            </a:r>
            <a:r>
              <a:rPr lang="en-GB" sz="2000" dirty="0" err="1"/>
              <a:t>bijvoorbeeld</a:t>
            </a:r>
            <a:r>
              <a:rPr lang="en-GB" sz="2000" dirty="0"/>
              <a:t> </a:t>
            </a:r>
            <a:r>
              <a:rPr lang="en-GB" sz="2000" dirty="0" err="1"/>
              <a:t>geen</a:t>
            </a:r>
            <a:r>
              <a:rPr lang="en-GB" sz="2000" dirty="0"/>
              <a:t> </a:t>
            </a:r>
            <a:r>
              <a:rPr lang="en-GB" sz="2000" dirty="0" err="1"/>
              <a:t>vuilnisophaaldienst</a:t>
            </a:r>
            <a:r>
              <a:rPr lang="en-GB" sz="2000" dirty="0"/>
              <a:t>, er is </a:t>
            </a:r>
            <a:r>
              <a:rPr lang="en-GB" sz="2000" dirty="0" err="1"/>
              <a:t>geen</a:t>
            </a:r>
            <a:r>
              <a:rPr lang="en-GB" sz="2000" dirty="0"/>
              <a:t> post, er is heel </a:t>
            </a:r>
            <a:r>
              <a:rPr lang="en-GB" sz="2000" dirty="0" err="1"/>
              <a:t>weinig</a:t>
            </a:r>
            <a:r>
              <a:rPr lang="en-GB" sz="2000" dirty="0"/>
              <a:t> </a:t>
            </a:r>
            <a:r>
              <a:rPr lang="en-GB" sz="2000" dirty="0" err="1"/>
              <a:t>werk</a:t>
            </a:r>
            <a:r>
              <a:rPr lang="en-GB" sz="2000" dirty="0"/>
              <a:t>.  Het </a:t>
            </a:r>
            <a:r>
              <a:rPr lang="en-GB" sz="2000" dirty="0" err="1"/>
              <a:t>gemiddelde</a:t>
            </a:r>
            <a:r>
              <a:rPr lang="en-GB" sz="2000" dirty="0"/>
              <a:t> </a:t>
            </a:r>
            <a:r>
              <a:rPr lang="en-GB" sz="2000" dirty="0" err="1"/>
              <a:t>inkomen</a:t>
            </a:r>
            <a:r>
              <a:rPr lang="en-GB" sz="2000" dirty="0"/>
              <a:t> per </a:t>
            </a:r>
            <a:r>
              <a:rPr lang="en-GB" sz="2000" dirty="0" err="1"/>
              <a:t>inwoner</a:t>
            </a:r>
            <a:r>
              <a:rPr lang="en-GB" sz="2000" dirty="0"/>
              <a:t> is 100x lager dan in Nederland.  Dat al </a:t>
            </a:r>
            <a:r>
              <a:rPr lang="en-GB" sz="2000" dirty="0" err="1"/>
              <a:t>maakt</a:t>
            </a:r>
            <a:r>
              <a:rPr lang="en-GB" sz="2000" dirty="0"/>
              <a:t> de reis </a:t>
            </a:r>
            <a:r>
              <a:rPr lang="en-GB" sz="2000" dirty="0" err="1"/>
              <a:t>bijzonder</a:t>
            </a:r>
            <a:r>
              <a:rPr lang="en-GB" sz="2000" dirty="0"/>
              <a:t>, en </a:t>
            </a:r>
            <a:r>
              <a:rPr lang="en-GB" sz="2000" dirty="0" err="1"/>
              <a:t>ook</a:t>
            </a:r>
            <a:r>
              <a:rPr lang="en-GB" sz="2000" dirty="0"/>
              <a:t> </a:t>
            </a:r>
            <a:r>
              <a:rPr lang="en-GB" sz="2000" dirty="0" err="1"/>
              <a:t>voordelig</a:t>
            </a:r>
            <a:r>
              <a:rPr lang="en-GB" sz="2000" dirty="0"/>
              <a:t>. Het Engels van de </a:t>
            </a:r>
            <a:r>
              <a:rPr lang="en-GB" sz="2000" dirty="0" err="1"/>
              <a:t>gidsen</a:t>
            </a:r>
            <a:r>
              <a:rPr lang="en-GB" sz="2000" dirty="0"/>
              <a:t> is </a:t>
            </a:r>
            <a:r>
              <a:rPr lang="en-GB" sz="2000" dirty="0" err="1"/>
              <a:t>ook</a:t>
            </a:r>
            <a:r>
              <a:rPr lang="en-GB" sz="2000" dirty="0"/>
              <a:t> </a:t>
            </a:r>
            <a:r>
              <a:rPr lang="en-GB" sz="2000" dirty="0" err="1"/>
              <a:t>goed</a:t>
            </a:r>
            <a:r>
              <a:rPr lang="en-GB" sz="2000" dirty="0"/>
              <a:t> </a:t>
            </a:r>
            <a:r>
              <a:rPr lang="en-GB" sz="2000" dirty="0" err="1"/>
              <a:t>kan</a:t>
            </a:r>
            <a:r>
              <a:rPr lang="en-GB" sz="2000" dirty="0"/>
              <a:t> </a:t>
            </a:r>
            <a:r>
              <a:rPr lang="en-GB" sz="2000" dirty="0" err="1"/>
              <a:t>ik</a:t>
            </a:r>
            <a:r>
              <a:rPr lang="en-GB" sz="2000" dirty="0"/>
              <a:t> </a:t>
            </a:r>
            <a:r>
              <a:rPr lang="en-GB" sz="2000" dirty="0" err="1"/>
              <a:t>ervaring</a:t>
            </a:r>
            <a:r>
              <a:rPr lang="en-GB" sz="2000" dirty="0"/>
              <a:t> </a:t>
            </a:r>
            <a:r>
              <a:rPr lang="en-GB" sz="2000" dirty="0" err="1"/>
              <a:t>zeggen</a:t>
            </a:r>
            <a:r>
              <a:rPr lang="en-GB" sz="2000" dirty="0"/>
              <a:t>. Hun </a:t>
            </a:r>
            <a:r>
              <a:rPr lang="en-GB" sz="2000" dirty="0" err="1"/>
              <a:t>nadruk</a:t>
            </a:r>
            <a:r>
              <a:rPr lang="en-GB" sz="2000" dirty="0"/>
              <a:t> is </a:t>
            </a:r>
            <a:r>
              <a:rPr lang="en-GB" sz="2000" dirty="0" err="1"/>
              <a:t>fotografie</a:t>
            </a:r>
            <a:r>
              <a:rPr lang="en-GB" sz="2000" dirty="0"/>
              <a:t>, </a:t>
            </a:r>
            <a:r>
              <a:rPr lang="en-GB" sz="2000" dirty="0" err="1"/>
              <a:t>precies</a:t>
            </a:r>
            <a:r>
              <a:rPr lang="en-GB" sz="2000" dirty="0"/>
              <a:t> wat </a:t>
            </a:r>
            <a:r>
              <a:rPr lang="en-GB" sz="2000" dirty="0" err="1"/>
              <a:t>ik</a:t>
            </a:r>
            <a:r>
              <a:rPr lang="en-GB" sz="2000" dirty="0"/>
              <a:t> </a:t>
            </a:r>
            <a:r>
              <a:rPr lang="en-GB" sz="2000" dirty="0" err="1"/>
              <a:t>wilde</a:t>
            </a:r>
            <a:r>
              <a:rPr lang="en-GB" sz="2000" dirty="0"/>
              <a:t>.  Ik </a:t>
            </a:r>
            <a:r>
              <a:rPr lang="en-GB" sz="2000" dirty="0" err="1"/>
              <a:t>heb</a:t>
            </a:r>
            <a:r>
              <a:rPr lang="en-GB" sz="2000" dirty="0"/>
              <a:t> 240 </a:t>
            </a:r>
            <a:r>
              <a:rPr lang="en-GB" sz="2000" dirty="0" err="1"/>
              <a:t>verschillende</a:t>
            </a:r>
            <a:r>
              <a:rPr lang="en-GB" sz="2000" dirty="0"/>
              <a:t> </a:t>
            </a:r>
            <a:r>
              <a:rPr lang="en-GB" sz="2000" dirty="0" err="1"/>
              <a:t>vogelsoorten</a:t>
            </a:r>
            <a:r>
              <a:rPr lang="en-GB" sz="2000" dirty="0"/>
              <a:t> </a:t>
            </a:r>
            <a:r>
              <a:rPr lang="en-GB" sz="2000" dirty="0" err="1"/>
              <a:t>gezien</a:t>
            </a:r>
            <a:r>
              <a:rPr lang="en-GB" sz="2000" dirty="0"/>
              <a:t>, </a:t>
            </a:r>
            <a:r>
              <a:rPr lang="en-GB" sz="2000" dirty="0" err="1"/>
              <a:t>waarvan</a:t>
            </a:r>
            <a:r>
              <a:rPr lang="en-GB" sz="2000" dirty="0"/>
              <a:t> 139 voor </a:t>
            </a:r>
            <a:r>
              <a:rPr lang="en-GB" sz="2000" dirty="0" err="1"/>
              <a:t>mij</a:t>
            </a:r>
            <a:r>
              <a:rPr lang="en-GB" sz="2000" dirty="0"/>
              <a:t> </a:t>
            </a:r>
            <a:r>
              <a:rPr lang="en-GB" sz="2000" dirty="0" err="1"/>
              <a:t>nieuw</a:t>
            </a:r>
            <a:r>
              <a:rPr lang="en-GB" sz="2000" dirty="0"/>
              <a:t>.  240 </a:t>
            </a:r>
            <a:r>
              <a:rPr lang="en-GB" sz="2000" dirty="0" err="1"/>
              <a:t>nieuwe</a:t>
            </a:r>
            <a:r>
              <a:rPr lang="en-GB" sz="2000" dirty="0"/>
              <a:t> </a:t>
            </a:r>
            <a:r>
              <a:rPr lang="en-GB" sz="2000" dirty="0" err="1"/>
              <a:t>soorten</a:t>
            </a:r>
            <a:r>
              <a:rPr lang="en-GB" sz="2000" dirty="0"/>
              <a:t> is heel </a:t>
            </a:r>
            <a:r>
              <a:rPr lang="en-GB" sz="2000" dirty="0" err="1"/>
              <a:t>veel</a:t>
            </a:r>
            <a:r>
              <a:rPr lang="en-GB" sz="2000" dirty="0"/>
              <a:t> in </a:t>
            </a:r>
            <a:r>
              <a:rPr lang="en-GB" sz="2000" dirty="0" err="1"/>
              <a:t>zo'n</a:t>
            </a:r>
            <a:r>
              <a:rPr lang="en-GB" sz="2000" dirty="0"/>
              <a:t> </a:t>
            </a:r>
            <a:r>
              <a:rPr lang="en-GB" sz="2000" dirty="0" err="1"/>
              <a:t>klein</a:t>
            </a:r>
            <a:r>
              <a:rPr lang="en-GB" sz="2000" dirty="0"/>
              <a:t> </a:t>
            </a:r>
            <a:r>
              <a:rPr lang="en-GB" sz="2000" dirty="0" err="1"/>
              <a:t>gebied</a:t>
            </a:r>
            <a:r>
              <a:rPr lang="en-GB" sz="2000" dirty="0"/>
              <a:t> </a:t>
            </a:r>
            <a:r>
              <a:rPr lang="en-GB" sz="2000" dirty="0" err="1"/>
              <a:t>als</a:t>
            </a:r>
            <a:r>
              <a:rPr lang="en-GB" sz="2000" dirty="0"/>
              <a:t> Gambia is.</a:t>
            </a:r>
          </a:p>
          <a:p>
            <a:pPr marL="0" indent="0">
              <a:buNone/>
            </a:pPr>
            <a:r>
              <a:rPr lang="en-GB" sz="2000" dirty="0" err="1"/>
              <a:t>title_en</a:t>
            </a:r>
            <a:r>
              <a:rPr lang="en-GB" sz="2000" dirty="0"/>
              <a:t> = Gambia</a:t>
            </a:r>
          </a:p>
          <a:p>
            <a:pPr marL="0" indent="0">
              <a:buNone/>
            </a:pPr>
            <a:r>
              <a:rPr lang="en-GB" sz="2000" dirty="0" err="1"/>
              <a:t>message_en</a:t>
            </a:r>
            <a:r>
              <a:rPr lang="en-GB" sz="2000" dirty="0"/>
              <a:t> = From mid-February I went to the warmth of Gambia for 4 weeks. The trip was organized by &lt;a </a:t>
            </a:r>
            <a:r>
              <a:rPr lang="en-GB" sz="2000" dirty="0" err="1"/>
              <a:t>href</a:t>
            </a:r>
            <a:r>
              <a:rPr lang="en-GB" sz="2000" dirty="0"/>
              <a:t>="https://www.senegambiabirding.com/" ​​target="_blank"&gt;Senegambia Birding&lt;/a&gt;. The organization is special because they only work with local people, led by an enthusiastic Belgian. They show their guests nature and experience the culture. 9 languages ​​are spoken in Gambia, and in addition, the Muslim population learns a lot from their religion. That makes education difficult. There is little infrastructure: almost all roads are dirt roads, there is no garbage collection service, there is no post, there is very little work. The average income per inhabitant is 100x lower than in the Netherlands. That makes the trip special, and also affordable. The English of the guides is also good, I can say from experience. Their emphasis is photography, exactly what I wanted. I saw 240 different bird species, of which 139 were new to me. 240 new species is a lot in such a small area as Gambia.</a:t>
            </a:r>
          </a:p>
        </p:txBody>
      </p:sp>
    </p:spTree>
    <p:extLst>
      <p:ext uri="{BB962C8B-B14F-4D97-AF65-F5344CB8AC3E}">
        <p14:creationId xmlns:p14="http://schemas.microsoft.com/office/powerpoint/2010/main" val="29152214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11640</TotalTime>
  <Words>2915</Words>
  <Application>Microsoft Office PowerPoint</Application>
  <PresentationFormat>Widescreen</PresentationFormat>
  <Paragraphs>262</Paragraphs>
  <Slides>21</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Aptos</vt:lpstr>
      <vt:lpstr>Aptos Display</vt:lpstr>
      <vt:lpstr>Arial</vt:lpstr>
      <vt:lpstr>Consolas</vt:lpstr>
      <vt:lpstr>Courier New</vt:lpstr>
      <vt:lpstr>Office Theme</vt:lpstr>
      <vt:lpstr>SpeciesViewer</vt:lpstr>
      <vt:lpstr>SpeciesViewer master and trip repository</vt:lpstr>
      <vt:lpstr>Repository  (master or trip)</vt:lpstr>
      <vt:lpstr>Files</vt:lpstr>
      <vt:lpstr>Configuration/descriptive files</vt:lpstr>
      <vt:lpstr>Master and trip repositories (1)</vt:lpstr>
      <vt:lpstr>Master and trip repositories (2)</vt:lpstr>
      <vt:lpstr>sv1MakeRepository</vt:lpstr>
      <vt:lpstr>Process steps: the Camera</vt:lpstr>
      <vt:lpstr>Process steps: PhotoMechanic</vt:lpstr>
      <vt:lpstr>Process steps: Lightroom (1)</vt:lpstr>
      <vt:lpstr>Process steps: Lightroom (2)</vt:lpstr>
      <vt:lpstr>Process steps: DxO PhotoLab</vt:lpstr>
      <vt:lpstr>Process steps: SpeciesViewer</vt:lpstr>
      <vt:lpstr>SpeciesViewer terms and background</vt:lpstr>
      <vt:lpstr>Typical scenarios - </vt:lpstr>
      <vt:lpstr>Utilities</vt:lpstr>
      <vt:lpstr>Utilities</vt:lpstr>
      <vt:lpstr>Create a new trip</vt:lpstr>
      <vt:lpstr>Sample trip.ini file (page 1)</vt:lpstr>
      <vt:lpstr>Sample trip.ini file (page 2) –  Text for Dutch and English version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Gilbert Houtekamer</dc:creator>
  <cp:lastModifiedBy>Gilbert Houtekamer</cp:lastModifiedBy>
  <cp:revision>9</cp:revision>
  <dcterms:created xsi:type="dcterms:W3CDTF">2024-09-24T13:38:33Z</dcterms:created>
  <dcterms:modified xsi:type="dcterms:W3CDTF">2025-07-14T17:19:54Z</dcterms:modified>
</cp:coreProperties>
</file>